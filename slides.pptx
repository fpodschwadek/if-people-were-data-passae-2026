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75" r:id="rId2"/>
    <p:sldId id="276" r:id="rId3"/>
    <p:sldId id="286" r:id="rId4"/>
    <p:sldId id="285" r:id="rId5"/>
    <p:sldId id="284" r:id="rId6"/>
    <p:sldId id="281" r:id="rId7"/>
    <p:sldId id="282" r:id="rId8"/>
    <p:sldId id="288" r:id="rId9"/>
    <p:sldId id="283" r:id="rId10"/>
    <p:sldId id="277" r:id="rId11"/>
    <p:sldId id="289" r:id="rId12"/>
    <p:sldId id="290" r:id="rId13"/>
    <p:sldId id="291" r:id="rId14"/>
    <p:sldId id="292" r:id="rId15"/>
    <p:sldId id="293" r:id="rId16"/>
    <p:sldId id="299" r:id="rId17"/>
    <p:sldId id="295" r:id="rId18"/>
    <p:sldId id="297" r:id="rId19"/>
    <p:sldId id="298" r:id="rId20"/>
    <p:sldId id="278" r:id="rId21"/>
    <p:sldId id="300" r:id="rId22"/>
    <p:sldId id="301" r:id="rId23"/>
    <p:sldId id="302" r:id="rId24"/>
    <p:sldId id="303" r:id="rId25"/>
    <p:sldId id="304" r:id="rId26"/>
    <p:sldId id="305" r:id="rId27"/>
    <p:sldId id="309" r:id="rId28"/>
    <p:sldId id="306" r:id="rId29"/>
    <p:sldId id="307" r:id="rId30"/>
    <p:sldId id="279" r:id="rId31"/>
    <p:sldId id="308" r:id="rId32"/>
    <p:sldId id="310" r:id="rId33"/>
    <p:sldId id="311" r:id="rId34"/>
    <p:sldId id="312" r:id="rId35"/>
    <p:sldId id="313" r:id="rId36"/>
    <p:sldId id="315" r:id="rId37"/>
    <p:sldId id="314" r:id="rId38"/>
    <p:sldId id="316" r:id="rId39"/>
    <p:sldId id="317" r:id="rId40"/>
    <p:sldId id="318" r:id="rId41"/>
    <p:sldId id="280" r:id="rId42"/>
    <p:sldId id="274" r:id="rId43"/>
  </p:sldIdLst>
  <p:sldSz cx="18288000" cy="10287000"/>
  <p:notesSz cx="6858000" cy="9144000"/>
  <p:embeddedFontLst>
    <p:embeddedFont>
      <p:font typeface="Noto Sans" panose="020B0502040504020204" pitchFamily="34" charset="0"/>
      <p:regular r:id="rId45"/>
      <p:bold r:id="rId46"/>
      <p:italic r:id="rId47"/>
      <p:boldItalic r:id="rId48"/>
    </p:embeddedFont>
    <p:embeddedFont>
      <p:font typeface="Noto Sans Bold" panose="020B0802040504020204" charset="0"/>
      <p:regular r:id="rId49"/>
      <p:bold r:id="rId50"/>
    </p:embeddedFont>
    <p:embeddedFont>
      <p:font typeface="Noto Serif" panose="02020600060500020200" pitchFamily="18"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p15:clr>
            <a:srgbClr val="A4A3A4"/>
          </p15:clr>
        </p15:guide>
        <p15:guide id="3" orient="horz"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93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6" d="100"/>
          <a:sy n="66" d="100"/>
        </p:scale>
        <p:origin x="48" y="-96"/>
      </p:cViewPr>
      <p:guideLst>
        <p:guide pos="2880"/>
        <p:guide orient="horz" pos="32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2F91-5CC4-7C22-FE95-F9EC8347475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E7260E-2D99-552D-1229-1940E712757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8D2ACA6F-48FA-F56A-6442-6C4F4662533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a:extLst>
              <a:ext uri="{FF2B5EF4-FFF2-40B4-BE49-F238E27FC236}">
                <a16:creationId xmlns:a16="http://schemas.microsoft.com/office/drawing/2014/main" id="{50B08085-6E7D-69F7-1469-B4FCE9420C3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8F0B541-177F-DB4D-D111-2BE492DED8E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9B30E2A-8405-D910-412E-20B4405BB69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D943AA78-6C07-DE3B-F3C0-9CC101322E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149576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16A0-EF16-B3C3-1C82-03C2B2E59D6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3E8E5F-D892-FA8B-00F6-0BF924FAC6A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DF2042-A6DD-A249-9BA3-BAEED8F3DC2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9422516-ECDE-FC29-5318-74FBC3AB12F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4DDB70E-2A1D-777C-2166-9A212092E94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6B30E50-B4C5-692C-FE4B-9ABDA34104A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BD865F2-5A46-D887-2A11-9BA1B5A6DDF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2136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1885-AB14-B9CD-F635-66AB99E8BF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39D107-67B6-6595-726B-3FDA73751E0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00EB118-EEE9-19E5-E53B-2D6AEE54619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61788D-D9DF-0AF0-383C-F9B0725E1CB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9967E58-F5E3-1A65-3F08-908ACC5D489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87FB1CF3-33EB-6EF0-2D43-74FDEE96844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EDF0307-0E19-DCFE-4C81-9F78D3C9099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54325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CDD1-ED4F-195A-8F70-FAB005C5673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8D2CBC-2A86-AA73-7636-F0912D772F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7712EEC-258F-858F-DF7D-EC15E4338EF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3469449-D845-EE72-E89C-80E91FDEFDD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1E69D61-D6C5-47A7-98E8-CF6AFB8769F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B0D1117-CF60-59FF-8998-87B375D17C8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6CF6ABE-440F-EF75-A22C-1A409F7C53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16479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2F80-874A-0D56-E36C-A1DD7148523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9A59098-9483-21E4-B1BF-8C9B8AFF78B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F650AE2-5B5C-1CFF-18C0-C1620107992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5608E98-CE9D-6AD1-E1F7-2002780D63D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0EE7521-5789-2288-A09F-855D326C6F1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0C4DC78B-93DD-C141-8833-C5224D0AB88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8537041-194E-C803-7E7F-6EDBB70215B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53428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BD044-F431-68A7-FF2E-7FF98B96B4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6E9E75-A6F4-D00C-A6EB-34DDDED8375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2BD38D-B485-368B-E24E-3D08F557375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6C2846-C284-090A-3BD1-79992824D43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0919B69-6B8D-B904-76D5-E785CEE5A18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8CC661EE-6492-5B5F-578A-92A41C11B33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7F4CC36-8407-D87C-2F54-5A0BCF789DD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97343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766FF-25BD-126C-37A2-10185F221C9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AD0AD4-5603-C342-E68C-348368E6383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44402C7-CB80-3098-993B-2003E861EAC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5C9E250-7DEB-AB4E-4E55-D6A7B474531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5DC7AA5-312E-2F7F-5AE3-74573A30A23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BA51710-D6BE-9C1C-4AE9-1779562FE6A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F853B6C-FB2A-AD8F-8EB6-244553AA2B8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8784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2BDCD-BD91-E1B9-AF0F-2C3FA8B31B0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935D94-F7A0-658D-839B-C13DCBE2DBE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2A22C4F-59C4-E61E-553C-656A3D2CD1F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702627-B042-8AA0-E4D5-62D885A6EA6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47180D1-C548-61F7-D29D-FC6D96D37B1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8AB31DE-144D-7C23-E538-C55BAF4DF6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E789B14-A692-AB7B-D166-A5E9F18920D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23639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E45C-413B-9612-C988-C36FDE50D9D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3AAC66-6BB0-76F5-5C9B-DC2E705F35D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0E00D54-434B-ADEF-3076-CE8A34C95E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C72CDE6-EFB3-2FA6-1872-0AA57E7FA38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3B1A26A-980A-5AC7-C4D9-86358DED939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0C618964-7DBA-8902-524F-FA49C6F8E4F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C043281-B416-C23C-A7A2-3F628889437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7140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1EB49-5433-5B0F-D0ED-9E2C1925988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650CE3-3171-53D9-9E45-009FB47274A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D2508CA-A6BF-96AC-B914-8AA8CD6BA29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8570EDB-88CF-89AC-9411-546E73E689E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DF7DB42-E10F-326E-45AF-31122B76C9A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61C0301F-C8DD-D987-1AEF-630C880E4F3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854B368-413A-1910-BF43-7F9FA685C65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50009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5D03-895B-BFCE-F734-9E1517BF2ED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591DCF-BCC5-8726-3FA8-DA39651E78A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7FE2619-A24B-B8B4-7022-074DB4C2E84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30A438E-7997-C86B-BCF9-5F26545D5CB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0124C9F-5FB9-D6B6-AAB9-57A74C3520D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85213E4-81D6-698A-8360-697E479C225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FB0626B-6A9A-F05C-213C-F1F4142394A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6123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8ED15-4251-DEE0-F05F-555654CDCA0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F31123-4B04-53ED-C572-F9DE2D6021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07FA23A-8C1D-01A3-0B54-63397C80E5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A6AC576-8AA1-8066-6409-DFA78C9331B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B0EB034-1D13-DE89-FB62-7AB266DE911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C1B27E5-B142-952F-723F-041E1B170C6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E4E9393-69B0-AB3E-19D3-FDF881E248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69852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60EDF-9C9B-5AA3-0BA0-DA4863FCFB4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E6A880-73BB-E2EB-9EFC-59B5180869B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034AC37-6885-C9FB-E0C6-62564B0A07B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5A2399-DA06-83EF-6ED7-BF2DDDF11DA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62C4C49-1E16-391F-8DBC-E48DCDACE6D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09CF1BA-0279-15A5-300D-A14422D0E3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5C6ED67-7C6E-A1AF-D51C-7CF685CE19B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70696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C78E6-FACB-EF1D-EA9A-4A3A54D1D79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2FD65D-6553-8F52-864F-9552062B6BD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2B3A844-2AC9-EFCB-0E54-EED7880182F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D9DCAB-860C-40E5-1E04-65DECBE4171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82DFBC5-FCC4-7C69-578D-9E42FAA1DFA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F9E98FB-0DB9-DA74-14C0-0C3D6752B1A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C9E15CC-F7AB-B356-41A4-8652CD39D8A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70940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C5AF-4371-E8B6-5321-378BC2AA51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608544-9300-9C7E-5F1B-57335BA00C7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8A2C873-F840-6FFA-DABC-EB7CE81207B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EDA957E-1A73-DDE3-B476-3B19A128A15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F9491C8-1F30-9350-AE22-A67661FD3B2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7F14EDF-6BBE-3344-3EF6-88B4AF0495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8E71829-3BA9-3DD8-71E1-DDC3B84FE9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21013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0BC75-26BC-DDCC-3A0A-2CAD06FF276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0EBBAD-2408-552E-B6F0-F4E7512AE8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385A791-E069-39F7-366F-A99827A2EF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36BA4E4-6F08-8D67-CC99-F68F2466EF0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73DB328-3E11-2AC4-FAA1-A0477416486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1192ACE-9309-52E1-5526-5BC6665CF7B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1191E73-2F87-FB0B-D809-67E27FF3809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9312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A5FF1-47C5-5CBE-CDD5-566193DFF91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FFF420-11C8-9AB8-0B1A-A3565FE36A0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A1F3420-5CBB-03EF-585E-306060E04AF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9E2DFF-936D-28DE-697D-772F3CE76A0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E301459-F52D-9146-682D-DAFA422828B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98A99973-0250-BBD4-31F4-AF2000044DD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B0F0B82-B1FB-D1BB-3A41-CD37347AB54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40420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FE669-8B9C-1909-0CE8-45B848852DF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30ECC3-D507-50A6-D3AB-0DD3E068898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341E4B2-7F03-4F47-D795-F5D074E0A84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464E560-7ADB-D225-7654-60D40A42BBA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7D4266E-B751-F400-53B6-E13C755E4C2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0BF0AB9-22C9-E04B-E1B9-34E74374547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CC2E271-8E77-B9A7-64A4-4A3859CC424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97711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A623-C658-5E40-EDA6-6EC8995754E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FC3EC-7464-F82D-7259-1C3B36A2A64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34882CE-8A59-017F-9041-252CCEB102B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BB32907-335F-BE7D-8F67-8BF36BD59D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C67A570-8E7F-D1BC-4D78-CF0ED319B04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7DEAD94-94BF-1B60-B53D-7E628B73072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15E6E73-B7F4-C541-BE96-D222E4B5D4D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63888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73C0-0B16-49E3-4DBC-89C6A6BA2B2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931972-5E0D-80AA-F039-792BB7E5D91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B5BD475-4415-10CC-1554-AB9E7EEFA01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78CEF35-39D1-692C-42AD-378E51056B4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F86BEAF-51C5-B502-3061-427A6E96730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1756AE68-6464-8B3F-99C4-DEBDB85A0DC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D485090-C8BA-2B00-6A1D-18ADE50F250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87948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1235-459F-6257-E9AE-9D8EC4C2F27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DB9B65-E23D-94C7-AC77-65B7EC84BC2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19C0629-2035-B406-684B-10C9D120DFE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9323D5E-1426-B197-2CFD-6766F072643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74C12AA-5342-49E7-A159-4E391C8413B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37EDD07C-B05D-6F69-58B7-7A70D8401FB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55C269A-164B-8EFA-48E1-242BC6231D2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35322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935C-89B2-7DF0-2A3C-BCDA8E123B1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2F2F9-40B6-26A3-7D89-73C1328D637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7631D5E-382C-C196-A98C-73DDBA4B74F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B936F96-6ED7-2248-F35B-9FBB6E4A35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1FB6598-E40B-536D-467C-F38096F1D02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AAFA1E66-A394-8E55-FEC5-D233E01CE3C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56B9B87-AB11-C5B5-27CB-E601970DFD8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30166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CABB-53A0-7529-41FA-4A52BB5FFEF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7ABEF2-D55D-9736-4CCA-036DE90146B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F2C215F-14D7-9974-631D-CCA56F83C5A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BF8DF72-3877-2279-C19A-C766EDD1A09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6E45C53-258F-A20F-B4AC-03D2AC0A122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0039543-93AF-40D2-EF49-A85A95BD3B9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AA96318-C9AA-AA28-51E6-AD22D3A15AA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66519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0674-7C49-746A-7F7F-47735ED100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A5D334-605F-DB01-70C5-DFE5A47E62C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3BDC33E-824F-005D-3D3B-ED869E1CD1F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E6EEC84-305C-CC0D-C8EA-66320476734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FED47D9-AB22-FCDA-14F2-3F14A7B7F2C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5AF3CDD-4EE6-193E-41D4-0F888D0637A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31875BE-76C4-AE46-767F-2BA37CE8FF4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0310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876C3-6ADF-B7B2-0C87-A3122593E3E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207462-A0F7-8FB8-D2B5-8ACD1F8E36F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EE6404F-0F6B-A324-E1D2-350FECC91C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9D23B9-081D-1DE3-B9AC-88E421FA51B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6C1DA08-4C1C-A8F9-AA09-DA75F63DB15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42D9AE5-57BF-4C08-5938-3706925A9E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0DFE9A4-5DE8-A1AD-44E5-ADB71AFB58C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30835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12E90-F15D-18F1-D88B-195D0BACE91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80743F-93D8-BAEF-70A2-825A2FEC707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5E51BE5-3E49-0D2A-19F0-275CAE00579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836256-E28B-32F3-4A21-0B44714AB20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CEF92E2-A704-F560-4191-F70641B036D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3502AD9F-F469-3F26-33CA-B2ED805B709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7E109C1-D06E-21BB-4C75-14E8C6EC8E0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30211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EA1DF-BAFC-F493-8182-2D05ABC0EFB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721A52-4BF0-A6AB-D293-D34D5E35351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4ED6746-CBD5-02F6-93CB-7AA27CFFD93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927F48E-3D67-6B34-4E2C-BC56B47FC52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6AC4152-376F-476E-4FDE-6D8E5D9E4B9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84F8F39-177D-A952-8693-4C3DAD68768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1C5D888-172D-434F-F371-988F81EE669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716221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FD0EA-941C-6648-5A0E-12176A68A01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2A1B9E-B247-47CA-17AF-BAC68AF9FEB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5E4FBF7-7181-ECA3-48B9-38AD25ED6AD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654E8E4-D43A-DCD9-39A4-6E836CF0140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01814C3-A644-2C96-E86D-DE7BB555AF0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8B959BAA-622A-3042-3528-5501B3D3D3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A01CA2B-2CB8-4E40-C21D-6EC46C6C586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267155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493B-B08B-3F7A-F45C-A27FDC9DE96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2A6C20-F898-7738-289C-CB19AE6B200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EA0FB1-1B32-7778-8075-7AA016DAFA5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479A528-B3DE-1B61-CBB7-C79EE012A45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3E1D886-A6CF-C4BD-ACBF-106C12DBFEC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FA55671-188F-4602-9953-00812AE0B3F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2C886D7-BEA9-6B5B-8067-2B693895E03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09272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B5C39-A59A-16C5-1463-9B3CEAFDDA9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893E65-1478-52CD-21A2-D7504B6F760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06FB4B-C584-6A61-C80C-BB3BCFC56D3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BDCFC35-FB4D-A915-47E2-06620C0808E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8D6AFA1-3627-1367-C038-54D102BEC1C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3DFBF161-A99F-2505-804F-BB9E5886C2A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4DEF74D-9F13-A95F-40D0-C1720A4ADF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016100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19BB4-4A34-9C5B-6159-B6F714FFDA3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2B49B-E9B2-6884-8CC3-185A6F7600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E033BFF-FBD4-2B47-5E94-3B2D6FA8B7E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1F13861-4CCD-D1E9-F539-7BE0BE3C3D9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DC7D656-DF18-0CC5-CF0C-A59447CA87D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2F41D3D-5D07-99C9-148F-FF18FAD4540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8CC524D-DE19-C8C9-DEF0-2EE7D718081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567718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9BE7D-206E-7BD2-6FB6-4E9087952A1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A28BEA-38B2-7DBE-D4BF-BD45E80B70A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4CAE5F3-29D2-9CAC-220A-6D8CE6AF3CF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6C586F8-B7BF-686E-31FF-A482B868C06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7C9DDEA-23F5-185D-69FB-088A430A7E9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F9D9C8A6-77F5-5C25-A97D-B8D469E75F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1E737BA-1CD1-909E-AB4C-8DB86196760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61116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89DD-F146-A8A3-AC6A-189240852DD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7FED53-AAE0-CEE5-7E65-BC7AB2CD992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50DF591-97E7-061B-CB11-C75F69D64BA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2C537DA-65D0-8741-964C-AD09C21646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12C8B5A-C6FE-48C2-5DF1-25A870415F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373B6205-1A15-C0A4-94DF-1A7F309DCB7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2C9C978-2379-6D22-D953-31CCF493986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90899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26DC3-8873-8DCD-723C-7937C8D4B08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DEF5A9-FD18-080C-55D5-BCBFCCAE2B4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876C97-CFE0-E062-5479-34CE1B4AB7E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E66246F-6705-B955-C753-11B3D8CF657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136F56E-A02B-677B-D3F3-5A32DF96F54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47A2E356-FFA2-9B37-ACC3-F63AAA60EAE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DB3273-C25C-4FF7-CEDE-73A5CB49FC9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92739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8D3CF-2DF6-0DBD-1F5F-067F4FBF5D9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147658-AB6A-4CAE-4BFF-8FD7DA6DDB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D5879AE-4CBF-FD1E-9357-EEF0E219110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046362-CD60-C3E0-04D5-1CA96B73155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1E28262-53A5-CC40-F5E8-2C313DCDA2B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565DC07-D80E-A386-90B4-0D9D675A6B6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E063CF5-767B-6EB3-503F-EFC555F7772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886345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7964-1024-37A9-C43C-C3A348D451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C1B360-19F5-D65F-830E-FDB0431AF8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6136C30-8155-5B44-B3FD-0C6DE98051A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FE35773-933C-57B1-2811-6206627F1D9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7419AC8-98C1-B3CC-F79C-BA3BD0DF31F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BABAAA2D-28E7-4549-EA13-2BA34185EE9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2A192CB-6C46-E263-2FF1-CC65D27D8C9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60866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4F03-A4A7-D3BD-36FE-519C140C348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295003-B9C5-8EE9-3B40-B1F2143F948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FA458AD-82A1-79FE-0945-10E30756CE9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A6460FD-1F40-9F2E-538B-F3F7A1216C1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2250D84-F37E-A2B8-FD56-07E673AE257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D4644358-6EB4-E5E9-482E-48E83DE0A8C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F637C64-ACEB-AD0A-E404-7B96B0AE8FE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447259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D2D0-2A4E-1269-030C-CECCFF1D652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EA661B-2721-5CE4-15C2-288A5EF5146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D1A9A1D-7AAA-179F-2EF7-C6B6D84802E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0251916-8341-7114-E25B-4570DBFC819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A497B95-DB9D-AC60-DC67-1FF4C7FB447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A84F77B5-4BE7-A31B-3070-4BD759AE7F6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EEF2E59-8B15-5ACA-688D-D771A48D1FC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199743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44CDF-4248-7700-F642-24B547669F7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14B460-E2F2-BCBC-3A0C-8FC53B992BA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382C5D-F608-6FE5-6368-6B061777B09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AF87E02-C26A-36DD-37F5-A316813A850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6DEA277-95E2-A41C-6DBC-40B0C091636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9C178A78-D04D-F5D6-B3E5-3412AA0BDDD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05A6614-6A7D-4AEA-155E-EF1884F6756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00474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1DFDD-9AFB-68C5-29D5-19B09DF246C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2CCE5E-1506-99BA-9D61-AC43FBEF54E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3DC7240-AE15-A759-B445-4BE6F6F28F1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00D7D8-9FE8-26A8-3C52-31C46A74973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93E6BAD-6881-1922-0301-F1375C403F1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FA43E7C-5F89-5957-7674-7AADB8BFC22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767C67E-38B2-7A4F-8E48-FEF6A8867BB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833541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C82B5-4DC7-DB91-90C0-876803C9772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57727E-397E-7D7E-DC5E-824632AA015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907345B-CA84-5EB2-94C7-41068E03CCA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A64832-5D73-4C24-A100-6528A8CB2A0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56C758F-AB1A-1AA3-DEB7-57B5600F76F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6501048-AD37-4E8F-51B2-E94F59631BC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DBF54B5-ADE1-AD73-5D08-89AA84DF56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65977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1A681-8D4D-2BF0-829B-6D2BF7900B4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45351D-CD6A-F596-8E5C-0225096BE6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7179A9B-53FB-CAD9-2975-BB7A755F431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1DF8A32-BF92-B96C-6F12-61C787779BC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BB382D4-F76D-1AA5-E510-87C2BD79DB9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57864D2C-0F1F-3217-17D8-787DCEB052A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61FF754-7800-7954-8E5D-B9E46F5D2D1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17768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8.svg"/><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8.svg"/><Relationship Id="rId7" Type="http://schemas.openxmlformats.org/officeDocument/2006/relationships/image" Target="../media/image7.jpeg"/><Relationship Id="rId12"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jpeg"/><Relationship Id="rId11" Type="http://schemas.openxmlformats.org/officeDocument/2006/relationships/image" Target="../media/image13.svg"/><Relationship Id="rId5" Type="http://schemas.openxmlformats.org/officeDocument/2006/relationships/image" Target="../media/image5.jpeg"/><Relationship Id="rId10" Type="http://schemas.openxmlformats.org/officeDocument/2006/relationships/image" Target="../media/image12.svg"/><Relationship Id="rId4" Type="http://schemas.openxmlformats.org/officeDocument/2006/relationships/image" Target="../media/image4.jpe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svg"/><Relationship Id="rId7" Type="http://schemas.openxmlformats.org/officeDocument/2006/relationships/image" Target="../media/image6.jpeg"/><Relationship Id="rId12"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2.svg"/><Relationship Id="rId5" Type="http://schemas.openxmlformats.org/officeDocument/2006/relationships/image" Target="../media/image4.jpe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svg"/><Relationship Id="rId7" Type="http://schemas.openxmlformats.org/officeDocument/2006/relationships/image" Target="../media/image21.svg"/><Relationship Id="rId12"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4.svg"/><Relationship Id="rId5" Type="http://schemas.openxmlformats.org/officeDocument/2006/relationships/image" Target="../media/image6.jpeg"/><Relationship Id="rId10" Type="http://schemas.openxmlformats.org/officeDocument/2006/relationships/image" Target="../media/image24.svg"/><Relationship Id="rId4" Type="http://schemas.openxmlformats.org/officeDocument/2006/relationships/image" Target="../media/image19.svg"/><Relationship Id="rId9"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svg"/><Relationship Id="rId7" Type="http://schemas.openxmlformats.org/officeDocument/2006/relationships/image" Target="../media/image29.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svg"/><Relationship Id="rId7" Type="http://schemas.openxmlformats.org/officeDocument/2006/relationships/image" Target="../media/image29.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8.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26.svg"/><Relationship Id="rId4" Type="http://schemas.openxmlformats.org/officeDocument/2006/relationships/image" Target="../media/image30.svg"/></Relationships>
</file>

<file path=ppt/slides/_rels/slide1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svg"/><Relationship Id="rId7" Type="http://schemas.openxmlformats.org/officeDocument/2006/relationships/image" Target="../media/image33.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26.svg"/><Relationship Id="rId4" Type="http://schemas.openxmlformats.org/officeDocument/2006/relationships/image" Target="../media/image30.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30.sv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0.sv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0.svg"/></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0.svg"/></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3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3.svg"/><Relationship Id="rId7" Type="http://schemas.openxmlformats.org/officeDocument/2006/relationships/image" Target="../media/image35.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0.svg"/><Relationship Id="rId4" Type="http://schemas.openxmlformats.org/officeDocument/2006/relationships/image" Target="../media/image29.svg"/></Relationships>
</file>

<file path=ppt/slides/_rels/slide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3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svg"/><Relationship Id="rId7" Type="http://schemas.openxmlformats.org/officeDocument/2006/relationships/image" Target="../media/image37.sv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18.svg"/><Relationship Id="rId4" Type="http://schemas.openxmlformats.org/officeDocument/2006/relationships/image" Target="../media/image30.svg"/></Relationships>
</file>

<file path=ppt/slides/_rels/slide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hyperlink" Target="https://doi.org/10.1007/s13347-022-00519-1" TargetMode="External"/><Relationship Id="rId13" Type="http://schemas.openxmlformats.org/officeDocument/2006/relationships/hyperlink" Target="https://doi.org/10.1080/17449626.2023.2272773" TargetMode="External"/><Relationship Id="rId3" Type="http://schemas.openxmlformats.org/officeDocument/2006/relationships/image" Target="../media/image3.svg"/><Relationship Id="rId7" Type="http://schemas.openxmlformats.org/officeDocument/2006/relationships/hyperlink" Target="https://doi.org/10.1145/42411.42413" TargetMode="External"/><Relationship Id="rId12" Type="http://schemas.openxmlformats.org/officeDocument/2006/relationships/hyperlink" Target="https://doi.org/10.1080/17449626.2023.2271005" TargetMode="External"/><Relationship Id="rId2" Type="http://schemas.openxmlformats.org/officeDocument/2006/relationships/notesSlide" Target="../notesSlides/notesSlide40.xml"/><Relationship Id="rId16" Type="http://schemas.openxmlformats.org/officeDocument/2006/relationships/hyperlink" Target="https://doi.org/10.24908/ss.v12i2.4776" TargetMode="External"/><Relationship Id="rId1" Type="http://schemas.openxmlformats.org/officeDocument/2006/relationships/slideLayout" Target="../slideLayouts/slideLayout7.xml"/><Relationship Id="rId6" Type="http://schemas.openxmlformats.org/officeDocument/2006/relationships/hyperlink" Target="https://doi.org/10.1080/14650045.2020.1823836" TargetMode="External"/><Relationship Id="rId11" Type="http://schemas.openxmlformats.org/officeDocument/2006/relationships/hyperlink" Target="https://doi.org/10.1007/s10676-004-3422-1" TargetMode="External"/><Relationship Id="rId5" Type="http://schemas.openxmlformats.org/officeDocument/2006/relationships/hyperlink" Target="https://doi.org/10.1080/0020174X.2026.2685308" TargetMode="External"/><Relationship Id="rId15" Type="http://schemas.openxmlformats.org/officeDocument/2006/relationships/hyperlink" Target="https://doi.org/10.2307/1954312" TargetMode="External"/><Relationship Id="rId10" Type="http://schemas.openxmlformats.org/officeDocument/2006/relationships/hyperlink" Target="https://doi.org/10.1007/s13347-025-00904-6" TargetMode="External"/><Relationship Id="rId4" Type="http://schemas.openxmlformats.org/officeDocument/2006/relationships/hyperlink" Target="https://doi.org/10.1177/20539517211065368" TargetMode="External"/><Relationship Id="rId9" Type="http://schemas.openxmlformats.org/officeDocument/2006/relationships/hyperlink" Target="https://doi.org/10.7551/mitpress/11926.001.0001" TargetMode="External"/><Relationship Id="rId14" Type="http://schemas.openxmlformats.org/officeDocument/2006/relationships/hyperlink" Target="https://doi.org/10.1007/s13347-021-00450-x"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958E9A-32A2-8C6E-6F48-08E25C2DF0FA}"/>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86BF52D5-3473-6CC8-F8DA-1EE759DB4A9B}"/>
              </a:ext>
            </a:extLst>
          </p:cNvPr>
          <p:cNvSpPr/>
          <p:nvPr/>
        </p:nvSpPr>
        <p:spPr>
          <a:xfrm>
            <a:off x="8353446" y="5282116"/>
            <a:ext cx="8639154" cy="13784"/>
          </a:xfrm>
          <a:prstGeom prst="line">
            <a:avLst/>
          </a:prstGeom>
          <a:ln w="28575" cap="rnd">
            <a:solidFill>
              <a:srgbClr val="333333"/>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a:extLst>
              <a:ext uri="{FF2B5EF4-FFF2-40B4-BE49-F238E27FC236}">
                <a16:creationId xmlns:a16="http://schemas.microsoft.com/office/drawing/2014/main" id="{D0AAC773-465F-9F3A-A0A0-E9510FFDDA81}"/>
              </a:ext>
            </a:extLst>
          </p:cNvPr>
          <p:cNvSpPr txBox="1"/>
          <p:nvPr/>
        </p:nvSpPr>
        <p:spPr>
          <a:xfrm>
            <a:off x="8305800" y="1742236"/>
            <a:ext cx="8686800" cy="1418978"/>
          </a:xfrm>
          <a:prstGeom prst="rect">
            <a:avLst/>
          </a:prstGeom>
        </p:spPr>
        <p:txBody>
          <a:bodyPr wrap="square" lIns="0" tIns="0" rIns="0" bIns="0" rtlCol="0" anchor="t">
            <a:spAutoFit/>
          </a:bodyPr>
          <a:lstStyle/>
          <a:p>
            <a:pPr marL="0" marR="0" lvl="0" indent="0" defTabSz="914400" rtl="0" eaLnBrk="1" fontAlgn="auto" latinLnBrk="0" hangingPunct="1">
              <a:lnSpc>
                <a:spcPts val="12000"/>
              </a:lnSpc>
              <a:spcBef>
                <a:spcPts val="0"/>
              </a:spcBef>
              <a:spcAft>
                <a:spcPts val="0"/>
              </a:spcAft>
              <a:buClrTx/>
              <a:buSzTx/>
              <a:buFontTx/>
              <a:buNone/>
              <a:tabLst/>
              <a:defRPr/>
            </a:pPr>
            <a:r>
              <a:rPr kumimoji="0" lang="en-US" sz="7200" b="0" i="0" u="none" strike="noStrike" kern="1200" cap="none" spc="0" normalizeH="0" baseline="0" noProof="0" dirty="0">
                <a:ln>
                  <a:noFill/>
                </a:ln>
                <a:solidFill>
                  <a:srgbClr val="333333"/>
                </a:solidFill>
                <a:effectLst/>
                <a:uLnTx/>
                <a:uFillTx/>
                <a:latin typeface="Noto Serif"/>
                <a:ea typeface="Noto Serif"/>
                <a:cs typeface="Noto Serif"/>
                <a:sym typeface="Noto Serif"/>
              </a:rPr>
              <a:t>If People Were Data</a:t>
            </a:r>
          </a:p>
        </p:txBody>
      </p:sp>
      <p:sp>
        <p:nvSpPr>
          <p:cNvPr id="6" name="TextBox 6">
            <a:extLst>
              <a:ext uri="{FF2B5EF4-FFF2-40B4-BE49-F238E27FC236}">
                <a16:creationId xmlns:a16="http://schemas.microsoft.com/office/drawing/2014/main" id="{FBB9831F-7F11-0A06-9FEB-ADC76B372AE6}"/>
              </a:ext>
            </a:extLst>
          </p:cNvPr>
          <p:cNvSpPr txBox="1"/>
          <p:nvPr/>
        </p:nvSpPr>
        <p:spPr>
          <a:xfrm>
            <a:off x="8305800" y="3490069"/>
            <a:ext cx="7350264" cy="1128514"/>
          </a:xfrm>
          <a:prstGeom prst="rect">
            <a:avLst/>
          </a:prstGeom>
        </p:spPr>
        <p:txBody>
          <a:bodyPr lIns="0" tIns="0" rIns="0" bIns="0" rtlCol="0" anchor="t">
            <a:spAutoFit/>
          </a:bodyPr>
          <a:lstStyle/>
          <a:p>
            <a:pPr>
              <a:lnSpc>
                <a:spcPts val="4392"/>
              </a:lnSpc>
              <a:spcBef>
                <a:spcPct val="0"/>
              </a:spcBef>
            </a:pPr>
            <a:r>
              <a:rPr lang="en-GB" sz="4000" spc="57" dirty="0">
                <a:solidFill>
                  <a:srgbClr val="333333"/>
                </a:solidFill>
                <a:latin typeface="Noto Sans"/>
                <a:ea typeface="Noto Sans"/>
                <a:cs typeface="Noto Sans"/>
                <a:sym typeface="Noto Sans"/>
              </a:rPr>
              <a:t>How to Think About Modern Migration Infrastructure</a:t>
            </a:r>
            <a:endParaRPr lang="en-US" sz="4000" spc="57" dirty="0">
              <a:solidFill>
                <a:srgbClr val="333333"/>
              </a:solidFill>
              <a:latin typeface="Noto Sans"/>
              <a:ea typeface="Noto Sans"/>
              <a:cs typeface="Noto Sans"/>
              <a:sym typeface="Noto Sans"/>
            </a:endParaRPr>
          </a:p>
        </p:txBody>
      </p:sp>
      <p:sp>
        <p:nvSpPr>
          <p:cNvPr id="10" name="TextBox 10">
            <a:extLst>
              <a:ext uri="{FF2B5EF4-FFF2-40B4-BE49-F238E27FC236}">
                <a16:creationId xmlns:a16="http://schemas.microsoft.com/office/drawing/2014/main" id="{E5BB4D9A-F5DE-CB56-8FD4-D825F924F262}"/>
              </a:ext>
            </a:extLst>
          </p:cNvPr>
          <p:cNvSpPr txBox="1"/>
          <p:nvPr/>
        </p:nvSpPr>
        <p:spPr>
          <a:xfrm rot="5400000">
            <a:off x="6089444" y="9216000"/>
            <a:ext cx="1980000" cy="166712"/>
          </a:xfrm>
          <a:prstGeom prst="rect">
            <a:avLst/>
          </a:prstGeom>
        </p:spPr>
        <p:txBody>
          <a:bodyPr wrap="square" lIns="0" tIns="0" rIns="0" bIns="0" rtlCol="0" anchor="t">
            <a:spAutoFit/>
          </a:bodyPr>
          <a:lstStyle/>
          <a:p>
            <a:pPr marL="0" marR="0" lvl="0" indent="0" algn="l" defTabSz="914400" rtl="0" eaLnBrk="1" fontAlgn="auto" latinLnBrk="0" hangingPunct="1">
              <a:lnSpc>
                <a:spcPts val="1320"/>
              </a:lnSpc>
              <a:spcBef>
                <a:spcPts val="0"/>
              </a:spcBef>
              <a:spcAft>
                <a:spcPts val="0"/>
              </a:spcAft>
              <a:buClrTx/>
              <a:buSzTx/>
              <a:buFontTx/>
              <a:buNone/>
              <a:tabLst/>
              <a:defRPr/>
            </a:pPr>
            <a:r>
              <a:rPr kumimoji="0" lang="en-US" sz="1200" b="0" i="0" u="none" strike="noStrike" kern="1200" cap="none" spc="19" normalizeH="0" baseline="0" noProof="0" dirty="0">
                <a:ln>
                  <a:noFill/>
                </a:ln>
                <a:solidFill>
                  <a:srgbClr val="333333"/>
                </a:solidFill>
                <a:effectLst/>
                <a:uLnTx/>
                <a:uFillTx/>
                <a:latin typeface="Noto Sans"/>
                <a:ea typeface="Noto Sans"/>
                <a:cs typeface="Noto Sans"/>
                <a:sym typeface="Noto Sans"/>
              </a:rPr>
              <a:t>© </a:t>
            </a:r>
            <a:r>
              <a:rPr kumimoji="0" lang="en-US" sz="1200" b="0" i="0" u="none" strike="noStrike" kern="1200" cap="none" spc="19" normalizeH="0" baseline="0" noProof="0" dirty="0" err="1">
                <a:ln>
                  <a:noFill/>
                </a:ln>
                <a:solidFill>
                  <a:srgbClr val="333333"/>
                </a:solidFill>
                <a:effectLst/>
                <a:uLnTx/>
                <a:uFillTx/>
                <a:latin typeface="Noto Sans"/>
                <a:ea typeface="Noto Sans"/>
                <a:cs typeface="Noto Sans"/>
                <a:sym typeface="Noto Sans"/>
              </a:rPr>
              <a:t>metamorworks</a:t>
            </a:r>
            <a:r>
              <a:rPr kumimoji="0" lang="en-US" sz="1200" b="0" i="0" u="none" strike="noStrike" kern="1200" cap="none" spc="19" normalizeH="0" baseline="0" noProof="0" dirty="0">
                <a:ln>
                  <a:noFill/>
                </a:ln>
                <a:solidFill>
                  <a:srgbClr val="333333"/>
                </a:solidFill>
                <a:effectLst/>
                <a:uLnTx/>
                <a:uFillTx/>
                <a:latin typeface="Noto Sans"/>
                <a:ea typeface="Noto Sans"/>
                <a:cs typeface="Noto Sans"/>
                <a:sym typeface="Noto Sans"/>
              </a:rPr>
              <a:t> / iStock</a:t>
            </a:r>
          </a:p>
        </p:txBody>
      </p:sp>
      <p:sp>
        <p:nvSpPr>
          <p:cNvPr id="15" name="Rectangle 14">
            <a:extLst>
              <a:ext uri="{FF2B5EF4-FFF2-40B4-BE49-F238E27FC236}">
                <a16:creationId xmlns:a16="http://schemas.microsoft.com/office/drawing/2014/main" id="{58D6F5D0-B4E1-1A34-7D1F-998E6A59E397}"/>
              </a:ext>
            </a:extLst>
          </p:cNvPr>
          <p:cNvSpPr/>
          <p:nvPr/>
        </p:nvSpPr>
        <p:spPr>
          <a:xfrm>
            <a:off x="600" y="0"/>
            <a:ext cx="6933600" cy="10288800"/>
          </a:xfrm>
          <a:prstGeom prst="rect">
            <a:avLst/>
          </a:prstGeom>
          <a:blipFill>
            <a:blip r:embed="rId3">
              <a:extLst>
                <a:ext uri="{28A0092B-C50C-407E-A947-70E740481C1C}">
                  <a14:useLocalDpi xmlns:a14="http://schemas.microsoft.com/office/drawing/2010/main" val="0"/>
                </a:ext>
              </a:extLst>
            </a:blip>
            <a:srcRect/>
            <a:stretch>
              <a:fillRect l="-119799" r="-43966" b="1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9">
            <a:extLst>
              <a:ext uri="{FF2B5EF4-FFF2-40B4-BE49-F238E27FC236}">
                <a16:creationId xmlns:a16="http://schemas.microsoft.com/office/drawing/2014/main" id="{1FCB90BF-C28B-5C2D-54B3-E605A6AD170E}"/>
              </a:ext>
            </a:extLst>
          </p:cNvPr>
          <p:cNvSpPr txBox="1"/>
          <p:nvPr/>
        </p:nvSpPr>
        <p:spPr>
          <a:xfrm>
            <a:off x="8353446" y="5913623"/>
            <a:ext cx="7350264" cy="861774"/>
          </a:xfrm>
          <a:prstGeom prst="rect">
            <a:avLst/>
          </a:prstGeom>
        </p:spPr>
        <p:txBody>
          <a:bodyPr wrap="square" lIns="0" tIns="0" rIns="0" bIns="0" rtlCol="0" anchor="t">
            <a:spAutoFit/>
          </a:bodyPr>
          <a:lstStyle/>
          <a:p>
            <a:pPr marL="0" marR="0" lvl="0" indent="0" defTabSz="914400" rtl="0" eaLnBrk="1" fontAlgn="auto" latinLnBrk="0" hangingPunct="1">
              <a:spcBef>
                <a:spcPts val="0"/>
              </a:spcBef>
              <a:spcAft>
                <a:spcPts val="0"/>
              </a:spcAft>
              <a:buClrTx/>
              <a:buSzTx/>
              <a:buFontTx/>
              <a:buNone/>
              <a:tabLst/>
              <a:defRPr/>
            </a:pPr>
            <a:r>
              <a:rPr kumimoji="0" lang="en-US" sz="3200" b="0" i="0" u="none" strike="noStrike" kern="1200" cap="none" spc="38" normalizeH="0" baseline="0" noProof="0" dirty="0">
                <a:ln>
                  <a:noFill/>
                </a:ln>
                <a:solidFill>
                  <a:srgbClr val="333333"/>
                </a:solidFill>
                <a:effectLst/>
                <a:uLnTx/>
                <a:uFillTx/>
                <a:latin typeface="Noto Sans"/>
                <a:ea typeface="Noto Sans"/>
                <a:cs typeface="Noto Sans"/>
                <a:sym typeface="Noto Sans"/>
              </a:rPr>
              <a:t>Frodo Podschwadek</a:t>
            </a:r>
          </a:p>
          <a:p>
            <a:pPr marL="0" marR="0" lvl="0" indent="0" defTabSz="914400" rtl="0" eaLnBrk="1" fontAlgn="auto" latinLnBrk="0" hangingPunct="1">
              <a:spcBef>
                <a:spcPts val="0"/>
              </a:spcBef>
              <a:spcAft>
                <a:spcPts val="0"/>
              </a:spcAft>
              <a:buClrTx/>
              <a:buSzTx/>
              <a:buFontTx/>
              <a:buNone/>
              <a:tabLst/>
              <a:defRPr/>
            </a:pPr>
            <a:r>
              <a:rPr lang="en-US" sz="2400" spc="38" dirty="0">
                <a:solidFill>
                  <a:srgbClr val="333333"/>
                </a:solidFill>
                <a:latin typeface="Noto Sans"/>
                <a:ea typeface="Noto Sans"/>
                <a:cs typeface="Noto Sans"/>
                <a:sym typeface="Noto Sans"/>
              </a:rPr>
              <a:t>Academy of Sciences and Literature | Mainz</a:t>
            </a:r>
            <a:endParaRPr kumimoji="0" lang="en-US" sz="2400" b="0" i="0" u="none" strike="noStrike" kern="1200" cap="none" spc="38" normalizeH="0" baseline="0" noProof="0" dirty="0">
              <a:ln>
                <a:noFill/>
              </a:ln>
              <a:solidFill>
                <a:srgbClr val="333333"/>
              </a:solidFill>
              <a:effectLst/>
              <a:uLnTx/>
              <a:uFillTx/>
              <a:latin typeface="Noto Sans"/>
              <a:ea typeface="Noto Sans"/>
              <a:cs typeface="Noto Sans"/>
              <a:sym typeface="Noto Sans"/>
            </a:endParaRPr>
          </a:p>
        </p:txBody>
      </p:sp>
      <p:sp>
        <p:nvSpPr>
          <p:cNvPr id="19" name="Freeform 7">
            <a:extLst>
              <a:ext uri="{FF2B5EF4-FFF2-40B4-BE49-F238E27FC236}">
                <a16:creationId xmlns:a16="http://schemas.microsoft.com/office/drawing/2014/main" id="{C45FAFD1-6AB5-3856-0407-8A83434527B8}"/>
              </a:ext>
            </a:extLst>
          </p:cNvPr>
          <p:cNvSpPr/>
          <p:nvPr/>
        </p:nvSpPr>
        <p:spPr>
          <a:xfrm>
            <a:off x="14832600" y="7658100"/>
            <a:ext cx="2160000" cy="2160000"/>
          </a:xfrm>
          <a:custGeom>
            <a:avLst/>
            <a:gdLst/>
            <a:ahLst/>
            <a:cxnLst/>
            <a:rect l="l" t="t" r="r" b="b"/>
            <a:pathLst>
              <a:path w="1405247" h="1405247">
                <a:moveTo>
                  <a:pt x="0" y="0"/>
                </a:moveTo>
                <a:lnTo>
                  <a:pt x="1405247" y="0"/>
                </a:lnTo>
                <a:lnTo>
                  <a:pt x="1405247" y="1405247"/>
                </a:lnTo>
                <a:lnTo>
                  <a:pt x="0" y="1405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dirty="0"/>
          </a:p>
        </p:txBody>
      </p:sp>
    </p:spTree>
    <p:extLst>
      <p:ext uri="{BB962C8B-B14F-4D97-AF65-F5344CB8AC3E}">
        <p14:creationId xmlns:p14="http://schemas.microsoft.com/office/powerpoint/2010/main" val="245637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52905-2901-7349-9109-380CD380FE3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4A602E6-321B-F2FD-1D4F-DBC8398BF3F1}"/>
              </a:ext>
            </a:extLst>
          </p:cNvPr>
          <p:cNvSpPr txBox="1"/>
          <p:nvPr/>
        </p:nvSpPr>
        <p:spPr>
          <a:xfrm>
            <a:off x="1028700" y="1943100"/>
            <a:ext cx="16213111" cy="2462213"/>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Digital Data</a:t>
            </a:r>
            <a:br>
              <a:rPr lang="en-US" sz="8000" dirty="0">
                <a:solidFill>
                  <a:srgbClr val="333333"/>
                </a:solidFill>
                <a:latin typeface="Noto Serif"/>
                <a:ea typeface="Noto Serif"/>
                <a:cs typeface="Noto Serif"/>
                <a:sym typeface="Noto Serif"/>
              </a:rPr>
            </a:br>
            <a:r>
              <a:rPr lang="en-US" sz="8000" dirty="0">
                <a:solidFill>
                  <a:srgbClr val="333333"/>
                </a:solidFill>
                <a:latin typeface="Noto Serif"/>
                <a:ea typeface="Noto Serif"/>
                <a:cs typeface="Noto Serif"/>
                <a:sym typeface="Noto Serif"/>
              </a:rPr>
              <a:t>and Migration</a:t>
            </a:r>
          </a:p>
        </p:txBody>
      </p:sp>
      <p:sp>
        <p:nvSpPr>
          <p:cNvPr id="10" name="Freeform 10">
            <a:extLst>
              <a:ext uri="{FF2B5EF4-FFF2-40B4-BE49-F238E27FC236}">
                <a16:creationId xmlns:a16="http://schemas.microsoft.com/office/drawing/2014/main" id="{F6163116-1AA0-4C40-0C24-F182FB9A8F96}"/>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7" name="Group 6">
            <a:extLst>
              <a:ext uri="{FF2B5EF4-FFF2-40B4-BE49-F238E27FC236}">
                <a16:creationId xmlns:a16="http://schemas.microsoft.com/office/drawing/2014/main" id="{25DCB4D2-B16E-142C-98EA-A0A10F071BD0}"/>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E3AF0339-8C4E-66ED-3967-B5B11D410C4C}"/>
                </a:ext>
              </a:extLst>
            </p:cNvPr>
            <p:cNvGrpSpPr/>
            <p:nvPr/>
          </p:nvGrpSpPr>
          <p:grpSpPr>
            <a:xfrm>
              <a:off x="1028700" y="540000"/>
              <a:ext cx="16230600" cy="613410"/>
              <a:chOff x="0" y="142130"/>
              <a:chExt cx="21640800" cy="1642694"/>
            </a:xfrm>
          </p:grpSpPr>
          <p:sp>
            <p:nvSpPr>
              <p:cNvPr id="4" name="AutoShape 4">
                <a:extLst>
                  <a:ext uri="{FF2B5EF4-FFF2-40B4-BE49-F238E27FC236}">
                    <a16:creationId xmlns:a16="http://schemas.microsoft.com/office/drawing/2014/main" id="{476CAC57-1BD4-C4C0-5677-180823C0F8E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5EE3E078-B3BA-5EB4-DA92-9BA1029E428D}"/>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9" name="TextBox 9">
              <a:extLst>
                <a:ext uri="{FF2B5EF4-FFF2-40B4-BE49-F238E27FC236}">
                  <a16:creationId xmlns:a16="http://schemas.microsoft.com/office/drawing/2014/main" id="{02731C1D-74C5-4457-281B-74818AFB81A0}"/>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6" name="TextBox 5">
              <a:extLst>
                <a:ext uri="{FF2B5EF4-FFF2-40B4-BE49-F238E27FC236}">
                  <a16:creationId xmlns:a16="http://schemas.microsoft.com/office/drawing/2014/main" id="{9339E602-FE6B-50AF-904B-F39AF78DAA5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72516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F056-D485-2580-E8D9-2F6377BACDB8}"/>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BA8501B5-CD26-DCC6-2BEB-9A72EA903AAE}"/>
              </a:ext>
            </a:extLst>
          </p:cNvPr>
          <p:cNvGrpSpPr/>
          <p:nvPr/>
        </p:nvGrpSpPr>
        <p:grpSpPr>
          <a:xfrm>
            <a:off x="1586673" y="1997387"/>
            <a:ext cx="10618855" cy="1981200"/>
            <a:chOff x="1752600" y="1999343"/>
            <a:chExt cx="10618855" cy="1981200"/>
          </a:xfrm>
        </p:grpSpPr>
        <p:sp>
          <p:nvSpPr>
            <p:cNvPr id="17" name="Rectangle 16">
              <a:extLst>
                <a:ext uri="{FF2B5EF4-FFF2-40B4-BE49-F238E27FC236}">
                  <a16:creationId xmlns:a16="http://schemas.microsoft.com/office/drawing/2014/main" id="{5801E67F-5E06-68D3-0E83-0F79805CE14E}"/>
                </a:ext>
              </a:extLst>
            </p:cNvPr>
            <p:cNvSpPr/>
            <p:nvPr/>
          </p:nvSpPr>
          <p:spPr>
            <a:xfrm>
              <a:off x="1752600" y="1999343"/>
              <a:ext cx="2008255" cy="1981200"/>
            </a:xfrm>
            <a:prstGeom prst="rect">
              <a:avLst/>
            </a:prstGeom>
            <a:blipFill>
              <a:blip r:embed="rId3"/>
              <a:srcRect/>
              <a:stretch>
                <a:fillRect l="-15928" r="-1592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63BA4B48-396E-D7C3-32E8-995A4FBF0EAD}"/>
                </a:ext>
              </a:extLst>
            </p:cNvPr>
            <p:cNvSpPr/>
            <p:nvPr/>
          </p:nvSpPr>
          <p:spPr>
            <a:xfrm>
              <a:off x="4622800" y="1999343"/>
              <a:ext cx="2008255" cy="1981200"/>
            </a:xfrm>
            <a:prstGeom prst="rect">
              <a:avLst/>
            </a:prstGeom>
            <a:blipFill>
              <a:blip r:embed="rId4"/>
              <a:srcRect/>
              <a:stretch>
                <a:fillRect l="-45148" r="-19140"/>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1AB8B778-6DF9-89D6-D38F-C62C3FECEF0C}"/>
                </a:ext>
              </a:extLst>
            </p:cNvPr>
            <p:cNvSpPr/>
            <p:nvPr/>
          </p:nvSpPr>
          <p:spPr>
            <a:xfrm>
              <a:off x="7493000" y="1999343"/>
              <a:ext cx="2008255" cy="1981200"/>
            </a:xfrm>
            <a:prstGeom prst="rect">
              <a:avLst/>
            </a:prstGeom>
            <a:blipFill>
              <a:blip r:embed="rId5"/>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81A8C9DE-252C-3A0E-48F5-807EE175A05D}"/>
                </a:ext>
              </a:extLst>
            </p:cNvPr>
            <p:cNvSpPr/>
            <p:nvPr/>
          </p:nvSpPr>
          <p:spPr>
            <a:xfrm>
              <a:off x="10363200" y="1999343"/>
              <a:ext cx="2008255" cy="1981200"/>
            </a:xfrm>
            <a:prstGeom prst="rect">
              <a:avLst/>
            </a:prstGeom>
            <a:blipFill>
              <a:blip r:embed="rId6"/>
              <a:srcRect/>
              <a:stretch>
                <a:fillRect l="-14985" t="-80769" r="-32991" b="-41115"/>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6" name="Freeform 10">
            <a:extLst>
              <a:ext uri="{FF2B5EF4-FFF2-40B4-BE49-F238E27FC236}">
                <a16:creationId xmlns:a16="http://schemas.microsoft.com/office/drawing/2014/main" id="{C5593A7B-DD23-86DB-5965-69666162C35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4" name="Group 13">
            <a:extLst>
              <a:ext uri="{FF2B5EF4-FFF2-40B4-BE49-F238E27FC236}">
                <a16:creationId xmlns:a16="http://schemas.microsoft.com/office/drawing/2014/main" id="{205189A3-C61E-1614-F161-258E40C595E7}"/>
              </a:ext>
            </a:extLst>
          </p:cNvPr>
          <p:cNvGrpSpPr/>
          <p:nvPr/>
        </p:nvGrpSpPr>
        <p:grpSpPr>
          <a:xfrm>
            <a:off x="990600" y="540000"/>
            <a:ext cx="16268700" cy="613410"/>
            <a:chOff x="990600" y="540000"/>
            <a:chExt cx="16268700" cy="613410"/>
          </a:xfrm>
        </p:grpSpPr>
        <p:grpSp>
          <p:nvGrpSpPr>
            <p:cNvPr id="15" name="Group 3">
              <a:extLst>
                <a:ext uri="{FF2B5EF4-FFF2-40B4-BE49-F238E27FC236}">
                  <a16:creationId xmlns:a16="http://schemas.microsoft.com/office/drawing/2014/main" id="{801EFF30-429B-4E2E-8481-B9E7615ED7FC}"/>
                </a:ext>
              </a:extLst>
            </p:cNvPr>
            <p:cNvGrpSpPr/>
            <p:nvPr/>
          </p:nvGrpSpPr>
          <p:grpSpPr>
            <a:xfrm>
              <a:off x="1028700" y="540000"/>
              <a:ext cx="16230600" cy="613410"/>
              <a:chOff x="0" y="142130"/>
              <a:chExt cx="21640800" cy="1642694"/>
            </a:xfrm>
          </p:grpSpPr>
          <p:sp>
            <p:nvSpPr>
              <p:cNvPr id="20" name="AutoShape 4">
                <a:extLst>
                  <a:ext uri="{FF2B5EF4-FFF2-40B4-BE49-F238E27FC236}">
                    <a16:creationId xmlns:a16="http://schemas.microsoft.com/office/drawing/2014/main" id="{084250E4-4EE2-CA96-9938-C5AC22D2AA9A}"/>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22" name="TextBox 5">
                <a:extLst>
                  <a:ext uri="{FF2B5EF4-FFF2-40B4-BE49-F238E27FC236}">
                    <a16:creationId xmlns:a16="http://schemas.microsoft.com/office/drawing/2014/main" id="{53DA53C9-2D55-7956-237F-D5E2E9C0DE19}"/>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6" name="TextBox 9">
              <a:extLst>
                <a:ext uri="{FF2B5EF4-FFF2-40B4-BE49-F238E27FC236}">
                  <a16:creationId xmlns:a16="http://schemas.microsoft.com/office/drawing/2014/main" id="{397DA717-67B8-E078-CE07-6F42374EB365}"/>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8" name="TextBox 17">
              <a:extLst>
                <a:ext uri="{FF2B5EF4-FFF2-40B4-BE49-F238E27FC236}">
                  <a16:creationId xmlns:a16="http://schemas.microsoft.com/office/drawing/2014/main" id="{A4F0EA4C-F399-1BD0-FEA6-B5C8A5A0A295}"/>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193067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19D7-6E29-BE47-CB49-27677DE7EC2B}"/>
            </a:ext>
          </a:extLst>
        </p:cNvPr>
        <p:cNvGrpSpPr/>
        <p:nvPr/>
      </p:nvGrpSpPr>
      <p:grpSpPr>
        <a:xfrm>
          <a:off x="0" y="0"/>
          <a:ext cx="0" cy="0"/>
          <a:chOff x="0" y="0"/>
          <a:chExt cx="0" cy="0"/>
        </a:xfrm>
      </p:grpSpPr>
      <p:pic>
        <p:nvPicPr>
          <p:cNvPr id="38" name="Graphic 37" descr="Call center with solid fill">
            <a:extLst>
              <a:ext uri="{FF2B5EF4-FFF2-40B4-BE49-F238E27FC236}">
                <a16:creationId xmlns:a16="http://schemas.microsoft.com/office/drawing/2014/main" id="{ED5D9424-DA52-0539-54B7-7A31D7B2E9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8984" y="7948894"/>
            <a:ext cx="1814232" cy="1814232"/>
          </a:xfrm>
          <a:prstGeom prst="rect">
            <a:avLst/>
          </a:prstGeom>
        </p:spPr>
      </p:pic>
      <p:grpSp>
        <p:nvGrpSpPr>
          <p:cNvPr id="24" name="Group 23">
            <a:extLst>
              <a:ext uri="{FF2B5EF4-FFF2-40B4-BE49-F238E27FC236}">
                <a16:creationId xmlns:a16="http://schemas.microsoft.com/office/drawing/2014/main" id="{1BE35731-8913-3368-C1F7-AE0F6287358D}"/>
              </a:ext>
            </a:extLst>
          </p:cNvPr>
          <p:cNvGrpSpPr/>
          <p:nvPr/>
        </p:nvGrpSpPr>
        <p:grpSpPr>
          <a:xfrm>
            <a:off x="1586673" y="1997387"/>
            <a:ext cx="10618855" cy="1981200"/>
            <a:chOff x="1752600" y="1999343"/>
            <a:chExt cx="10618855" cy="1981200"/>
          </a:xfrm>
        </p:grpSpPr>
        <p:sp>
          <p:nvSpPr>
            <p:cNvPr id="17" name="Rectangle 16">
              <a:extLst>
                <a:ext uri="{FF2B5EF4-FFF2-40B4-BE49-F238E27FC236}">
                  <a16:creationId xmlns:a16="http://schemas.microsoft.com/office/drawing/2014/main" id="{9B08D585-0846-2573-8AD9-1EBF2189A8B1}"/>
                </a:ext>
              </a:extLst>
            </p:cNvPr>
            <p:cNvSpPr/>
            <p:nvPr/>
          </p:nvSpPr>
          <p:spPr>
            <a:xfrm>
              <a:off x="1752600" y="1999343"/>
              <a:ext cx="2008255" cy="1981200"/>
            </a:xfrm>
            <a:prstGeom prst="rect">
              <a:avLst/>
            </a:prstGeom>
            <a:blipFill>
              <a:blip r:embed="rId4"/>
              <a:srcRect/>
              <a:stretch>
                <a:fillRect l="-15928" r="-1592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C6252801-1CFC-C285-0E83-2A1C948BF756}"/>
                </a:ext>
              </a:extLst>
            </p:cNvPr>
            <p:cNvSpPr/>
            <p:nvPr/>
          </p:nvSpPr>
          <p:spPr>
            <a:xfrm>
              <a:off x="4622800" y="1999343"/>
              <a:ext cx="2008255" cy="1981200"/>
            </a:xfrm>
            <a:prstGeom prst="rect">
              <a:avLst/>
            </a:prstGeom>
            <a:blipFill>
              <a:blip r:embed="rId5"/>
              <a:srcRect/>
              <a:stretch>
                <a:fillRect l="-45148" r="-19140"/>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EAD7E54B-7C77-8857-925F-2384865B3D76}"/>
                </a:ext>
              </a:extLst>
            </p:cNvPr>
            <p:cNvSpPr/>
            <p:nvPr/>
          </p:nvSpPr>
          <p:spPr>
            <a:xfrm>
              <a:off x="7493000" y="1999343"/>
              <a:ext cx="2008255" cy="1981200"/>
            </a:xfrm>
            <a:prstGeom prst="rect">
              <a:avLst/>
            </a:prstGeom>
            <a:blipFill>
              <a:blip r:embed="rId6"/>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25CDD3E1-DC16-4F95-E213-E7DF3D8888CB}"/>
                </a:ext>
              </a:extLst>
            </p:cNvPr>
            <p:cNvSpPr/>
            <p:nvPr/>
          </p:nvSpPr>
          <p:spPr>
            <a:xfrm>
              <a:off x="10363200" y="1999343"/>
              <a:ext cx="2008255" cy="1981200"/>
            </a:xfrm>
            <a:prstGeom prst="rect">
              <a:avLst/>
            </a:prstGeom>
            <a:blipFill>
              <a:blip r:embed="rId7"/>
              <a:srcRect/>
              <a:stretch>
                <a:fillRect l="-14985" t="-80769" r="-32991" b="-41115"/>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6" name="Graphic 5" descr="Badge Question Mark with solid fill">
            <a:extLst>
              <a:ext uri="{FF2B5EF4-FFF2-40B4-BE49-F238E27FC236}">
                <a16:creationId xmlns:a16="http://schemas.microsoft.com/office/drawing/2014/main" id="{503C579F-42FB-1989-C674-2DE27C43C6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76975" y="4822563"/>
            <a:ext cx="2438250" cy="2438250"/>
          </a:xfrm>
          <a:prstGeom prst="rect">
            <a:avLst/>
          </a:prstGeom>
        </p:spPr>
      </p:pic>
      <p:sp>
        <p:nvSpPr>
          <p:cNvPr id="7" name="Freeform 10">
            <a:extLst>
              <a:ext uri="{FF2B5EF4-FFF2-40B4-BE49-F238E27FC236}">
                <a16:creationId xmlns:a16="http://schemas.microsoft.com/office/drawing/2014/main" id="{FFA66A6C-CB15-870A-8949-FD711426561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9"/>
                </a:ext>
              </a:extLst>
            </a:blip>
            <a:stretch>
              <a:fillRect/>
            </a:stretch>
          </a:blipFill>
        </p:spPr>
        <p:txBody>
          <a:bodyPr/>
          <a:lstStyle/>
          <a:p>
            <a:endParaRPr lang="en-GB"/>
          </a:p>
        </p:txBody>
      </p:sp>
      <p:grpSp>
        <p:nvGrpSpPr>
          <p:cNvPr id="2" name="Group 1">
            <a:extLst>
              <a:ext uri="{FF2B5EF4-FFF2-40B4-BE49-F238E27FC236}">
                <a16:creationId xmlns:a16="http://schemas.microsoft.com/office/drawing/2014/main" id="{2DECAF3C-C15B-F723-C6B3-F2AF2CF5028A}"/>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3EE7FDCF-8789-43EA-A3CA-6E76EE76F8FE}"/>
                </a:ext>
              </a:extLst>
            </p:cNvPr>
            <p:cNvGrpSpPr/>
            <p:nvPr/>
          </p:nvGrpSpPr>
          <p:grpSpPr>
            <a:xfrm>
              <a:off x="1028700" y="540000"/>
              <a:ext cx="16230600" cy="613410"/>
              <a:chOff x="0" y="142130"/>
              <a:chExt cx="21640800" cy="1642694"/>
            </a:xfrm>
          </p:grpSpPr>
          <p:sp>
            <p:nvSpPr>
              <p:cNvPr id="13" name="AutoShape 4">
                <a:extLst>
                  <a:ext uri="{FF2B5EF4-FFF2-40B4-BE49-F238E27FC236}">
                    <a16:creationId xmlns:a16="http://schemas.microsoft.com/office/drawing/2014/main" id="{CD6ABED1-BD4F-7040-E6C1-E60C57D97ABE}"/>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4" name="TextBox 5">
                <a:extLst>
                  <a:ext uri="{FF2B5EF4-FFF2-40B4-BE49-F238E27FC236}">
                    <a16:creationId xmlns:a16="http://schemas.microsoft.com/office/drawing/2014/main" id="{B1270F4C-78D8-F0A2-3A4B-7F041A5FCEF1}"/>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0" name="TextBox 9">
              <a:extLst>
                <a:ext uri="{FF2B5EF4-FFF2-40B4-BE49-F238E27FC236}">
                  <a16:creationId xmlns:a16="http://schemas.microsoft.com/office/drawing/2014/main" id="{8800E206-0F9B-A019-48D2-C02908EA7E09}"/>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54EC9F48-8D38-002B-84C3-F1CFDC4058AA}"/>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607800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00D4F-157C-25DE-FC92-29B477F91DB7}"/>
            </a:ext>
          </a:extLst>
        </p:cNvPr>
        <p:cNvGrpSpPr/>
        <p:nvPr/>
      </p:nvGrpSpPr>
      <p:grpSpPr>
        <a:xfrm>
          <a:off x="0" y="0"/>
          <a:ext cx="0" cy="0"/>
          <a:chOff x="0" y="0"/>
          <a:chExt cx="0" cy="0"/>
        </a:xfrm>
      </p:grpSpPr>
      <p:pic>
        <p:nvPicPr>
          <p:cNvPr id="38" name="Graphic 37" descr="Call center with solid fill">
            <a:extLst>
              <a:ext uri="{FF2B5EF4-FFF2-40B4-BE49-F238E27FC236}">
                <a16:creationId xmlns:a16="http://schemas.microsoft.com/office/drawing/2014/main" id="{89508DF8-98F3-0BE8-8013-8426471FF0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8984" y="7948894"/>
            <a:ext cx="1814232" cy="1814232"/>
          </a:xfrm>
          <a:prstGeom prst="rect">
            <a:avLst/>
          </a:prstGeom>
        </p:spPr>
      </p:pic>
      <p:grpSp>
        <p:nvGrpSpPr>
          <p:cNvPr id="49" name="Group 48">
            <a:extLst>
              <a:ext uri="{FF2B5EF4-FFF2-40B4-BE49-F238E27FC236}">
                <a16:creationId xmlns:a16="http://schemas.microsoft.com/office/drawing/2014/main" id="{7C0ABA73-AA4E-2007-4B9F-DCE24503B1EF}"/>
              </a:ext>
            </a:extLst>
          </p:cNvPr>
          <p:cNvGrpSpPr/>
          <p:nvPr/>
        </p:nvGrpSpPr>
        <p:grpSpPr>
          <a:xfrm>
            <a:off x="1586673" y="1997387"/>
            <a:ext cx="10618855" cy="5241558"/>
            <a:chOff x="1725545" y="1768787"/>
            <a:chExt cx="10618855" cy="5241558"/>
          </a:xfrm>
        </p:grpSpPr>
        <p:grpSp>
          <p:nvGrpSpPr>
            <p:cNvPr id="24" name="Group 23">
              <a:extLst>
                <a:ext uri="{FF2B5EF4-FFF2-40B4-BE49-F238E27FC236}">
                  <a16:creationId xmlns:a16="http://schemas.microsoft.com/office/drawing/2014/main" id="{0D205A64-A454-7432-D5AD-658D121AB6DD}"/>
                </a:ext>
              </a:extLst>
            </p:cNvPr>
            <p:cNvGrpSpPr/>
            <p:nvPr/>
          </p:nvGrpSpPr>
          <p:grpSpPr>
            <a:xfrm>
              <a:off x="1725545" y="1768787"/>
              <a:ext cx="10618855" cy="1981200"/>
              <a:chOff x="1752600" y="1999343"/>
              <a:chExt cx="10618855" cy="1981200"/>
            </a:xfrm>
          </p:grpSpPr>
          <p:sp>
            <p:nvSpPr>
              <p:cNvPr id="17" name="Rectangle 16">
                <a:extLst>
                  <a:ext uri="{FF2B5EF4-FFF2-40B4-BE49-F238E27FC236}">
                    <a16:creationId xmlns:a16="http://schemas.microsoft.com/office/drawing/2014/main" id="{27A1954D-0EAA-CA35-4E92-F8BA240B89C6}"/>
                  </a:ext>
                </a:extLst>
              </p:cNvPr>
              <p:cNvSpPr/>
              <p:nvPr/>
            </p:nvSpPr>
            <p:spPr>
              <a:xfrm>
                <a:off x="1752600" y="1999343"/>
                <a:ext cx="2008255" cy="1981200"/>
              </a:xfrm>
              <a:prstGeom prst="rect">
                <a:avLst/>
              </a:prstGeom>
              <a:blipFill>
                <a:blip r:embed="rId4"/>
                <a:srcRect/>
                <a:stretch>
                  <a:fillRect l="-15928" r="-1592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1570FE61-B79B-0EDF-9E81-B7047B85584A}"/>
                  </a:ext>
                </a:extLst>
              </p:cNvPr>
              <p:cNvSpPr/>
              <p:nvPr/>
            </p:nvSpPr>
            <p:spPr>
              <a:xfrm>
                <a:off x="4622800" y="1999343"/>
                <a:ext cx="2008255" cy="1981200"/>
              </a:xfrm>
              <a:prstGeom prst="rect">
                <a:avLst/>
              </a:prstGeom>
              <a:blipFill>
                <a:blip r:embed="rId5"/>
                <a:srcRect/>
                <a:stretch>
                  <a:fillRect l="-45148" r="-19140"/>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D6906455-6C92-5D2B-3C0D-B8FC4B324C11}"/>
                  </a:ext>
                </a:extLst>
              </p:cNvPr>
              <p:cNvSpPr/>
              <p:nvPr/>
            </p:nvSpPr>
            <p:spPr>
              <a:xfrm>
                <a:off x="7493000" y="1999343"/>
                <a:ext cx="2008255" cy="1981200"/>
              </a:xfrm>
              <a:prstGeom prst="rect">
                <a:avLst/>
              </a:prstGeom>
              <a:blipFill>
                <a:blip r:embed="rId6"/>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E6D9462E-C46D-76AA-CAA6-9BEBD9FC0B75}"/>
                  </a:ext>
                </a:extLst>
              </p:cNvPr>
              <p:cNvSpPr/>
              <p:nvPr/>
            </p:nvSpPr>
            <p:spPr>
              <a:xfrm>
                <a:off x="10363200" y="1999343"/>
                <a:ext cx="2008255" cy="1981200"/>
              </a:xfrm>
              <a:prstGeom prst="rect">
                <a:avLst/>
              </a:prstGeom>
              <a:blipFill>
                <a:blip r:embed="rId7"/>
                <a:srcRect/>
                <a:stretch>
                  <a:fillRect l="-14985" t="-80769" r="-32991" b="-41115"/>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6" name="Group 35">
              <a:extLst>
                <a:ext uri="{FF2B5EF4-FFF2-40B4-BE49-F238E27FC236}">
                  <a16:creationId xmlns:a16="http://schemas.microsoft.com/office/drawing/2014/main" id="{377A10D9-15F8-A3D0-6ABA-93B9F798C30C}"/>
                </a:ext>
              </a:extLst>
            </p:cNvPr>
            <p:cNvGrpSpPr/>
            <p:nvPr/>
          </p:nvGrpSpPr>
          <p:grpSpPr>
            <a:xfrm>
              <a:off x="2601173" y="4838700"/>
              <a:ext cx="8867599" cy="2171645"/>
              <a:chOff x="2176156" y="4365363"/>
              <a:chExt cx="11201400" cy="2743185"/>
            </a:xfrm>
          </p:grpSpPr>
          <p:sp>
            <p:nvSpPr>
              <p:cNvPr id="34" name="Rectangle 33">
                <a:extLst>
                  <a:ext uri="{FF2B5EF4-FFF2-40B4-BE49-F238E27FC236}">
                    <a16:creationId xmlns:a16="http://schemas.microsoft.com/office/drawing/2014/main" id="{43FD75AB-BB89-49E6-EB73-05C0FC0DC84B}"/>
                  </a:ext>
                </a:extLst>
              </p:cNvPr>
              <p:cNvSpPr/>
              <p:nvPr/>
            </p:nvSpPr>
            <p:spPr>
              <a:xfrm>
                <a:off x="2176156" y="4365363"/>
                <a:ext cx="11201400" cy="2743185"/>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5A5E0E30-A8C3-EAF6-723D-6AA291FBD090}"/>
                  </a:ext>
                </a:extLst>
              </p:cNvPr>
              <p:cNvGrpSpPr/>
              <p:nvPr/>
            </p:nvGrpSpPr>
            <p:grpSpPr>
              <a:xfrm>
                <a:off x="2825830" y="4898755"/>
                <a:ext cx="9902053" cy="1676400"/>
                <a:chOff x="2779486" y="4914892"/>
                <a:chExt cx="9902053" cy="1676400"/>
              </a:xfrm>
            </p:grpSpPr>
            <p:pic>
              <p:nvPicPr>
                <p:cNvPr id="26" name="Graphic 25" descr="Server with solid fill">
                  <a:extLst>
                    <a:ext uri="{FF2B5EF4-FFF2-40B4-BE49-F238E27FC236}">
                      <a16:creationId xmlns:a16="http://schemas.microsoft.com/office/drawing/2014/main" id="{E8F224E1-7A2C-5930-0B29-50F61A5B827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79486" y="4914892"/>
                  <a:ext cx="1676400" cy="1676400"/>
                </a:xfrm>
                <a:prstGeom prst="rect">
                  <a:avLst/>
                </a:prstGeom>
              </p:spPr>
            </p:pic>
            <p:pic>
              <p:nvPicPr>
                <p:cNvPr id="28" name="Graphic 27" descr="Database with solid fill">
                  <a:extLst>
                    <a:ext uri="{FF2B5EF4-FFF2-40B4-BE49-F238E27FC236}">
                      <a16:creationId xmlns:a16="http://schemas.microsoft.com/office/drawing/2014/main" id="{EEF1C308-C67B-0C28-7DE0-A810142BF0B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497180" y="4914892"/>
                  <a:ext cx="1676400" cy="1676400"/>
                </a:xfrm>
                <a:prstGeom prst="rect">
                  <a:avLst/>
                </a:prstGeom>
              </p:spPr>
            </p:pic>
            <p:pic>
              <p:nvPicPr>
                <p:cNvPr id="30" name="Graphic 29" descr="Illustrator with solid fill">
                  <a:extLst>
                    <a:ext uri="{FF2B5EF4-FFF2-40B4-BE49-F238E27FC236}">
                      <a16:creationId xmlns:a16="http://schemas.microsoft.com/office/drawing/2014/main" id="{4BCAB87E-CCE8-16A6-A48D-96C531A39A1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51160" y="4914892"/>
                  <a:ext cx="1676400" cy="1676400"/>
                </a:xfrm>
                <a:prstGeom prst="rect">
                  <a:avLst/>
                </a:prstGeom>
              </p:spPr>
            </p:pic>
            <p:pic>
              <p:nvPicPr>
                <p:cNvPr id="32" name="Graphic 31" descr="Eye Scan with solid fill">
                  <a:extLst>
                    <a:ext uri="{FF2B5EF4-FFF2-40B4-BE49-F238E27FC236}">
                      <a16:creationId xmlns:a16="http://schemas.microsoft.com/office/drawing/2014/main" id="{2F4512A6-2418-DBAB-748E-82F8C519E56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05139" y="4914892"/>
                  <a:ext cx="1676400" cy="1676400"/>
                </a:xfrm>
                <a:prstGeom prst="rect">
                  <a:avLst/>
                </a:prstGeom>
              </p:spPr>
            </p:pic>
          </p:grpSp>
        </p:grpSp>
        <p:sp>
          <p:nvSpPr>
            <p:cNvPr id="39" name="Arrow: Down 38">
              <a:extLst>
                <a:ext uri="{FF2B5EF4-FFF2-40B4-BE49-F238E27FC236}">
                  <a16:creationId xmlns:a16="http://schemas.microsoft.com/office/drawing/2014/main" id="{5BC55F62-74F6-E0A9-B5FC-9A2529820E7D}"/>
                </a:ext>
              </a:extLst>
            </p:cNvPr>
            <p:cNvSpPr/>
            <p:nvPr/>
          </p:nvSpPr>
          <p:spPr>
            <a:xfrm>
              <a:off x="3115488"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Down 40">
              <a:extLst>
                <a:ext uri="{FF2B5EF4-FFF2-40B4-BE49-F238E27FC236}">
                  <a16:creationId xmlns:a16="http://schemas.microsoft.com/office/drawing/2014/main" id="{E2A58DF8-64A1-D4F2-0F4C-1602333B9468}"/>
                </a:ext>
              </a:extLst>
            </p:cNvPr>
            <p:cNvSpPr/>
            <p:nvPr/>
          </p:nvSpPr>
          <p:spPr>
            <a:xfrm>
              <a:off x="5533387"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Arrow: Down 42">
              <a:extLst>
                <a:ext uri="{FF2B5EF4-FFF2-40B4-BE49-F238E27FC236}">
                  <a16:creationId xmlns:a16="http://schemas.microsoft.com/office/drawing/2014/main" id="{A617B7FD-243C-D566-0B27-C98ED0F177A6}"/>
                </a:ext>
              </a:extLst>
            </p:cNvPr>
            <p:cNvSpPr/>
            <p:nvPr/>
          </p:nvSpPr>
          <p:spPr>
            <a:xfrm>
              <a:off x="8271508"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Down 44">
              <a:extLst>
                <a:ext uri="{FF2B5EF4-FFF2-40B4-BE49-F238E27FC236}">
                  <a16:creationId xmlns:a16="http://schemas.microsoft.com/office/drawing/2014/main" id="{0D2955E6-C422-FFD9-5509-6098DFA74A1B}"/>
                </a:ext>
              </a:extLst>
            </p:cNvPr>
            <p:cNvSpPr/>
            <p:nvPr/>
          </p:nvSpPr>
          <p:spPr>
            <a:xfrm>
              <a:off x="10640631"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7" name="Arrow: Down 46">
            <a:extLst>
              <a:ext uri="{FF2B5EF4-FFF2-40B4-BE49-F238E27FC236}">
                <a16:creationId xmlns:a16="http://schemas.microsoft.com/office/drawing/2014/main" id="{1ACF2E04-498F-D5A6-FAAB-56FBFFF1C51B}"/>
              </a:ext>
            </a:extLst>
          </p:cNvPr>
          <p:cNvSpPr/>
          <p:nvPr/>
        </p:nvSpPr>
        <p:spPr>
          <a:xfrm>
            <a:off x="6697536" y="7402302"/>
            <a:ext cx="397128" cy="546592"/>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10">
            <a:extLst>
              <a:ext uri="{FF2B5EF4-FFF2-40B4-BE49-F238E27FC236}">
                <a16:creationId xmlns:a16="http://schemas.microsoft.com/office/drawing/2014/main" id="{DD57D467-0C52-5006-6C69-B073ABDF0191}"/>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12"/>
                </a:ext>
              </a:extLst>
            </a:blip>
            <a:stretch>
              <a:fillRect/>
            </a:stretch>
          </a:blipFill>
        </p:spPr>
        <p:txBody>
          <a:bodyPr/>
          <a:lstStyle/>
          <a:p>
            <a:endParaRPr lang="en-GB"/>
          </a:p>
        </p:txBody>
      </p:sp>
      <p:grpSp>
        <p:nvGrpSpPr>
          <p:cNvPr id="2" name="Group 1">
            <a:extLst>
              <a:ext uri="{FF2B5EF4-FFF2-40B4-BE49-F238E27FC236}">
                <a16:creationId xmlns:a16="http://schemas.microsoft.com/office/drawing/2014/main" id="{347DBE19-1380-8A6F-50D9-38B3DD5E8722}"/>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934300DD-717C-4A8F-61B5-B4EAC7261FCE}"/>
                </a:ext>
              </a:extLst>
            </p:cNvPr>
            <p:cNvGrpSpPr/>
            <p:nvPr/>
          </p:nvGrpSpPr>
          <p:grpSpPr>
            <a:xfrm>
              <a:off x="1028700" y="540000"/>
              <a:ext cx="16230600" cy="613410"/>
              <a:chOff x="0" y="142130"/>
              <a:chExt cx="21640800" cy="1642694"/>
            </a:xfrm>
          </p:grpSpPr>
          <p:sp>
            <p:nvSpPr>
              <p:cNvPr id="12" name="AutoShape 4">
                <a:extLst>
                  <a:ext uri="{FF2B5EF4-FFF2-40B4-BE49-F238E27FC236}">
                    <a16:creationId xmlns:a16="http://schemas.microsoft.com/office/drawing/2014/main" id="{0BD63ACC-B720-6550-C4CC-01939D066EA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3" name="TextBox 5">
                <a:extLst>
                  <a:ext uri="{FF2B5EF4-FFF2-40B4-BE49-F238E27FC236}">
                    <a16:creationId xmlns:a16="http://schemas.microsoft.com/office/drawing/2014/main" id="{5CF04A8A-C1F7-9CBB-79D3-60BB769C813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9">
              <a:extLst>
                <a:ext uri="{FF2B5EF4-FFF2-40B4-BE49-F238E27FC236}">
                  <a16:creationId xmlns:a16="http://schemas.microsoft.com/office/drawing/2014/main" id="{3CF3D181-3B86-BD10-1249-87C907423F87}"/>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0" name="TextBox 9">
              <a:extLst>
                <a:ext uri="{FF2B5EF4-FFF2-40B4-BE49-F238E27FC236}">
                  <a16:creationId xmlns:a16="http://schemas.microsoft.com/office/drawing/2014/main" id="{10BFB02D-069C-4D22-99D5-28CD5BDA482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5</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114321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9EC4F-B8BF-6B25-9CFF-D4F0B980BBFA}"/>
            </a:ext>
          </a:extLst>
        </p:cNvPr>
        <p:cNvGrpSpPr/>
        <p:nvPr/>
      </p:nvGrpSpPr>
      <p:grpSpPr>
        <a:xfrm>
          <a:off x="0" y="0"/>
          <a:ext cx="0" cy="0"/>
          <a:chOff x="0" y="0"/>
          <a:chExt cx="0" cy="0"/>
        </a:xfrm>
      </p:grpSpPr>
      <p:sp>
        <p:nvSpPr>
          <p:cNvPr id="6" name="Freeform 10">
            <a:extLst>
              <a:ext uri="{FF2B5EF4-FFF2-40B4-BE49-F238E27FC236}">
                <a16:creationId xmlns:a16="http://schemas.microsoft.com/office/drawing/2014/main" id="{AC555208-22DC-0BB7-2AE1-8B13F59EBB5F}"/>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8" name="Rectangle 47">
            <a:extLst>
              <a:ext uri="{FF2B5EF4-FFF2-40B4-BE49-F238E27FC236}">
                <a16:creationId xmlns:a16="http://schemas.microsoft.com/office/drawing/2014/main" id="{CBB16F73-7F11-8E43-79E6-F0535294BBA8}"/>
              </a:ext>
            </a:extLst>
          </p:cNvPr>
          <p:cNvSpPr/>
          <p:nvPr/>
        </p:nvSpPr>
        <p:spPr>
          <a:xfrm>
            <a:off x="1143000" y="1714500"/>
            <a:ext cx="16002000" cy="5943589"/>
          </a:xfrm>
          <a:prstGeom prst="rect">
            <a:avLst/>
          </a:prstGeom>
          <a:solidFill>
            <a:schemeClr val="bg1">
              <a:lumMod val="85000"/>
              <a:alpha val="80000"/>
            </a:schemeClr>
          </a:solidFill>
          <a:ln>
            <a:solidFill>
              <a:srgbClr val="33333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8" name="Graphic 37" descr="Call center with solid fill">
            <a:extLst>
              <a:ext uri="{FF2B5EF4-FFF2-40B4-BE49-F238E27FC236}">
                <a16:creationId xmlns:a16="http://schemas.microsoft.com/office/drawing/2014/main" id="{BE3FF22B-AF7D-71FD-3CC6-A5A1963763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8984" y="7948894"/>
            <a:ext cx="1814232" cy="1814232"/>
          </a:xfrm>
          <a:prstGeom prst="rect">
            <a:avLst/>
          </a:prstGeom>
        </p:spPr>
      </p:pic>
      <p:grpSp>
        <p:nvGrpSpPr>
          <p:cNvPr id="49" name="Group 48">
            <a:extLst>
              <a:ext uri="{FF2B5EF4-FFF2-40B4-BE49-F238E27FC236}">
                <a16:creationId xmlns:a16="http://schemas.microsoft.com/office/drawing/2014/main" id="{BA5EC241-AAFE-99C5-A84B-BA5A1756E226}"/>
              </a:ext>
            </a:extLst>
          </p:cNvPr>
          <p:cNvGrpSpPr/>
          <p:nvPr/>
        </p:nvGrpSpPr>
        <p:grpSpPr>
          <a:xfrm>
            <a:off x="1586673" y="1997387"/>
            <a:ext cx="10618855" cy="5241558"/>
            <a:chOff x="1725545" y="1768787"/>
            <a:chExt cx="10618855" cy="5241558"/>
          </a:xfrm>
        </p:grpSpPr>
        <p:grpSp>
          <p:nvGrpSpPr>
            <p:cNvPr id="24" name="Group 23">
              <a:extLst>
                <a:ext uri="{FF2B5EF4-FFF2-40B4-BE49-F238E27FC236}">
                  <a16:creationId xmlns:a16="http://schemas.microsoft.com/office/drawing/2014/main" id="{DC5B2760-AAE2-F40B-AFCE-90EA47EB1D30}"/>
                </a:ext>
              </a:extLst>
            </p:cNvPr>
            <p:cNvGrpSpPr/>
            <p:nvPr/>
          </p:nvGrpSpPr>
          <p:grpSpPr>
            <a:xfrm>
              <a:off x="1725545" y="1768787"/>
              <a:ext cx="10618855" cy="1981200"/>
              <a:chOff x="1752600" y="1999343"/>
              <a:chExt cx="10618855" cy="1981200"/>
            </a:xfrm>
          </p:grpSpPr>
          <p:sp>
            <p:nvSpPr>
              <p:cNvPr id="17" name="Rectangle 16">
                <a:extLst>
                  <a:ext uri="{FF2B5EF4-FFF2-40B4-BE49-F238E27FC236}">
                    <a16:creationId xmlns:a16="http://schemas.microsoft.com/office/drawing/2014/main" id="{1B7378C7-B906-C1BD-19D3-3812086389A2}"/>
                  </a:ext>
                </a:extLst>
              </p:cNvPr>
              <p:cNvSpPr/>
              <p:nvPr/>
            </p:nvSpPr>
            <p:spPr>
              <a:xfrm>
                <a:off x="1752600" y="1999343"/>
                <a:ext cx="2008255" cy="1981200"/>
              </a:xfrm>
              <a:prstGeom prst="rect">
                <a:avLst/>
              </a:prstGeom>
              <a:blipFill>
                <a:blip r:embed="rId5"/>
                <a:srcRect/>
                <a:stretch>
                  <a:fillRect l="-15928" r="-1592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ADBAF3FA-E7A6-E189-24F3-7953EDE88499}"/>
                  </a:ext>
                </a:extLst>
              </p:cNvPr>
              <p:cNvSpPr/>
              <p:nvPr/>
            </p:nvSpPr>
            <p:spPr>
              <a:xfrm>
                <a:off x="4622800" y="1999343"/>
                <a:ext cx="2008255" cy="1981200"/>
              </a:xfrm>
              <a:prstGeom prst="rect">
                <a:avLst/>
              </a:prstGeom>
              <a:blipFill>
                <a:blip r:embed="rId6"/>
                <a:srcRect/>
                <a:stretch>
                  <a:fillRect l="-45148" r="-19140"/>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2853AADA-17A1-F6F6-6E1B-F983685CD60F}"/>
                  </a:ext>
                </a:extLst>
              </p:cNvPr>
              <p:cNvSpPr/>
              <p:nvPr/>
            </p:nvSpPr>
            <p:spPr>
              <a:xfrm>
                <a:off x="7493000" y="1999343"/>
                <a:ext cx="2008255" cy="1981200"/>
              </a:xfrm>
              <a:prstGeom prst="rect">
                <a:avLst/>
              </a:prstGeom>
              <a:blipFill>
                <a:blip r:embed="rId7"/>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EB9733C9-65FB-999D-B21E-F9D334A98483}"/>
                  </a:ext>
                </a:extLst>
              </p:cNvPr>
              <p:cNvSpPr/>
              <p:nvPr/>
            </p:nvSpPr>
            <p:spPr>
              <a:xfrm>
                <a:off x="10363200" y="1999343"/>
                <a:ext cx="2008255" cy="1981200"/>
              </a:xfrm>
              <a:prstGeom prst="rect">
                <a:avLst/>
              </a:prstGeom>
              <a:blipFill>
                <a:blip r:embed="rId8"/>
                <a:srcRect/>
                <a:stretch>
                  <a:fillRect l="-14985" t="-80769" r="-32991" b="-41115"/>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6" name="Group 35">
              <a:extLst>
                <a:ext uri="{FF2B5EF4-FFF2-40B4-BE49-F238E27FC236}">
                  <a16:creationId xmlns:a16="http://schemas.microsoft.com/office/drawing/2014/main" id="{5BD7665D-4FFC-9C0C-A000-55624316273F}"/>
                </a:ext>
              </a:extLst>
            </p:cNvPr>
            <p:cNvGrpSpPr/>
            <p:nvPr/>
          </p:nvGrpSpPr>
          <p:grpSpPr>
            <a:xfrm>
              <a:off x="2601173" y="4838700"/>
              <a:ext cx="8867599" cy="2171645"/>
              <a:chOff x="2176156" y="4365363"/>
              <a:chExt cx="11201400" cy="2743185"/>
            </a:xfrm>
          </p:grpSpPr>
          <p:sp>
            <p:nvSpPr>
              <p:cNvPr id="34" name="Rectangle 33">
                <a:extLst>
                  <a:ext uri="{FF2B5EF4-FFF2-40B4-BE49-F238E27FC236}">
                    <a16:creationId xmlns:a16="http://schemas.microsoft.com/office/drawing/2014/main" id="{BB3FA160-CCB0-2D2E-FFD3-CD64EC7C5C30}"/>
                  </a:ext>
                </a:extLst>
              </p:cNvPr>
              <p:cNvSpPr/>
              <p:nvPr/>
            </p:nvSpPr>
            <p:spPr>
              <a:xfrm>
                <a:off x="2176156" y="4365363"/>
                <a:ext cx="11201400" cy="2743185"/>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E85AB91F-E0BA-FD83-601A-558C8B7A8E42}"/>
                  </a:ext>
                </a:extLst>
              </p:cNvPr>
              <p:cNvGrpSpPr/>
              <p:nvPr/>
            </p:nvGrpSpPr>
            <p:grpSpPr>
              <a:xfrm>
                <a:off x="2825830" y="4898755"/>
                <a:ext cx="9902053" cy="1676400"/>
                <a:chOff x="2779486" y="4914892"/>
                <a:chExt cx="9902053" cy="1676400"/>
              </a:xfrm>
            </p:grpSpPr>
            <p:pic>
              <p:nvPicPr>
                <p:cNvPr id="26" name="Graphic 25" descr="Server with solid fill">
                  <a:extLst>
                    <a:ext uri="{FF2B5EF4-FFF2-40B4-BE49-F238E27FC236}">
                      <a16:creationId xmlns:a16="http://schemas.microsoft.com/office/drawing/2014/main" id="{28A2B0D9-12BE-D7A3-A99B-D0877ACD313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79486" y="4914892"/>
                  <a:ext cx="1676400" cy="1676400"/>
                </a:xfrm>
                <a:prstGeom prst="rect">
                  <a:avLst/>
                </a:prstGeom>
              </p:spPr>
            </p:pic>
            <p:pic>
              <p:nvPicPr>
                <p:cNvPr id="28" name="Graphic 27" descr="Database with solid fill">
                  <a:extLst>
                    <a:ext uri="{FF2B5EF4-FFF2-40B4-BE49-F238E27FC236}">
                      <a16:creationId xmlns:a16="http://schemas.microsoft.com/office/drawing/2014/main" id="{344698C0-C62B-CC58-3485-B91F6BA87AF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97180" y="4914892"/>
                  <a:ext cx="1676400" cy="1676400"/>
                </a:xfrm>
                <a:prstGeom prst="rect">
                  <a:avLst/>
                </a:prstGeom>
              </p:spPr>
            </p:pic>
            <p:pic>
              <p:nvPicPr>
                <p:cNvPr id="30" name="Graphic 29" descr="Illustrator with solid fill">
                  <a:extLst>
                    <a:ext uri="{FF2B5EF4-FFF2-40B4-BE49-F238E27FC236}">
                      <a16:creationId xmlns:a16="http://schemas.microsoft.com/office/drawing/2014/main" id="{D69136F3-5AFC-11AE-EE01-73E29083DAB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51160" y="4914892"/>
                  <a:ext cx="1676400" cy="1676400"/>
                </a:xfrm>
                <a:prstGeom prst="rect">
                  <a:avLst/>
                </a:prstGeom>
              </p:spPr>
            </p:pic>
            <p:pic>
              <p:nvPicPr>
                <p:cNvPr id="32" name="Graphic 31" descr="Eye Scan with solid fill">
                  <a:extLst>
                    <a:ext uri="{FF2B5EF4-FFF2-40B4-BE49-F238E27FC236}">
                      <a16:creationId xmlns:a16="http://schemas.microsoft.com/office/drawing/2014/main" id="{0B3D6E44-7CBF-F4D0-AB2C-2FF725F0DE3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005139" y="4914892"/>
                  <a:ext cx="1676400" cy="1676400"/>
                </a:xfrm>
                <a:prstGeom prst="rect">
                  <a:avLst/>
                </a:prstGeom>
              </p:spPr>
            </p:pic>
          </p:grpSp>
        </p:grpSp>
        <p:sp>
          <p:nvSpPr>
            <p:cNvPr id="39" name="Arrow: Down 38">
              <a:extLst>
                <a:ext uri="{FF2B5EF4-FFF2-40B4-BE49-F238E27FC236}">
                  <a16:creationId xmlns:a16="http://schemas.microsoft.com/office/drawing/2014/main" id="{69662949-35EA-ADEA-1AC6-C8453352721F}"/>
                </a:ext>
              </a:extLst>
            </p:cNvPr>
            <p:cNvSpPr/>
            <p:nvPr/>
          </p:nvSpPr>
          <p:spPr>
            <a:xfrm>
              <a:off x="3115488"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Down 40">
              <a:extLst>
                <a:ext uri="{FF2B5EF4-FFF2-40B4-BE49-F238E27FC236}">
                  <a16:creationId xmlns:a16="http://schemas.microsoft.com/office/drawing/2014/main" id="{DAEC42D8-8CBA-3EF3-CDD7-B91E4AB6647C}"/>
                </a:ext>
              </a:extLst>
            </p:cNvPr>
            <p:cNvSpPr/>
            <p:nvPr/>
          </p:nvSpPr>
          <p:spPr>
            <a:xfrm>
              <a:off x="5533387"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Arrow: Down 42">
              <a:extLst>
                <a:ext uri="{FF2B5EF4-FFF2-40B4-BE49-F238E27FC236}">
                  <a16:creationId xmlns:a16="http://schemas.microsoft.com/office/drawing/2014/main" id="{FF551D20-65D6-6C7F-3870-599C9BFBE3B2}"/>
                </a:ext>
              </a:extLst>
            </p:cNvPr>
            <p:cNvSpPr/>
            <p:nvPr/>
          </p:nvSpPr>
          <p:spPr>
            <a:xfrm>
              <a:off x="8271508"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Down 44">
              <a:extLst>
                <a:ext uri="{FF2B5EF4-FFF2-40B4-BE49-F238E27FC236}">
                  <a16:creationId xmlns:a16="http://schemas.microsoft.com/office/drawing/2014/main" id="{33121DA0-4DB5-8932-EE01-59BF4AA1923B}"/>
                </a:ext>
              </a:extLst>
            </p:cNvPr>
            <p:cNvSpPr/>
            <p:nvPr/>
          </p:nvSpPr>
          <p:spPr>
            <a:xfrm>
              <a:off x="10640631" y="3875243"/>
              <a:ext cx="397128" cy="838200"/>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7" name="Arrow: Down 46">
            <a:extLst>
              <a:ext uri="{FF2B5EF4-FFF2-40B4-BE49-F238E27FC236}">
                <a16:creationId xmlns:a16="http://schemas.microsoft.com/office/drawing/2014/main" id="{F9AD8698-9615-B014-4CFD-78B3EB393CC6}"/>
              </a:ext>
            </a:extLst>
          </p:cNvPr>
          <p:cNvSpPr/>
          <p:nvPr/>
        </p:nvSpPr>
        <p:spPr>
          <a:xfrm>
            <a:off x="6697536" y="7402302"/>
            <a:ext cx="397128" cy="546592"/>
          </a:xfrm>
          <a:prstGeom prst="downArrow">
            <a:avLst/>
          </a:prstGeom>
          <a:solidFill>
            <a:schemeClr val="bg1"/>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C90CD03C-3714-439C-D401-A836406811A3}"/>
              </a:ext>
            </a:extLst>
          </p:cNvPr>
          <p:cNvSpPr txBox="1"/>
          <p:nvPr/>
        </p:nvSpPr>
        <p:spPr>
          <a:xfrm>
            <a:off x="12792885" y="3922778"/>
            <a:ext cx="3908442" cy="1200329"/>
          </a:xfrm>
          <a:prstGeom prst="rect">
            <a:avLst/>
          </a:prstGeom>
          <a:solidFill>
            <a:schemeClr val="bg1"/>
          </a:solidFill>
          <a:ln w="25400">
            <a:solidFill>
              <a:srgbClr val="333333"/>
            </a:solidFill>
          </a:ln>
        </p:spPr>
        <p:txBody>
          <a:bodyPr wrap="none" rtlCol="0">
            <a:spAutoFit/>
          </a:bodyPr>
          <a:lstStyle/>
          <a:p>
            <a:r>
              <a:rPr lang="en-GB" sz="3600" dirty="0">
                <a:latin typeface="Noto Sans" panose="020B0502040504020204" pitchFamily="34" charset="0"/>
                <a:ea typeface="Noto Sans" panose="020B0502040504020204" pitchFamily="34" charset="0"/>
                <a:cs typeface="Noto Sans" panose="020B0502040504020204" pitchFamily="34" charset="0"/>
              </a:rPr>
              <a:t>digital migration</a:t>
            </a:r>
          </a:p>
          <a:p>
            <a:r>
              <a:rPr lang="en-GB" sz="3600" dirty="0">
                <a:latin typeface="Noto Sans" panose="020B0502040504020204" pitchFamily="34" charset="0"/>
                <a:ea typeface="Noto Sans" panose="020B0502040504020204" pitchFamily="34" charset="0"/>
                <a:cs typeface="Noto Sans" panose="020B0502040504020204" pitchFamily="34" charset="0"/>
              </a:rPr>
              <a:t>infrastructure</a:t>
            </a:r>
          </a:p>
        </p:txBody>
      </p:sp>
      <p:grpSp>
        <p:nvGrpSpPr>
          <p:cNvPr id="2" name="Group 1">
            <a:extLst>
              <a:ext uri="{FF2B5EF4-FFF2-40B4-BE49-F238E27FC236}">
                <a16:creationId xmlns:a16="http://schemas.microsoft.com/office/drawing/2014/main" id="{8C44E063-11B4-BF5C-D489-A48DF1FA916D}"/>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CDBB803A-75C8-2767-B5CF-4938F8EB30E9}"/>
                </a:ext>
              </a:extLst>
            </p:cNvPr>
            <p:cNvGrpSpPr/>
            <p:nvPr/>
          </p:nvGrpSpPr>
          <p:grpSpPr>
            <a:xfrm>
              <a:off x="1028700" y="540000"/>
              <a:ext cx="16230600" cy="613410"/>
              <a:chOff x="0" y="142130"/>
              <a:chExt cx="21640800" cy="1642694"/>
            </a:xfrm>
          </p:grpSpPr>
          <p:sp>
            <p:nvSpPr>
              <p:cNvPr id="12" name="AutoShape 4">
                <a:extLst>
                  <a:ext uri="{FF2B5EF4-FFF2-40B4-BE49-F238E27FC236}">
                    <a16:creationId xmlns:a16="http://schemas.microsoft.com/office/drawing/2014/main" id="{21F35FEF-DF77-7472-6820-E7B45B2BBDB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3" name="TextBox 5">
                <a:extLst>
                  <a:ext uri="{FF2B5EF4-FFF2-40B4-BE49-F238E27FC236}">
                    <a16:creationId xmlns:a16="http://schemas.microsoft.com/office/drawing/2014/main" id="{36CA0D4F-9F4D-3F42-C625-4DFD1A326873}"/>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9">
              <a:extLst>
                <a:ext uri="{FF2B5EF4-FFF2-40B4-BE49-F238E27FC236}">
                  <a16:creationId xmlns:a16="http://schemas.microsoft.com/office/drawing/2014/main" id="{B9D87964-6A5A-0192-93AC-4B85B4E84914}"/>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0" name="TextBox 9">
              <a:extLst>
                <a:ext uri="{FF2B5EF4-FFF2-40B4-BE49-F238E27FC236}">
                  <a16:creationId xmlns:a16="http://schemas.microsoft.com/office/drawing/2014/main" id="{BB74692C-6734-8DFF-96F9-2CDEB46C94ED}"/>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565415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7685-FB88-CA7A-1C00-F3BF495D69F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47129D1E-B616-5AFA-8C55-6B86845DF669}"/>
              </a:ext>
            </a:extLst>
          </p:cNvPr>
          <p:cNvCxnSpPr>
            <a:cxnSpLocks/>
          </p:cNvCxnSpPr>
          <p:nvPr/>
        </p:nvCxnSpPr>
        <p:spPr>
          <a:xfrm>
            <a:off x="9144000" y="1333500"/>
            <a:ext cx="0" cy="3028947"/>
          </a:xfrm>
          <a:prstGeom prst="line">
            <a:avLst/>
          </a:prstGeom>
          <a:ln w="508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B8C01-C868-DAB3-1A48-F3458AB4DECB}"/>
              </a:ext>
            </a:extLst>
          </p:cNvPr>
          <p:cNvCxnSpPr>
            <a:cxnSpLocks/>
          </p:cNvCxnSpPr>
          <p:nvPr/>
        </p:nvCxnSpPr>
        <p:spPr>
          <a:xfrm>
            <a:off x="9144000" y="8724900"/>
            <a:ext cx="0" cy="1371600"/>
          </a:xfrm>
          <a:prstGeom prst="line">
            <a:avLst/>
          </a:prstGeom>
          <a:ln w="508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pic>
        <p:nvPicPr>
          <p:cNvPr id="7" name="Graphic 6" descr="Security camera with solid fill">
            <a:extLst>
              <a:ext uri="{FF2B5EF4-FFF2-40B4-BE49-F238E27FC236}">
                <a16:creationId xmlns:a16="http://schemas.microsoft.com/office/drawing/2014/main" id="{61A16DBC-AA6C-22BE-66E9-57F62AD58A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96067" y="2838447"/>
            <a:ext cx="1790697" cy="1790697"/>
          </a:xfrm>
          <a:prstGeom prst="rect">
            <a:avLst/>
          </a:prstGeom>
        </p:spPr>
      </p:pic>
      <p:pic>
        <p:nvPicPr>
          <p:cNvPr id="14" name="Graphic 13" descr="Earth globe: Americas with solid fill">
            <a:extLst>
              <a:ext uri="{FF2B5EF4-FFF2-40B4-BE49-F238E27FC236}">
                <a16:creationId xmlns:a16="http://schemas.microsoft.com/office/drawing/2014/main" id="{97506639-18B1-D799-7157-64F22F010A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2800" y="4991100"/>
            <a:ext cx="3962400" cy="3962400"/>
          </a:xfrm>
          <a:prstGeom prst="rect">
            <a:avLst/>
          </a:prstGeom>
        </p:spPr>
      </p:pic>
      <p:pic>
        <p:nvPicPr>
          <p:cNvPr id="12" name="Graphic 11" descr="Flag with solid fill">
            <a:extLst>
              <a:ext uri="{FF2B5EF4-FFF2-40B4-BE49-F238E27FC236}">
                <a16:creationId xmlns:a16="http://schemas.microsoft.com/office/drawing/2014/main" id="{AF848E25-85CD-A3CB-06A5-08C796EF79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86800" y="4362447"/>
            <a:ext cx="1981200" cy="1981200"/>
          </a:xfrm>
          <a:prstGeom prst="rect">
            <a:avLst/>
          </a:prstGeom>
        </p:spPr>
      </p:pic>
      <p:pic>
        <p:nvPicPr>
          <p:cNvPr id="16" name="Graphic 15" descr="Security camera with solid fill">
            <a:extLst>
              <a:ext uri="{FF2B5EF4-FFF2-40B4-BE49-F238E27FC236}">
                <a16:creationId xmlns:a16="http://schemas.microsoft.com/office/drawing/2014/main" id="{8B54CC66-A3E3-6484-FE14-43ACAFE1EB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2838447"/>
            <a:ext cx="1790697" cy="1790697"/>
          </a:xfrm>
          <a:prstGeom prst="rect">
            <a:avLst/>
          </a:prstGeom>
          <a:scene3d>
            <a:camera prst="orthographicFront">
              <a:rot lat="0" lon="10800000" rev="0"/>
            </a:camera>
            <a:lightRig rig="threePt" dir="t"/>
          </a:scene3d>
        </p:spPr>
      </p:pic>
      <p:pic>
        <p:nvPicPr>
          <p:cNvPr id="24" name="Graphic 23" descr="Group of people with solid fill">
            <a:extLst>
              <a:ext uri="{FF2B5EF4-FFF2-40B4-BE49-F238E27FC236}">
                <a16:creationId xmlns:a16="http://schemas.microsoft.com/office/drawing/2014/main" id="{76BBBD18-25BE-BB10-2BCD-52FA5CA737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70089" y="4743447"/>
            <a:ext cx="2743200" cy="2743200"/>
          </a:xfrm>
          <a:prstGeom prst="rect">
            <a:avLst/>
          </a:prstGeom>
        </p:spPr>
      </p:pic>
      <p:pic>
        <p:nvPicPr>
          <p:cNvPr id="26" name="Graphic 25" descr="Confused person with solid fill">
            <a:extLst>
              <a:ext uri="{FF2B5EF4-FFF2-40B4-BE49-F238E27FC236}">
                <a16:creationId xmlns:a16="http://schemas.microsoft.com/office/drawing/2014/main" id="{63470E79-E15D-5C3B-F52C-E0480DD5FF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122546" y="5657847"/>
            <a:ext cx="914400" cy="914400"/>
          </a:xfrm>
          <a:prstGeom prst="rect">
            <a:avLst/>
          </a:prstGeom>
        </p:spPr>
      </p:pic>
      <p:sp>
        <p:nvSpPr>
          <p:cNvPr id="27" name="TextBox 26">
            <a:extLst>
              <a:ext uri="{FF2B5EF4-FFF2-40B4-BE49-F238E27FC236}">
                <a16:creationId xmlns:a16="http://schemas.microsoft.com/office/drawing/2014/main" id="{9EA41816-EF74-A1F7-CC28-A30B16E78556}"/>
              </a:ext>
            </a:extLst>
          </p:cNvPr>
          <p:cNvSpPr txBox="1"/>
          <p:nvPr/>
        </p:nvSpPr>
        <p:spPr>
          <a:xfrm>
            <a:off x="3247291" y="1982569"/>
            <a:ext cx="2388795" cy="707886"/>
          </a:xfrm>
          <a:prstGeom prst="rect">
            <a:avLst/>
          </a:prstGeom>
          <a:noFill/>
        </p:spPr>
        <p:txBody>
          <a:bodyPr wrap="none" rtlCol="0">
            <a:spAutoFit/>
          </a:bodyPr>
          <a:lstStyle/>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domestic</a:t>
            </a:r>
          </a:p>
        </p:txBody>
      </p:sp>
      <p:sp>
        <p:nvSpPr>
          <p:cNvPr id="29" name="TextBox 28">
            <a:extLst>
              <a:ext uri="{FF2B5EF4-FFF2-40B4-BE49-F238E27FC236}">
                <a16:creationId xmlns:a16="http://schemas.microsoft.com/office/drawing/2014/main" id="{4AC6A257-040A-68F7-4EFD-B3E52C71A17C}"/>
              </a:ext>
            </a:extLst>
          </p:cNvPr>
          <p:cNvSpPr txBox="1"/>
          <p:nvPr/>
        </p:nvSpPr>
        <p:spPr>
          <a:xfrm>
            <a:off x="12537633" y="1982569"/>
            <a:ext cx="2084225" cy="707886"/>
          </a:xfrm>
          <a:prstGeom prst="rect">
            <a:avLst/>
          </a:prstGeom>
          <a:noFill/>
        </p:spPr>
        <p:txBody>
          <a:bodyPr wrap="none" rtlCol="0">
            <a:spAutoFit/>
          </a:bodyPr>
          <a:lstStyle/>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borders</a:t>
            </a:r>
          </a:p>
        </p:txBody>
      </p:sp>
      <p:sp>
        <p:nvSpPr>
          <p:cNvPr id="6" name="Freeform 10">
            <a:extLst>
              <a:ext uri="{FF2B5EF4-FFF2-40B4-BE49-F238E27FC236}">
                <a16:creationId xmlns:a16="http://schemas.microsoft.com/office/drawing/2014/main" id="{799EE6CF-52E5-8F19-5601-A0413E1B923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2" name="Group 1">
            <a:extLst>
              <a:ext uri="{FF2B5EF4-FFF2-40B4-BE49-F238E27FC236}">
                <a16:creationId xmlns:a16="http://schemas.microsoft.com/office/drawing/2014/main" id="{9FC563DB-B13C-0E32-AD70-011E5308211B}"/>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34889FC3-8B8B-BCFF-92AC-267A1BA37822}"/>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C3B284EF-83BF-C5B9-F1F1-AFF512A26A51}"/>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7" name="TextBox 5">
                <a:extLst>
                  <a:ext uri="{FF2B5EF4-FFF2-40B4-BE49-F238E27FC236}">
                    <a16:creationId xmlns:a16="http://schemas.microsoft.com/office/drawing/2014/main" id="{263FF91D-0396-8FDB-0BBA-623D7531801C}"/>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0" name="TextBox 9">
              <a:extLst>
                <a:ext uri="{FF2B5EF4-FFF2-40B4-BE49-F238E27FC236}">
                  <a16:creationId xmlns:a16="http://schemas.microsoft.com/office/drawing/2014/main" id="{D06623C2-0AC0-50EA-C331-1EDC8E9314E3}"/>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5C26809A-6FC3-12D2-63D5-41A3670A005B}"/>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369354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04912-4CE5-BE47-33F1-C4BA8333CFB6}"/>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4AA6F900-86E6-3C36-C7E9-AD19AA799B96}"/>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4DF56BB6-6B44-D5FE-B057-FE9129808A23}"/>
              </a:ext>
            </a:extLst>
          </p:cNvPr>
          <p:cNvSpPr txBox="1"/>
          <p:nvPr/>
        </p:nvSpPr>
        <p:spPr>
          <a:xfrm>
            <a:off x="1028700" y="1485900"/>
            <a:ext cx="4333879" cy="1015663"/>
          </a:xfrm>
          <a:prstGeom prst="rect">
            <a:avLst/>
          </a:prstGeom>
          <a:noFill/>
        </p:spPr>
        <p:txBody>
          <a:bodyPr wrap="none" rtlCol="0">
            <a:spAutoFit/>
          </a:bodyPr>
          <a:lstStyle/>
          <a:p>
            <a:r>
              <a:rPr lang="en-GB" sz="6000" i="1" dirty="0"/>
              <a:t>dataveillance</a:t>
            </a:r>
          </a:p>
        </p:txBody>
      </p:sp>
      <p:sp>
        <p:nvSpPr>
          <p:cNvPr id="12" name="TextBox 11">
            <a:extLst>
              <a:ext uri="{FF2B5EF4-FFF2-40B4-BE49-F238E27FC236}">
                <a16:creationId xmlns:a16="http://schemas.microsoft.com/office/drawing/2014/main" id="{907B64DC-278D-4C3C-7B99-AF81D03B666D}"/>
              </a:ext>
            </a:extLst>
          </p:cNvPr>
          <p:cNvSpPr txBox="1"/>
          <p:nvPr/>
        </p:nvSpPr>
        <p:spPr>
          <a:xfrm>
            <a:off x="6400800" y="1585978"/>
            <a:ext cx="9829800" cy="3170099"/>
          </a:xfrm>
          <a:prstGeom prst="rect">
            <a:avLst/>
          </a:prstGeom>
          <a:noFill/>
        </p:spPr>
        <p:txBody>
          <a:bodyPr wrap="square" rtlCol="0">
            <a:spAutoFit/>
          </a:bodyPr>
          <a:lstStyle/>
          <a:p>
            <a:r>
              <a:rPr lang="en-GB" sz="4000" dirty="0">
                <a:latin typeface="Noto Sans" panose="020B0502040504020204" pitchFamily="34" charset="0"/>
                <a:ea typeface="Noto Sans" panose="020B0502040504020204" pitchFamily="34" charset="0"/>
                <a:cs typeface="Noto Sans" panose="020B0502040504020204" pitchFamily="34" charset="0"/>
              </a:rPr>
              <a:t>‘the systematic use of personal data systems in the investigation or monitoring of the actions or communications of one or more persons’ (Clarke 1988)</a:t>
            </a:r>
          </a:p>
        </p:txBody>
      </p:sp>
      <p:grpSp>
        <p:nvGrpSpPr>
          <p:cNvPr id="2" name="Group 1">
            <a:extLst>
              <a:ext uri="{FF2B5EF4-FFF2-40B4-BE49-F238E27FC236}">
                <a16:creationId xmlns:a16="http://schemas.microsoft.com/office/drawing/2014/main" id="{C3751EDD-188A-B2BE-4B7D-B43AA7DE60B0}"/>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EEA485EB-AEC7-CB15-F5A2-C031C0FB4E2F}"/>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16A9D19E-1217-FB68-0BB7-A95C1AF91C2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53845D97-C514-91C6-46B6-A17ADDD38978}"/>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04B3BB9D-C5F1-BEA4-88F4-F5A96194A66F}"/>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C6319988-6E1B-0C10-3068-3F319129EEB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896267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2F347-11AB-CD52-FE60-17F40B5ABD88}"/>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50338772-C3C3-511E-7AEE-290F11AF9F86}"/>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414E36CC-6CEC-AF9B-9DF5-D11207DA4ABB}"/>
              </a:ext>
            </a:extLst>
          </p:cNvPr>
          <p:cNvSpPr txBox="1"/>
          <p:nvPr/>
        </p:nvSpPr>
        <p:spPr>
          <a:xfrm>
            <a:off x="1028700" y="1485900"/>
            <a:ext cx="4333879" cy="1015663"/>
          </a:xfrm>
          <a:prstGeom prst="rect">
            <a:avLst/>
          </a:prstGeom>
          <a:noFill/>
        </p:spPr>
        <p:txBody>
          <a:bodyPr wrap="none" rtlCol="0">
            <a:spAutoFit/>
          </a:bodyPr>
          <a:lstStyle/>
          <a:p>
            <a:r>
              <a:rPr lang="en-GB" sz="6000" i="1" dirty="0"/>
              <a:t>dataveillance</a:t>
            </a:r>
          </a:p>
        </p:txBody>
      </p:sp>
      <p:sp>
        <p:nvSpPr>
          <p:cNvPr id="8" name="TextBox 7">
            <a:extLst>
              <a:ext uri="{FF2B5EF4-FFF2-40B4-BE49-F238E27FC236}">
                <a16:creationId xmlns:a16="http://schemas.microsoft.com/office/drawing/2014/main" id="{65DD331B-1258-D5B4-66F4-9D07C35DCC5F}"/>
              </a:ext>
            </a:extLst>
          </p:cNvPr>
          <p:cNvSpPr txBox="1"/>
          <p:nvPr/>
        </p:nvSpPr>
        <p:spPr>
          <a:xfrm>
            <a:off x="1028699" y="5524500"/>
            <a:ext cx="3966792" cy="1015663"/>
          </a:xfrm>
          <a:prstGeom prst="rect">
            <a:avLst/>
          </a:prstGeom>
          <a:noFill/>
        </p:spPr>
        <p:txBody>
          <a:bodyPr wrap="none" rtlCol="0">
            <a:spAutoFit/>
          </a:bodyPr>
          <a:lstStyle/>
          <a:p>
            <a:r>
              <a:rPr lang="en-GB" sz="6000" i="1" dirty="0"/>
              <a:t>datafication</a:t>
            </a:r>
          </a:p>
        </p:txBody>
      </p:sp>
      <p:sp>
        <p:nvSpPr>
          <p:cNvPr id="12" name="TextBox 11">
            <a:extLst>
              <a:ext uri="{FF2B5EF4-FFF2-40B4-BE49-F238E27FC236}">
                <a16:creationId xmlns:a16="http://schemas.microsoft.com/office/drawing/2014/main" id="{D10B49C1-6D10-AAF4-199B-2B8137CAD991}"/>
              </a:ext>
            </a:extLst>
          </p:cNvPr>
          <p:cNvSpPr txBox="1"/>
          <p:nvPr/>
        </p:nvSpPr>
        <p:spPr>
          <a:xfrm>
            <a:off x="6400800" y="1585978"/>
            <a:ext cx="9829800" cy="3170099"/>
          </a:xfrm>
          <a:prstGeom prst="rect">
            <a:avLst/>
          </a:prstGeom>
          <a:noFill/>
        </p:spPr>
        <p:txBody>
          <a:bodyPr wrap="square" rtlCol="0">
            <a:spAutoFit/>
          </a:bodyPr>
          <a:lstStyle/>
          <a:p>
            <a:r>
              <a:rPr lang="en-GB" sz="4000" dirty="0">
                <a:latin typeface="Noto Sans" panose="020B0502040504020204" pitchFamily="34" charset="0"/>
                <a:ea typeface="Noto Sans" panose="020B0502040504020204" pitchFamily="34" charset="0"/>
                <a:cs typeface="Noto Sans" panose="020B0502040504020204" pitchFamily="34" charset="0"/>
              </a:rPr>
              <a:t>‘the systematic use of personal data systems in the investigation or monitoring of the actions or communications of one or more persons’ (Clarke 1988)</a:t>
            </a:r>
          </a:p>
        </p:txBody>
      </p:sp>
      <p:sp>
        <p:nvSpPr>
          <p:cNvPr id="14" name="TextBox 13">
            <a:extLst>
              <a:ext uri="{FF2B5EF4-FFF2-40B4-BE49-F238E27FC236}">
                <a16:creationId xmlns:a16="http://schemas.microsoft.com/office/drawing/2014/main" id="{C9055972-580B-A16B-6C7A-9F704CB05BBC}"/>
              </a:ext>
            </a:extLst>
          </p:cNvPr>
          <p:cNvSpPr txBox="1"/>
          <p:nvPr/>
        </p:nvSpPr>
        <p:spPr>
          <a:xfrm>
            <a:off x="6400799" y="5687826"/>
            <a:ext cx="9144001" cy="1938992"/>
          </a:xfrm>
          <a:prstGeom prst="rect">
            <a:avLst/>
          </a:prstGeom>
          <a:solidFill>
            <a:schemeClr val="bg1">
              <a:alpha val="80000"/>
            </a:schemeClr>
          </a:solidFill>
        </p:spPr>
        <p:txBody>
          <a:bodyPr wrap="square">
            <a:spAutoFit/>
          </a:bodyPr>
          <a:lstStyle/>
          <a:p>
            <a:r>
              <a:rPr lang="en-GB" sz="4000" dirty="0">
                <a:latin typeface="Noto Sans" panose="020B0502040504020204" pitchFamily="34" charset="0"/>
                <a:ea typeface="Noto Sans" panose="020B0502040504020204" pitchFamily="34" charset="0"/>
                <a:cs typeface="Noto Sans" panose="020B0502040504020204" pitchFamily="34" charset="0"/>
              </a:rPr>
              <a:t>representation of (often social role-based) aspects of persons as data for administrative and political purposes</a:t>
            </a:r>
          </a:p>
        </p:txBody>
      </p:sp>
      <p:grpSp>
        <p:nvGrpSpPr>
          <p:cNvPr id="2" name="Group 1">
            <a:extLst>
              <a:ext uri="{FF2B5EF4-FFF2-40B4-BE49-F238E27FC236}">
                <a16:creationId xmlns:a16="http://schemas.microsoft.com/office/drawing/2014/main" id="{3A7FB69F-9A00-6B63-757E-0CC7B1A95587}"/>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3866C6C1-F3C3-9A18-F1E7-66EFE6144F1F}"/>
                </a:ext>
              </a:extLst>
            </p:cNvPr>
            <p:cNvGrpSpPr/>
            <p:nvPr/>
          </p:nvGrpSpPr>
          <p:grpSpPr>
            <a:xfrm>
              <a:off x="1028700" y="540000"/>
              <a:ext cx="16230600" cy="613410"/>
              <a:chOff x="0" y="142130"/>
              <a:chExt cx="21640800" cy="1642694"/>
            </a:xfrm>
          </p:grpSpPr>
          <p:sp>
            <p:nvSpPr>
              <p:cNvPr id="16" name="AutoShape 4">
                <a:extLst>
                  <a:ext uri="{FF2B5EF4-FFF2-40B4-BE49-F238E27FC236}">
                    <a16:creationId xmlns:a16="http://schemas.microsoft.com/office/drawing/2014/main" id="{ACBADC8D-AD19-9C6D-F5E0-888E4F9C3618}"/>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7" name="TextBox 5">
                <a:extLst>
                  <a:ext uri="{FF2B5EF4-FFF2-40B4-BE49-F238E27FC236}">
                    <a16:creationId xmlns:a16="http://schemas.microsoft.com/office/drawing/2014/main" id="{B11A0525-E97E-51B2-66DB-3287E8457DB6}"/>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9">
              <a:extLst>
                <a:ext uri="{FF2B5EF4-FFF2-40B4-BE49-F238E27FC236}">
                  <a16:creationId xmlns:a16="http://schemas.microsoft.com/office/drawing/2014/main" id="{8875CC02-E951-98FC-9E70-9164BB409554}"/>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5" name="TextBox 14">
              <a:extLst>
                <a:ext uri="{FF2B5EF4-FFF2-40B4-BE49-F238E27FC236}">
                  <a16:creationId xmlns:a16="http://schemas.microsoft.com/office/drawing/2014/main" id="{0A69D483-72E1-59E1-40E6-F519CD9A3FC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latin typeface="Noto Sans Bold" panose="020B0802040504020204" charset="0"/>
                  <a:ea typeface="Noto Sans Bold" panose="020B0802040504020204" charset="0"/>
                  <a:cs typeface="Noto Sans Bold" panose="020B0802040504020204" charset="0"/>
                </a:rPr>
                <a:t>9</a:t>
              </a:fld>
              <a:endParaRPr lang="en-GB" sz="2200" dirty="0">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518457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9509B-E4E5-D95A-B6DA-01C88DBADFC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EC24B59-7B96-9078-BF54-94C5C6638D6E}"/>
              </a:ext>
            </a:extLst>
          </p:cNvPr>
          <p:cNvSpPr txBox="1"/>
          <p:nvPr/>
        </p:nvSpPr>
        <p:spPr>
          <a:xfrm>
            <a:off x="1028700" y="1944000"/>
            <a:ext cx="16213111" cy="2462213"/>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Thinking About</a:t>
            </a:r>
            <a:br>
              <a:rPr lang="en-US" sz="8000" dirty="0">
                <a:solidFill>
                  <a:srgbClr val="333333"/>
                </a:solidFill>
                <a:latin typeface="Noto Serif"/>
                <a:ea typeface="Noto Serif"/>
                <a:cs typeface="Noto Serif"/>
                <a:sym typeface="Noto Serif"/>
              </a:rPr>
            </a:br>
            <a:r>
              <a:rPr lang="en-US" sz="8000" dirty="0">
                <a:solidFill>
                  <a:srgbClr val="333333"/>
                </a:solidFill>
                <a:latin typeface="Noto Serif"/>
                <a:ea typeface="Noto Serif"/>
                <a:cs typeface="Noto Serif"/>
                <a:sym typeface="Noto Serif"/>
              </a:rPr>
              <a:t>Infrastructure</a:t>
            </a:r>
          </a:p>
        </p:txBody>
      </p:sp>
      <p:sp>
        <p:nvSpPr>
          <p:cNvPr id="10" name="Freeform 10">
            <a:extLst>
              <a:ext uri="{FF2B5EF4-FFF2-40B4-BE49-F238E27FC236}">
                <a16:creationId xmlns:a16="http://schemas.microsoft.com/office/drawing/2014/main" id="{4E62DABC-A75D-4605-963B-1116CBCA676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6" name="Group 5">
            <a:extLst>
              <a:ext uri="{FF2B5EF4-FFF2-40B4-BE49-F238E27FC236}">
                <a16:creationId xmlns:a16="http://schemas.microsoft.com/office/drawing/2014/main" id="{ED930AB5-0B37-D7A3-4F62-A8382019535B}"/>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BEC6CB29-6C17-3431-754A-8A41DC393FEA}"/>
                </a:ext>
              </a:extLst>
            </p:cNvPr>
            <p:cNvGrpSpPr/>
            <p:nvPr/>
          </p:nvGrpSpPr>
          <p:grpSpPr>
            <a:xfrm>
              <a:off x="1028700" y="540000"/>
              <a:ext cx="16230600" cy="613410"/>
              <a:chOff x="0" y="142130"/>
              <a:chExt cx="21640800" cy="1642694"/>
            </a:xfrm>
          </p:grpSpPr>
          <p:sp>
            <p:nvSpPr>
              <p:cNvPr id="13" name="AutoShape 4">
                <a:extLst>
                  <a:ext uri="{FF2B5EF4-FFF2-40B4-BE49-F238E27FC236}">
                    <a16:creationId xmlns:a16="http://schemas.microsoft.com/office/drawing/2014/main" id="{0B2512AE-AF63-A9B0-B0ED-B5FB7054941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4" name="TextBox 5">
                <a:extLst>
                  <a:ext uri="{FF2B5EF4-FFF2-40B4-BE49-F238E27FC236}">
                    <a16:creationId xmlns:a16="http://schemas.microsoft.com/office/drawing/2014/main" id="{776126CB-DCD9-4EBE-52BF-1BA6C795E1E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2DA229D3-F0E6-8F4A-BA00-91AC8907BAE8}"/>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EEF3339D-3EC5-83F6-4C1D-5B9E669F6FED}"/>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331465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E251B-6645-D287-DE6D-FC451DBF8925}"/>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614B44A6-19D4-485A-755E-DCE6CF734C1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24" name="Rectangle 23">
            <a:extLst>
              <a:ext uri="{FF2B5EF4-FFF2-40B4-BE49-F238E27FC236}">
                <a16:creationId xmlns:a16="http://schemas.microsoft.com/office/drawing/2014/main" id="{76A0DE6B-E619-2C54-6504-43F75DE49E36}"/>
              </a:ext>
            </a:extLst>
          </p:cNvPr>
          <p:cNvSpPr/>
          <p:nvPr/>
        </p:nvSpPr>
        <p:spPr>
          <a:xfrm>
            <a:off x="8139872" y="4152900"/>
            <a:ext cx="2008255" cy="1981200"/>
          </a:xfrm>
          <a:prstGeom prst="rect">
            <a:avLst/>
          </a:prstGeom>
          <a:blipFill>
            <a:blip r:embed="rId4"/>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 name="Group 1">
            <a:extLst>
              <a:ext uri="{FF2B5EF4-FFF2-40B4-BE49-F238E27FC236}">
                <a16:creationId xmlns:a16="http://schemas.microsoft.com/office/drawing/2014/main" id="{279B9946-108F-24F5-C9A9-DC5B9E38EF73}"/>
              </a:ext>
            </a:extLst>
          </p:cNvPr>
          <p:cNvGrpSpPr/>
          <p:nvPr/>
        </p:nvGrpSpPr>
        <p:grpSpPr>
          <a:xfrm>
            <a:off x="990600" y="540000"/>
            <a:ext cx="16268700" cy="613410"/>
            <a:chOff x="990600" y="540000"/>
            <a:chExt cx="16268700" cy="613410"/>
          </a:xfrm>
        </p:grpSpPr>
        <p:grpSp>
          <p:nvGrpSpPr>
            <p:cNvPr id="6" name="Group 3">
              <a:extLst>
                <a:ext uri="{FF2B5EF4-FFF2-40B4-BE49-F238E27FC236}">
                  <a16:creationId xmlns:a16="http://schemas.microsoft.com/office/drawing/2014/main" id="{E5A311F1-2928-0636-C21F-1D3ACBF3348C}"/>
                </a:ext>
              </a:extLst>
            </p:cNvPr>
            <p:cNvGrpSpPr/>
            <p:nvPr/>
          </p:nvGrpSpPr>
          <p:grpSpPr>
            <a:xfrm>
              <a:off x="1028700" y="540000"/>
              <a:ext cx="16230600" cy="613410"/>
              <a:chOff x="0" y="142130"/>
              <a:chExt cx="21640800" cy="1642694"/>
            </a:xfrm>
          </p:grpSpPr>
          <p:sp>
            <p:nvSpPr>
              <p:cNvPr id="12" name="AutoShape 4">
                <a:extLst>
                  <a:ext uri="{FF2B5EF4-FFF2-40B4-BE49-F238E27FC236}">
                    <a16:creationId xmlns:a16="http://schemas.microsoft.com/office/drawing/2014/main" id="{2476D71A-8834-D421-C67F-3712B971F64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3" name="TextBox 5">
                <a:extLst>
                  <a:ext uri="{FF2B5EF4-FFF2-40B4-BE49-F238E27FC236}">
                    <a16:creationId xmlns:a16="http://schemas.microsoft.com/office/drawing/2014/main" id="{FFE38126-045B-4E29-DC4D-6ABD1C6B0238}"/>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7" name="TextBox 6">
              <a:extLst>
                <a:ext uri="{FF2B5EF4-FFF2-40B4-BE49-F238E27FC236}">
                  <a16:creationId xmlns:a16="http://schemas.microsoft.com/office/drawing/2014/main" id="{1EF73480-329F-D26E-7611-2BC0348DD82D}"/>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8" name="TextBox 7">
              <a:extLst>
                <a:ext uri="{FF2B5EF4-FFF2-40B4-BE49-F238E27FC236}">
                  <a16:creationId xmlns:a16="http://schemas.microsoft.com/office/drawing/2014/main" id="{302B1CCB-582F-A5A9-72C9-A9668C85A804}"/>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168341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0CF3C-A88F-01CF-1342-9957CFBBD31D}"/>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6ED34CBE-77D7-370B-8977-9D3D3ED4350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13" name="Graphic 12" descr="Cell Tower with solid fill">
            <a:extLst>
              <a:ext uri="{FF2B5EF4-FFF2-40B4-BE49-F238E27FC236}">
                <a16:creationId xmlns:a16="http://schemas.microsoft.com/office/drawing/2014/main" id="{C36599DC-5F7B-F580-4B55-9C001E9092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20600" y="2435671"/>
            <a:ext cx="1008000" cy="1008000"/>
          </a:xfrm>
          <a:prstGeom prst="rect">
            <a:avLst/>
          </a:prstGeom>
        </p:spPr>
      </p:pic>
      <p:grpSp>
        <p:nvGrpSpPr>
          <p:cNvPr id="2" name="Group 1">
            <a:extLst>
              <a:ext uri="{FF2B5EF4-FFF2-40B4-BE49-F238E27FC236}">
                <a16:creationId xmlns:a16="http://schemas.microsoft.com/office/drawing/2014/main" id="{33D10282-C583-6F99-957C-31E38F0C8D50}"/>
              </a:ext>
            </a:extLst>
          </p:cNvPr>
          <p:cNvGrpSpPr/>
          <p:nvPr/>
        </p:nvGrpSpPr>
        <p:grpSpPr>
          <a:xfrm>
            <a:off x="3048000" y="1599939"/>
            <a:ext cx="9912600" cy="7908590"/>
            <a:chOff x="3048000" y="1599939"/>
            <a:chExt cx="9912600" cy="7908590"/>
          </a:xfrm>
        </p:grpSpPr>
        <p:sp>
          <p:nvSpPr>
            <p:cNvPr id="24" name="Rectangle 23">
              <a:extLst>
                <a:ext uri="{FF2B5EF4-FFF2-40B4-BE49-F238E27FC236}">
                  <a16:creationId xmlns:a16="http://schemas.microsoft.com/office/drawing/2014/main" id="{EC419085-4BBD-D3F4-D6B2-340FDB8A4E34}"/>
                </a:ext>
              </a:extLst>
            </p:cNvPr>
            <p:cNvSpPr/>
            <p:nvPr/>
          </p:nvSpPr>
          <p:spPr>
            <a:xfrm>
              <a:off x="8154385" y="4152900"/>
              <a:ext cx="2008255" cy="1981200"/>
            </a:xfrm>
            <a:prstGeom prst="rect">
              <a:avLst/>
            </a:prstGeom>
            <a:blipFill>
              <a:blip r:embed="rId5"/>
              <a:srcRect/>
              <a:stretch>
                <a:fillRect l="-32802" r="-15358"/>
              </a:stretch>
            </a:blip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descr="Gantt Chart with solid fill">
              <a:extLst>
                <a:ext uri="{FF2B5EF4-FFF2-40B4-BE49-F238E27FC236}">
                  <a16:creationId xmlns:a16="http://schemas.microsoft.com/office/drawing/2014/main" id="{B090D764-9260-CD71-FAE7-37EA7C9335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16311" y="3854071"/>
              <a:ext cx="1080000" cy="1080000"/>
            </a:xfrm>
            <a:prstGeom prst="rect">
              <a:avLst/>
            </a:prstGeom>
          </p:spPr>
        </p:pic>
        <p:pic>
          <p:nvPicPr>
            <p:cNvPr id="8" name="Graphic 7" descr="Ui Ux with solid fill">
              <a:extLst>
                <a:ext uri="{FF2B5EF4-FFF2-40B4-BE49-F238E27FC236}">
                  <a16:creationId xmlns:a16="http://schemas.microsoft.com/office/drawing/2014/main" id="{71494D30-585F-8196-5D08-603DB2417F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82000" y="1599939"/>
              <a:ext cx="1296000" cy="1296000"/>
            </a:xfrm>
            <a:prstGeom prst="rect">
              <a:avLst/>
            </a:prstGeom>
          </p:spPr>
        </p:pic>
        <p:pic>
          <p:nvPicPr>
            <p:cNvPr id="15" name="Graphic 14" descr="Processor with solid fill">
              <a:extLst>
                <a:ext uri="{FF2B5EF4-FFF2-40B4-BE49-F238E27FC236}">
                  <a16:creationId xmlns:a16="http://schemas.microsoft.com/office/drawing/2014/main" id="{1D0A731E-14E2-93ED-49F1-BF77D307DF5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880600" y="5594100"/>
              <a:ext cx="1080000" cy="1080000"/>
            </a:xfrm>
            <a:prstGeom prst="rect">
              <a:avLst/>
            </a:prstGeom>
          </p:spPr>
        </p:pic>
        <p:pic>
          <p:nvPicPr>
            <p:cNvPr id="17" name="Graphic 16" descr="Binary with solid fill">
              <a:extLst>
                <a:ext uri="{FF2B5EF4-FFF2-40B4-BE49-F238E27FC236}">
                  <a16:creationId xmlns:a16="http://schemas.microsoft.com/office/drawing/2014/main" id="{F2ADEE4B-B6BC-AD97-7290-EB02E55A15C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95904" y="8284529"/>
              <a:ext cx="1224000" cy="1224000"/>
            </a:xfrm>
            <a:prstGeom prst="rect">
              <a:avLst/>
            </a:prstGeom>
          </p:spPr>
        </p:pic>
        <p:pic>
          <p:nvPicPr>
            <p:cNvPr id="19" name="Graphic 18" descr="Programmer male with solid fill">
              <a:extLst>
                <a:ext uri="{FF2B5EF4-FFF2-40B4-BE49-F238E27FC236}">
                  <a16:creationId xmlns:a16="http://schemas.microsoft.com/office/drawing/2014/main" id="{EC0838F3-FCA6-559E-8F19-B3C0A3094D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60384" y="8327655"/>
              <a:ext cx="1044000" cy="1044000"/>
            </a:xfrm>
            <a:prstGeom prst="rect">
              <a:avLst/>
            </a:prstGeom>
          </p:spPr>
        </p:pic>
        <p:pic>
          <p:nvPicPr>
            <p:cNvPr id="21" name="Graphic 20" descr="Security camera with solid fill">
              <a:extLst>
                <a:ext uri="{FF2B5EF4-FFF2-40B4-BE49-F238E27FC236}">
                  <a16:creationId xmlns:a16="http://schemas.microsoft.com/office/drawing/2014/main" id="{12EF4BBD-21B3-A40A-09D0-C474E3DCDE8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048000" y="6134100"/>
              <a:ext cx="1440000" cy="1440000"/>
            </a:xfrm>
            <a:prstGeom prst="rect">
              <a:avLst/>
            </a:prstGeom>
          </p:spPr>
        </p:pic>
        <p:pic>
          <p:nvPicPr>
            <p:cNvPr id="7" name="Graphic 6" descr="Internet Of Things with solid fill">
              <a:extLst>
                <a:ext uri="{FF2B5EF4-FFF2-40B4-BE49-F238E27FC236}">
                  <a16:creationId xmlns:a16="http://schemas.microsoft.com/office/drawing/2014/main" id="{FB17072F-A082-A645-B545-37D43A0C561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662771" y="2025271"/>
              <a:ext cx="914400" cy="914400"/>
            </a:xfrm>
            <a:prstGeom prst="rect">
              <a:avLst/>
            </a:prstGeom>
          </p:spPr>
        </p:pic>
        <p:cxnSp>
          <p:nvCxnSpPr>
            <p:cNvPr id="14" name="Straight Arrow Connector 13">
              <a:extLst>
                <a:ext uri="{FF2B5EF4-FFF2-40B4-BE49-F238E27FC236}">
                  <a16:creationId xmlns:a16="http://schemas.microsoft.com/office/drawing/2014/main" id="{5CF9D78F-35C0-5BFC-8C49-5694DCC70F10}"/>
                </a:ext>
              </a:extLst>
            </p:cNvPr>
            <p:cNvCxnSpPr>
              <a:cxnSpLocks/>
            </p:cNvCxnSpPr>
            <p:nvPr/>
          </p:nvCxnSpPr>
          <p:spPr>
            <a:xfrm flipH="1" flipV="1">
              <a:off x="5595120" y="2873521"/>
              <a:ext cx="2463278" cy="1252004"/>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B973565-1DCD-6784-BBCF-7F0E4F1ECC93}"/>
                </a:ext>
              </a:extLst>
            </p:cNvPr>
            <p:cNvCxnSpPr>
              <a:cxnSpLocks/>
            </p:cNvCxnSpPr>
            <p:nvPr/>
          </p:nvCxnSpPr>
          <p:spPr>
            <a:xfrm flipH="1" flipV="1">
              <a:off x="4796311" y="4424354"/>
              <a:ext cx="3171054" cy="678029"/>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443CB16-A208-91A4-7AF6-A323E5DE9616}"/>
                </a:ext>
              </a:extLst>
            </p:cNvPr>
            <p:cNvCxnSpPr>
              <a:cxnSpLocks/>
            </p:cNvCxnSpPr>
            <p:nvPr/>
          </p:nvCxnSpPr>
          <p:spPr>
            <a:xfrm flipH="1" flipV="1">
              <a:off x="9085773" y="2843438"/>
              <a:ext cx="58227" cy="1173397"/>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84BF650-586E-0811-A181-E8762C41F47F}"/>
                </a:ext>
              </a:extLst>
            </p:cNvPr>
            <p:cNvCxnSpPr>
              <a:cxnSpLocks/>
            </p:cNvCxnSpPr>
            <p:nvPr/>
          </p:nvCxnSpPr>
          <p:spPr>
            <a:xfrm flipV="1">
              <a:off x="10295924" y="3443671"/>
              <a:ext cx="2124676" cy="681854"/>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E8F4C1C-6E00-0ED4-6C49-546E935612C4}"/>
                </a:ext>
              </a:extLst>
            </p:cNvPr>
            <p:cNvCxnSpPr>
              <a:cxnSpLocks/>
            </p:cNvCxnSpPr>
            <p:nvPr/>
          </p:nvCxnSpPr>
          <p:spPr>
            <a:xfrm flipH="1">
              <a:off x="7356179" y="6270165"/>
              <a:ext cx="1265725" cy="2103161"/>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D827D68C-2A42-79C7-08BA-F398CD819114}"/>
                </a:ext>
              </a:extLst>
            </p:cNvPr>
            <p:cNvCxnSpPr>
              <a:cxnSpLocks/>
            </p:cNvCxnSpPr>
            <p:nvPr/>
          </p:nvCxnSpPr>
          <p:spPr>
            <a:xfrm>
              <a:off x="4488000" y="7048500"/>
              <a:ext cx="1982468" cy="1713622"/>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48F9863F-2EF6-B5CC-B4E9-DFE943C52445}"/>
                </a:ext>
              </a:extLst>
            </p:cNvPr>
            <p:cNvCxnSpPr>
              <a:cxnSpLocks/>
            </p:cNvCxnSpPr>
            <p:nvPr/>
          </p:nvCxnSpPr>
          <p:spPr>
            <a:xfrm>
              <a:off x="4506566" y="4931235"/>
              <a:ext cx="2255434" cy="3442091"/>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F63D6211-20EF-5353-566F-FACAEF5C97E9}"/>
                </a:ext>
              </a:extLst>
            </p:cNvPr>
            <p:cNvCxnSpPr>
              <a:cxnSpLocks/>
            </p:cNvCxnSpPr>
            <p:nvPr/>
          </p:nvCxnSpPr>
          <p:spPr>
            <a:xfrm flipH="1" flipV="1">
              <a:off x="9678000" y="2206644"/>
              <a:ext cx="2818800" cy="849367"/>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8CEE5992-6943-E98D-D96B-6F7A7EC4AB93}"/>
                </a:ext>
              </a:extLst>
            </p:cNvPr>
            <p:cNvCxnSpPr>
              <a:cxnSpLocks/>
            </p:cNvCxnSpPr>
            <p:nvPr/>
          </p:nvCxnSpPr>
          <p:spPr>
            <a:xfrm flipH="1">
              <a:off x="12496800" y="3526433"/>
              <a:ext cx="427800" cy="1921867"/>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82BF11E4-D0B1-62F4-1F29-59E09B90244F}"/>
                </a:ext>
              </a:extLst>
            </p:cNvPr>
            <p:cNvCxnSpPr>
              <a:cxnSpLocks/>
            </p:cNvCxnSpPr>
            <p:nvPr/>
          </p:nvCxnSpPr>
          <p:spPr>
            <a:xfrm flipV="1">
              <a:off x="5687885" y="2206644"/>
              <a:ext cx="2588998" cy="226146"/>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8D8F5EB7-AD93-06CE-8DFF-C95E88438D6C}"/>
                </a:ext>
              </a:extLst>
            </p:cNvPr>
            <p:cNvCxnSpPr>
              <a:cxnSpLocks/>
            </p:cNvCxnSpPr>
            <p:nvPr/>
          </p:nvCxnSpPr>
          <p:spPr>
            <a:xfrm flipH="1" flipV="1">
              <a:off x="10237697" y="5288744"/>
              <a:ext cx="1642903" cy="769156"/>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63054E1D-BD24-057B-B035-4265C7AA4FB9}"/>
                </a:ext>
              </a:extLst>
            </p:cNvPr>
            <p:cNvCxnSpPr>
              <a:cxnSpLocks/>
            </p:cNvCxnSpPr>
            <p:nvPr/>
          </p:nvCxnSpPr>
          <p:spPr>
            <a:xfrm flipV="1">
              <a:off x="7522527" y="8801100"/>
              <a:ext cx="3337091" cy="138658"/>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82A600FB-A597-DA9B-184B-D26367020287}"/>
                </a:ext>
              </a:extLst>
            </p:cNvPr>
            <p:cNvCxnSpPr>
              <a:cxnSpLocks/>
            </p:cNvCxnSpPr>
            <p:nvPr/>
          </p:nvCxnSpPr>
          <p:spPr>
            <a:xfrm flipV="1">
              <a:off x="11658600" y="6674100"/>
              <a:ext cx="609600" cy="1574429"/>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3C734473-AADB-8890-D7C8-C0FECA90E5AE}"/>
                </a:ext>
              </a:extLst>
            </p:cNvPr>
            <p:cNvCxnSpPr>
              <a:cxnSpLocks/>
            </p:cNvCxnSpPr>
            <p:nvPr/>
          </p:nvCxnSpPr>
          <p:spPr>
            <a:xfrm flipH="1">
              <a:off x="4306513" y="3003073"/>
              <a:ext cx="489798" cy="1013762"/>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A52A52B6-3AA0-F7E0-5C17-44F1AD1CA47E}"/>
                </a:ext>
              </a:extLst>
            </p:cNvPr>
            <p:cNvCxnSpPr>
              <a:cxnSpLocks/>
            </p:cNvCxnSpPr>
            <p:nvPr/>
          </p:nvCxnSpPr>
          <p:spPr>
            <a:xfrm flipV="1">
              <a:off x="3787026" y="4946078"/>
              <a:ext cx="287847" cy="1370288"/>
            </a:xfrm>
            <a:prstGeom prst="straightConnector1">
              <a:avLst/>
            </a:prstGeom>
            <a:ln w="25400">
              <a:solidFill>
                <a:srgbClr val="333333"/>
              </a:solidFill>
              <a:tailEnd type="triangle"/>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28EA76E8-6557-9794-1579-36C6672341D3}"/>
              </a:ext>
            </a:extLst>
          </p:cNvPr>
          <p:cNvGrpSpPr/>
          <p:nvPr/>
        </p:nvGrpSpPr>
        <p:grpSpPr>
          <a:xfrm>
            <a:off x="990600" y="540000"/>
            <a:ext cx="16268700" cy="613410"/>
            <a:chOff x="990600" y="540000"/>
            <a:chExt cx="16268700" cy="613410"/>
          </a:xfrm>
        </p:grpSpPr>
        <p:grpSp>
          <p:nvGrpSpPr>
            <p:cNvPr id="16" name="Group 3">
              <a:extLst>
                <a:ext uri="{FF2B5EF4-FFF2-40B4-BE49-F238E27FC236}">
                  <a16:creationId xmlns:a16="http://schemas.microsoft.com/office/drawing/2014/main" id="{509737AF-57EE-1F55-73CC-EFD817B38D36}"/>
                </a:ext>
              </a:extLst>
            </p:cNvPr>
            <p:cNvGrpSpPr/>
            <p:nvPr/>
          </p:nvGrpSpPr>
          <p:grpSpPr>
            <a:xfrm>
              <a:off x="1028700" y="540000"/>
              <a:ext cx="16230600" cy="613410"/>
              <a:chOff x="0" y="142130"/>
              <a:chExt cx="21640800" cy="1642694"/>
            </a:xfrm>
          </p:grpSpPr>
          <p:sp>
            <p:nvSpPr>
              <p:cNvPr id="25" name="AutoShape 4">
                <a:extLst>
                  <a:ext uri="{FF2B5EF4-FFF2-40B4-BE49-F238E27FC236}">
                    <a16:creationId xmlns:a16="http://schemas.microsoft.com/office/drawing/2014/main" id="{7098BBD4-9F54-C28F-F131-E43FA6FFE0D4}"/>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26" name="TextBox 5">
                <a:extLst>
                  <a:ext uri="{FF2B5EF4-FFF2-40B4-BE49-F238E27FC236}">
                    <a16:creationId xmlns:a16="http://schemas.microsoft.com/office/drawing/2014/main" id="{CC9EC620-3666-0698-9B0D-819683040123}"/>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20" name="TextBox 19">
              <a:extLst>
                <a:ext uri="{FF2B5EF4-FFF2-40B4-BE49-F238E27FC236}">
                  <a16:creationId xmlns:a16="http://schemas.microsoft.com/office/drawing/2014/main" id="{33762646-3369-87A5-329C-60D68DFF8F96}"/>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22" name="TextBox 21">
              <a:extLst>
                <a:ext uri="{FF2B5EF4-FFF2-40B4-BE49-F238E27FC236}">
                  <a16:creationId xmlns:a16="http://schemas.microsoft.com/office/drawing/2014/main" id="{B8D584D1-9AA1-4C6D-66F7-D6659E12CCD8}"/>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513683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D3F84-2D5C-9D94-F7C1-FC1D8E77839A}"/>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BFF6CDEE-B0A1-AAFB-F316-1C66056AAD1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12" name="Group 11">
            <a:extLst>
              <a:ext uri="{FF2B5EF4-FFF2-40B4-BE49-F238E27FC236}">
                <a16:creationId xmlns:a16="http://schemas.microsoft.com/office/drawing/2014/main" id="{BC74727D-0AF0-17DD-2BE3-E56E02B2E93C}"/>
              </a:ext>
            </a:extLst>
          </p:cNvPr>
          <p:cNvGrpSpPr/>
          <p:nvPr/>
        </p:nvGrpSpPr>
        <p:grpSpPr>
          <a:xfrm>
            <a:off x="1028700" y="1836000"/>
            <a:ext cx="13335000" cy="5267569"/>
            <a:chOff x="1219200" y="1798791"/>
            <a:chExt cx="13335000" cy="5267569"/>
          </a:xfrm>
        </p:grpSpPr>
        <p:sp>
          <p:nvSpPr>
            <p:cNvPr id="6" name="TextBox 5">
              <a:extLst>
                <a:ext uri="{FF2B5EF4-FFF2-40B4-BE49-F238E27FC236}">
                  <a16:creationId xmlns:a16="http://schemas.microsoft.com/office/drawing/2014/main" id="{38441EC3-C5E4-9A39-9107-6B1CC72F4981}"/>
                </a:ext>
              </a:extLst>
            </p:cNvPr>
            <p:cNvSpPr txBox="1"/>
            <p:nvPr/>
          </p:nvSpPr>
          <p:spPr>
            <a:xfrm>
              <a:off x="3581400" y="6235363"/>
              <a:ext cx="6364514" cy="830997"/>
            </a:xfrm>
            <a:prstGeom prst="rect">
              <a:avLst/>
            </a:prstGeom>
            <a:noFill/>
          </p:spPr>
          <p:txBody>
            <a:bodyPr wrap="square">
              <a:spAutoFit/>
            </a:bodyPr>
            <a:lstStyle/>
            <a:p>
              <a:r>
                <a:rPr lang="en-GB" sz="4800" i="1" dirty="0">
                  <a:solidFill>
                    <a:srgbClr val="333333"/>
                  </a:solidFill>
                  <a:latin typeface="Noto Sans Bold" panose="020B0802040504020204" charset="0"/>
                  <a:ea typeface="Noto Sans Bold" panose="020B0802040504020204" charset="0"/>
                  <a:cs typeface="Noto Sans Bold" panose="020B0802040504020204" charset="0"/>
                </a:rPr>
                <a:t>responsibility gap</a:t>
              </a:r>
            </a:p>
          </p:txBody>
        </p:sp>
        <p:sp>
          <p:nvSpPr>
            <p:cNvPr id="8" name="TextBox 7">
              <a:extLst>
                <a:ext uri="{FF2B5EF4-FFF2-40B4-BE49-F238E27FC236}">
                  <a16:creationId xmlns:a16="http://schemas.microsoft.com/office/drawing/2014/main" id="{D250AA0A-78FC-B22F-9C19-BB88962FE3B6}"/>
                </a:ext>
              </a:extLst>
            </p:cNvPr>
            <p:cNvSpPr txBox="1"/>
            <p:nvPr/>
          </p:nvSpPr>
          <p:spPr>
            <a:xfrm>
              <a:off x="1219200" y="1798791"/>
              <a:ext cx="13335000" cy="5016758"/>
            </a:xfrm>
            <a:prstGeom prst="rect">
              <a:avLst/>
            </a:prstGeom>
            <a:noFill/>
          </p:spPr>
          <p:txBody>
            <a:bodyPr wrap="square" rtlCol="0">
              <a:spAutoFit/>
            </a:bodyPr>
            <a:lstStyle/>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‘Now it can be shown that there is an increasing class of machine actions, where the traditional ways of responsibility ascription are not compatible with our sense of justice and the moral framework of society because nobody has enough control over the machine’s actions to be able to assume the </a:t>
              </a:r>
              <a:r>
                <a:rPr lang="en-GB" sz="4000" dirty="0" err="1">
                  <a:solidFill>
                    <a:srgbClr val="333333"/>
                  </a:solidFill>
                  <a:latin typeface="Noto Sans" panose="020B0502040504020204" pitchFamily="34" charset="0"/>
                  <a:ea typeface="Noto Sans" panose="020B0502040504020204" pitchFamily="34" charset="0"/>
                  <a:cs typeface="Noto Sans" panose="020B0502040504020204" pitchFamily="34" charset="0"/>
                </a:rPr>
                <a:t>respon-sibility</a:t>
              </a:r>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 for them. These cases constitute what we will call the                                                     .’ (Matthias 2004)</a:t>
              </a:r>
            </a:p>
          </p:txBody>
        </p:sp>
      </p:grpSp>
      <p:grpSp>
        <p:nvGrpSpPr>
          <p:cNvPr id="2" name="Group 1">
            <a:extLst>
              <a:ext uri="{FF2B5EF4-FFF2-40B4-BE49-F238E27FC236}">
                <a16:creationId xmlns:a16="http://schemas.microsoft.com/office/drawing/2014/main" id="{131DBC75-521F-18F2-3B26-466DDAC5733D}"/>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11683A8D-F6DE-6D8D-C348-931F62AF26F9}"/>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4D3405C9-32D8-84F2-6336-11208FD1688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6" name="TextBox 5">
                <a:extLst>
                  <a:ext uri="{FF2B5EF4-FFF2-40B4-BE49-F238E27FC236}">
                    <a16:creationId xmlns:a16="http://schemas.microsoft.com/office/drawing/2014/main" id="{73F0A587-3732-67DD-F64A-5E9B274D3AF6}"/>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12">
              <a:extLst>
                <a:ext uri="{FF2B5EF4-FFF2-40B4-BE49-F238E27FC236}">
                  <a16:creationId xmlns:a16="http://schemas.microsoft.com/office/drawing/2014/main" id="{7770AD2F-917E-C7BE-CA5E-7AD875FBDE1C}"/>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4" name="TextBox 13">
              <a:extLst>
                <a:ext uri="{FF2B5EF4-FFF2-40B4-BE49-F238E27FC236}">
                  <a16:creationId xmlns:a16="http://schemas.microsoft.com/office/drawing/2014/main" id="{CB90D0C1-2ABF-9071-983D-D4873988FC6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437718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3A970-C0E2-48BB-6C9F-9200F34DF2DC}"/>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063BC8C4-4021-FE60-C94C-25EFA22D682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0" name="Group 19">
            <a:extLst>
              <a:ext uri="{FF2B5EF4-FFF2-40B4-BE49-F238E27FC236}">
                <a16:creationId xmlns:a16="http://schemas.microsoft.com/office/drawing/2014/main" id="{1AB92CDE-8111-DF7F-47BA-D658CAED7D87}"/>
              </a:ext>
            </a:extLst>
          </p:cNvPr>
          <p:cNvGrpSpPr/>
          <p:nvPr/>
        </p:nvGrpSpPr>
        <p:grpSpPr>
          <a:xfrm>
            <a:off x="1828800" y="3523500"/>
            <a:ext cx="12801600" cy="3240000"/>
            <a:chOff x="1828800" y="4012335"/>
            <a:chExt cx="12801600" cy="3240000"/>
          </a:xfrm>
        </p:grpSpPr>
        <p:pic>
          <p:nvPicPr>
            <p:cNvPr id="6" name="Graphic 5" descr="Man with solid fill">
              <a:extLst>
                <a:ext uri="{FF2B5EF4-FFF2-40B4-BE49-F238E27FC236}">
                  <a16:creationId xmlns:a16="http://schemas.microsoft.com/office/drawing/2014/main" id="{9388A65A-EBAD-8F32-FCE3-86696902BB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28800" y="4012335"/>
              <a:ext cx="3240000" cy="3240000"/>
            </a:xfrm>
            <a:prstGeom prst="rect">
              <a:avLst/>
            </a:prstGeom>
          </p:spPr>
        </p:pic>
        <p:pic>
          <p:nvPicPr>
            <p:cNvPr id="8" name="Graphic 7" descr="Hammer with solid fill">
              <a:extLst>
                <a:ext uri="{FF2B5EF4-FFF2-40B4-BE49-F238E27FC236}">
                  <a16:creationId xmlns:a16="http://schemas.microsoft.com/office/drawing/2014/main" id="{667FFDFB-29C3-D8CC-D728-8AB6BA5CB0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06019" y="4483935"/>
              <a:ext cx="2296800" cy="2296800"/>
            </a:xfrm>
            <a:prstGeom prst="rect">
              <a:avLst/>
            </a:prstGeom>
          </p:spPr>
        </p:pic>
        <p:pic>
          <p:nvPicPr>
            <p:cNvPr id="13" name="Graphic 12" descr="Inpatient with solid fill">
              <a:extLst>
                <a:ext uri="{FF2B5EF4-FFF2-40B4-BE49-F238E27FC236}">
                  <a16:creationId xmlns:a16="http://schemas.microsoft.com/office/drawing/2014/main" id="{27C747F6-C947-E509-C37A-7EA3606C20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90400" y="4012335"/>
              <a:ext cx="3240000" cy="3240000"/>
            </a:xfrm>
            <a:prstGeom prst="rect">
              <a:avLst/>
            </a:prstGeom>
          </p:spPr>
        </p:pic>
        <p:pic>
          <p:nvPicPr>
            <p:cNvPr id="16" name="Graphic 15" descr="Add with solid fill">
              <a:extLst>
                <a:ext uri="{FF2B5EF4-FFF2-40B4-BE49-F238E27FC236}">
                  <a16:creationId xmlns:a16="http://schemas.microsoft.com/office/drawing/2014/main" id="{9411E179-3241-771F-F9C6-DC8B85625F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35209" y="5175135"/>
              <a:ext cx="914400" cy="914400"/>
            </a:xfrm>
            <a:prstGeom prst="rect">
              <a:avLst/>
            </a:prstGeom>
          </p:spPr>
        </p:pic>
        <p:pic>
          <p:nvPicPr>
            <p:cNvPr id="18" name="Graphic 17" descr="Arrow Right with solid fill">
              <a:extLst>
                <a:ext uri="{FF2B5EF4-FFF2-40B4-BE49-F238E27FC236}">
                  <a16:creationId xmlns:a16="http://schemas.microsoft.com/office/drawing/2014/main" id="{D587A431-03E8-6D03-3DB5-A236837D290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38821" y="4717746"/>
              <a:ext cx="1829179" cy="1829179"/>
            </a:xfrm>
            <a:prstGeom prst="rect">
              <a:avLst/>
            </a:prstGeom>
          </p:spPr>
        </p:pic>
      </p:grpSp>
      <p:grpSp>
        <p:nvGrpSpPr>
          <p:cNvPr id="2" name="Group 1">
            <a:extLst>
              <a:ext uri="{FF2B5EF4-FFF2-40B4-BE49-F238E27FC236}">
                <a16:creationId xmlns:a16="http://schemas.microsoft.com/office/drawing/2014/main" id="{2A80F5F7-3155-2134-308B-5A315A3BC1CE}"/>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D696FD2B-7141-A26D-CE59-9A4F3DEC6D83}"/>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7F4DFF5F-CC91-054E-7B5E-0E0F7E774F8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7" name="TextBox 5">
                <a:extLst>
                  <a:ext uri="{FF2B5EF4-FFF2-40B4-BE49-F238E27FC236}">
                    <a16:creationId xmlns:a16="http://schemas.microsoft.com/office/drawing/2014/main" id="{0D71C1F7-91F7-6AAB-4C22-A86CD206115C}"/>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0B393EFC-194E-E8C2-D9B9-B7805F00424D}"/>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4" name="TextBox 13">
              <a:extLst>
                <a:ext uri="{FF2B5EF4-FFF2-40B4-BE49-F238E27FC236}">
                  <a16:creationId xmlns:a16="http://schemas.microsoft.com/office/drawing/2014/main" id="{603702CE-F65B-5748-4F2B-2A07693A0C5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294587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64ECE-E19E-B115-56C8-BBAC26CFE44B}"/>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C5A986BA-FD84-F1AA-E7D0-CB4C24F36CE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6" name="Graphic 5" descr="Man with solid fill">
            <a:extLst>
              <a:ext uri="{FF2B5EF4-FFF2-40B4-BE49-F238E27FC236}">
                <a16:creationId xmlns:a16="http://schemas.microsoft.com/office/drawing/2014/main" id="{0517068B-9D81-821E-2FA1-089B28630D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28800" y="3523500"/>
            <a:ext cx="3240000" cy="3240000"/>
          </a:xfrm>
          <a:prstGeom prst="rect">
            <a:avLst/>
          </a:prstGeom>
        </p:spPr>
      </p:pic>
      <p:pic>
        <p:nvPicPr>
          <p:cNvPr id="8" name="Graphic 7" descr="Hammer with solid fill">
            <a:extLst>
              <a:ext uri="{FF2B5EF4-FFF2-40B4-BE49-F238E27FC236}">
                <a16:creationId xmlns:a16="http://schemas.microsoft.com/office/drawing/2014/main" id="{D4EC0DEE-3FDF-9DC6-237F-11C71A8B19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06019" y="3995100"/>
            <a:ext cx="2296800" cy="2296800"/>
          </a:xfrm>
          <a:prstGeom prst="rect">
            <a:avLst/>
          </a:prstGeom>
        </p:spPr>
      </p:pic>
      <p:pic>
        <p:nvPicPr>
          <p:cNvPr id="13" name="Graphic 12" descr="Inpatient with solid fill">
            <a:extLst>
              <a:ext uri="{FF2B5EF4-FFF2-40B4-BE49-F238E27FC236}">
                <a16:creationId xmlns:a16="http://schemas.microsoft.com/office/drawing/2014/main" id="{40C23919-0008-B8A2-BB68-72D0ADA0166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90400" y="3523500"/>
            <a:ext cx="3240000" cy="3240000"/>
          </a:xfrm>
          <a:prstGeom prst="rect">
            <a:avLst/>
          </a:prstGeom>
        </p:spPr>
      </p:pic>
      <p:pic>
        <p:nvPicPr>
          <p:cNvPr id="16" name="Graphic 15" descr="Add with solid fill">
            <a:extLst>
              <a:ext uri="{FF2B5EF4-FFF2-40B4-BE49-F238E27FC236}">
                <a16:creationId xmlns:a16="http://schemas.microsoft.com/office/drawing/2014/main" id="{20D4FEBD-7B7B-1488-B62D-D19FC2231DD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35209" y="4686300"/>
            <a:ext cx="914400" cy="914400"/>
          </a:xfrm>
          <a:prstGeom prst="rect">
            <a:avLst/>
          </a:prstGeom>
        </p:spPr>
      </p:pic>
      <p:pic>
        <p:nvPicPr>
          <p:cNvPr id="18" name="Graphic 17" descr="Arrow Right with solid fill">
            <a:extLst>
              <a:ext uri="{FF2B5EF4-FFF2-40B4-BE49-F238E27FC236}">
                <a16:creationId xmlns:a16="http://schemas.microsoft.com/office/drawing/2014/main" id="{571A27DC-E2AA-F318-2D05-E4805EA626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38821" y="4228911"/>
            <a:ext cx="1829179" cy="1829179"/>
          </a:xfrm>
          <a:prstGeom prst="rect">
            <a:avLst/>
          </a:prstGeom>
        </p:spPr>
      </p:pic>
      <p:sp>
        <p:nvSpPr>
          <p:cNvPr id="2" name="TextBox 1">
            <a:extLst>
              <a:ext uri="{FF2B5EF4-FFF2-40B4-BE49-F238E27FC236}">
                <a16:creationId xmlns:a16="http://schemas.microsoft.com/office/drawing/2014/main" id="{64BD4057-FF15-83EB-9B54-EF4AB422308F}"/>
              </a:ext>
            </a:extLst>
          </p:cNvPr>
          <p:cNvSpPr txBox="1"/>
          <p:nvPr/>
        </p:nvSpPr>
        <p:spPr>
          <a:xfrm>
            <a:off x="4962903" y="7810150"/>
            <a:ext cx="3583032" cy="1323439"/>
          </a:xfrm>
          <a:prstGeom prst="rect">
            <a:avLst/>
          </a:prstGeom>
          <a:noFill/>
        </p:spPr>
        <p:txBody>
          <a:bodyPr wrap="none" rtlCol="0">
            <a:spAutoFit/>
          </a:bodyPr>
          <a:lstStyle/>
          <a:p>
            <a:pPr algn="ctr"/>
            <a:r>
              <a:rPr lang="en-GB" sz="4000" b="1" i="1" dirty="0">
                <a:solidFill>
                  <a:srgbClr val="333333"/>
                </a:solidFill>
              </a:rPr>
              <a:t>THOR HAMMER</a:t>
            </a:r>
          </a:p>
          <a:p>
            <a:pPr algn="ctr"/>
            <a:r>
              <a:rPr lang="en-GB" sz="4000" dirty="0">
                <a:solidFill>
                  <a:srgbClr val="333333"/>
                </a:solidFill>
              </a:rPr>
              <a:t>Company Ltd</a:t>
            </a:r>
          </a:p>
        </p:txBody>
      </p:sp>
      <p:cxnSp>
        <p:nvCxnSpPr>
          <p:cNvPr id="12" name="Straight Arrow Connector 11">
            <a:extLst>
              <a:ext uri="{FF2B5EF4-FFF2-40B4-BE49-F238E27FC236}">
                <a16:creationId xmlns:a16="http://schemas.microsoft.com/office/drawing/2014/main" id="{366ACFAA-ABB8-00E2-6C77-445D7AB87C97}"/>
              </a:ext>
            </a:extLst>
          </p:cNvPr>
          <p:cNvCxnSpPr/>
          <p:nvPr/>
        </p:nvCxnSpPr>
        <p:spPr>
          <a:xfrm flipV="1">
            <a:off x="6754419" y="62919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pic>
        <p:nvPicPr>
          <p:cNvPr id="15" name="Graphic 14" descr="Close with solid fill">
            <a:extLst>
              <a:ext uri="{FF2B5EF4-FFF2-40B4-BE49-F238E27FC236}">
                <a16:creationId xmlns:a16="http://schemas.microsoft.com/office/drawing/2014/main" id="{55AE618D-FF82-B36E-A4AD-7221E27B3C4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20580" y="3960629"/>
            <a:ext cx="2296795" cy="2296795"/>
          </a:xfrm>
          <a:prstGeom prst="rect">
            <a:avLst/>
          </a:prstGeom>
        </p:spPr>
      </p:pic>
      <p:pic>
        <p:nvPicPr>
          <p:cNvPr id="19" name="Graphic 18" descr="Close with solid fill">
            <a:extLst>
              <a:ext uri="{FF2B5EF4-FFF2-40B4-BE49-F238E27FC236}">
                <a16:creationId xmlns:a16="http://schemas.microsoft.com/office/drawing/2014/main" id="{B019C110-99A7-4621-2195-45BC6F31772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02008" y="7445592"/>
            <a:ext cx="2296795" cy="2296795"/>
          </a:xfrm>
          <a:prstGeom prst="rect">
            <a:avLst/>
          </a:prstGeom>
        </p:spPr>
      </p:pic>
      <p:pic>
        <p:nvPicPr>
          <p:cNvPr id="22" name="Graphic 21" descr="Arrow: Rotate left with solid fill">
            <a:extLst>
              <a:ext uri="{FF2B5EF4-FFF2-40B4-BE49-F238E27FC236}">
                <a16:creationId xmlns:a16="http://schemas.microsoft.com/office/drawing/2014/main" id="{E3233FE3-B624-9091-3EAD-41535D71B66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95609" y="1270375"/>
            <a:ext cx="2296800" cy="2296800"/>
          </a:xfrm>
          <a:prstGeom prst="rect">
            <a:avLst/>
          </a:prstGeom>
        </p:spPr>
      </p:pic>
      <p:grpSp>
        <p:nvGrpSpPr>
          <p:cNvPr id="7" name="Group 6">
            <a:extLst>
              <a:ext uri="{FF2B5EF4-FFF2-40B4-BE49-F238E27FC236}">
                <a16:creationId xmlns:a16="http://schemas.microsoft.com/office/drawing/2014/main" id="{2556BFB2-3752-0516-C333-7C61FC086659}"/>
              </a:ext>
            </a:extLst>
          </p:cNvPr>
          <p:cNvGrpSpPr/>
          <p:nvPr/>
        </p:nvGrpSpPr>
        <p:grpSpPr>
          <a:xfrm>
            <a:off x="990600" y="540000"/>
            <a:ext cx="16268700" cy="613410"/>
            <a:chOff x="990600" y="540000"/>
            <a:chExt cx="16268700" cy="613410"/>
          </a:xfrm>
        </p:grpSpPr>
        <p:grpSp>
          <p:nvGrpSpPr>
            <p:cNvPr id="14" name="Group 3">
              <a:extLst>
                <a:ext uri="{FF2B5EF4-FFF2-40B4-BE49-F238E27FC236}">
                  <a16:creationId xmlns:a16="http://schemas.microsoft.com/office/drawing/2014/main" id="{C19B849B-631F-6197-02F7-7A7477022FCC}"/>
                </a:ext>
              </a:extLst>
            </p:cNvPr>
            <p:cNvGrpSpPr/>
            <p:nvPr/>
          </p:nvGrpSpPr>
          <p:grpSpPr>
            <a:xfrm>
              <a:off x="1028700" y="540000"/>
              <a:ext cx="16230600" cy="613410"/>
              <a:chOff x="0" y="142130"/>
              <a:chExt cx="21640800" cy="1642694"/>
            </a:xfrm>
          </p:grpSpPr>
          <p:sp>
            <p:nvSpPr>
              <p:cNvPr id="21" name="AutoShape 4">
                <a:extLst>
                  <a:ext uri="{FF2B5EF4-FFF2-40B4-BE49-F238E27FC236}">
                    <a16:creationId xmlns:a16="http://schemas.microsoft.com/office/drawing/2014/main" id="{C4213716-0E54-ED0F-F9A9-32BFC120620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23" name="TextBox 5">
                <a:extLst>
                  <a:ext uri="{FF2B5EF4-FFF2-40B4-BE49-F238E27FC236}">
                    <a16:creationId xmlns:a16="http://schemas.microsoft.com/office/drawing/2014/main" id="{670E51D5-C983-FDD4-03C6-8784F0DDE9C1}"/>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7" name="TextBox 16">
              <a:extLst>
                <a:ext uri="{FF2B5EF4-FFF2-40B4-BE49-F238E27FC236}">
                  <a16:creationId xmlns:a16="http://schemas.microsoft.com/office/drawing/2014/main" id="{F14D9A43-30A8-501D-4132-306B53BC14BD}"/>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20" name="TextBox 19">
              <a:extLst>
                <a:ext uri="{FF2B5EF4-FFF2-40B4-BE49-F238E27FC236}">
                  <a16:creationId xmlns:a16="http://schemas.microsoft.com/office/drawing/2014/main" id="{4EBAF40F-CFB9-9812-C5A9-478992C5131B}"/>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15</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56658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5695-4013-7926-54E8-0A50AD941507}"/>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CAEB3DF4-5BE1-A963-23F3-5D70EC821E93}"/>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18" name="Graphic 17" descr="Arrow Right with solid fill">
            <a:extLst>
              <a:ext uri="{FF2B5EF4-FFF2-40B4-BE49-F238E27FC236}">
                <a16:creationId xmlns:a16="http://schemas.microsoft.com/office/drawing/2014/main" id="{295448C1-2BC0-FDF2-CC47-29087F8A6F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02912" y="4814474"/>
            <a:ext cx="1829179" cy="1829179"/>
          </a:xfrm>
          <a:prstGeom prst="rect">
            <a:avLst/>
          </a:prstGeom>
        </p:spPr>
      </p:pic>
      <p:pic>
        <p:nvPicPr>
          <p:cNvPr id="17" name="Graphic 16" descr="Arrow Right with solid fill">
            <a:extLst>
              <a:ext uri="{FF2B5EF4-FFF2-40B4-BE49-F238E27FC236}">
                <a16:creationId xmlns:a16="http://schemas.microsoft.com/office/drawing/2014/main" id="{9824A325-86CA-FEE5-307C-23B6E8A43D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73911" y="4814473"/>
            <a:ext cx="1829179" cy="1829179"/>
          </a:xfrm>
          <a:prstGeom prst="rect">
            <a:avLst/>
          </a:prstGeom>
        </p:spPr>
      </p:pic>
      <p:pic>
        <p:nvPicPr>
          <p:cNvPr id="6" name="Graphic 5" descr="Man with solid fill">
            <a:extLst>
              <a:ext uri="{FF2B5EF4-FFF2-40B4-BE49-F238E27FC236}">
                <a16:creationId xmlns:a16="http://schemas.microsoft.com/office/drawing/2014/main" id="{CBEBE88B-6C94-91B1-E73F-D1B0A4A993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32400" y="4109063"/>
            <a:ext cx="3240000" cy="3240000"/>
          </a:xfrm>
          <a:prstGeom prst="rect">
            <a:avLst/>
          </a:prstGeom>
        </p:spPr>
      </p:pic>
      <p:pic>
        <p:nvPicPr>
          <p:cNvPr id="14" name="Graphic 13" descr="Robot with solid fill">
            <a:extLst>
              <a:ext uri="{FF2B5EF4-FFF2-40B4-BE49-F238E27FC236}">
                <a16:creationId xmlns:a16="http://schemas.microsoft.com/office/drawing/2014/main" id="{2C982539-6E3D-2771-D8E8-6EF893CBD2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4601" y="4580663"/>
            <a:ext cx="2296800" cy="2296800"/>
          </a:xfrm>
          <a:prstGeom prst="rect">
            <a:avLst/>
          </a:prstGeom>
        </p:spPr>
      </p:pic>
      <p:pic>
        <p:nvPicPr>
          <p:cNvPr id="13" name="Graphic 12" descr="Inpatient with solid fill">
            <a:extLst>
              <a:ext uri="{FF2B5EF4-FFF2-40B4-BE49-F238E27FC236}">
                <a16:creationId xmlns:a16="http://schemas.microsoft.com/office/drawing/2014/main" id="{B847956C-DBCF-DF5C-25DB-64BC8395E1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33600" y="4109063"/>
            <a:ext cx="3240000" cy="3240000"/>
          </a:xfrm>
          <a:prstGeom prst="rect">
            <a:avLst/>
          </a:prstGeom>
        </p:spPr>
      </p:pic>
      <p:grpSp>
        <p:nvGrpSpPr>
          <p:cNvPr id="2" name="Group 1">
            <a:extLst>
              <a:ext uri="{FF2B5EF4-FFF2-40B4-BE49-F238E27FC236}">
                <a16:creationId xmlns:a16="http://schemas.microsoft.com/office/drawing/2014/main" id="{6BB6DA24-2A30-B4EF-2110-023D28D6B867}"/>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DCA168AE-D731-D4DC-222B-5A26937AF659}"/>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B8287D8B-EE25-078C-1508-AE8BFCD9A4C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6" name="TextBox 5">
                <a:extLst>
                  <a:ext uri="{FF2B5EF4-FFF2-40B4-BE49-F238E27FC236}">
                    <a16:creationId xmlns:a16="http://schemas.microsoft.com/office/drawing/2014/main" id="{E62CF03E-C6BA-C891-A2D6-742FC0A49FA9}"/>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782959C2-E4FC-64DC-F362-BA0E60D97921}"/>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7C2723BA-6EBB-76A3-0A74-40A40193CF2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545265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092BC-2B1E-25AC-7652-60F7DB1791DF}"/>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E9042A7A-652E-B465-F829-F8CE977ABA31}"/>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6" name="Group 25">
            <a:extLst>
              <a:ext uri="{FF2B5EF4-FFF2-40B4-BE49-F238E27FC236}">
                <a16:creationId xmlns:a16="http://schemas.microsoft.com/office/drawing/2014/main" id="{300CDB86-5503-27F1-57AF-DB1C42DD1786}"/>
              </a:ext>
            </a:extLst>
          </p:cNvPr>
          <p:cNvGrpSpPr/>
          <p:nvPr/>
        </p:nvGrpSpPr>
        <p:grpSpPr>
          <a:xfrm>
            <a:off x="1832400" y="2763937"/>
            <a:ext cx="12841200" cy="4585126"/>
            <a:chOff x="1828800" y="2705100"/>
            <a:chExt cx="12841200" cy="4585126"/>
          </a:xfrm>
        </p:grpSpPr>
        <p:pic>
          <p:nvPicPr>
            <p:cNvPr id="18" name="Graphic 17" descr="Arrow Right with solid fill">
              <a:extLst>
                <a:ext uri="{FF2B5EF4-FFF2-40B4-BE49-F238E27FC236}">
                  <a16:creationId xmlns:a16="http://schemas.microsoft.com/office/drawing/2014/main" id="{F8321342-EDAC-1866-F5B5-C3E501EC20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99312" y="4755637"/>
              <a:ext cx="1829179" cy="1829179"/>
            </a:xfrm>
            <a:prstGeom prst="rect">
              <a:avLst/>
            </a:prstGeom>
          </p:spPr>
        </p:pic>
        <p:pic>
          <p:nvPicPr>
            <p:cNvPr id="17" name="Graphic 16" descr="Arrow Right with solid fill">
              <a:extLst>
                <a:ext uri="{FF2B5EF4-FFF2-40B4-BE49-F238E27FC236}">
                  <a16:creationId xmlns:a16="http://schemas.microsoft.com/office/drawing/2014/main" id="{1FA368D3-B444-2A10-E090-6A804CA89B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70311" y="4755636"/>
              <a:ext cx="1829179" cy="1829179"/>
            </a:xfrm>
            <a:prstGeom prst="rect">
              <a:avLst/>
            </a:prstGeom>
          </p:spPr>
        </p:pic>
        <p:grpSp>
          <p:nvGrpSpPr>
            <p:cNvPr id="19" name="Group 18">
              <a:extLst>
                <a:ext uri="{FF2B5EF4-FFF2-40B4-BE49-F238E27FC236}">
                  <a16:creationId xmlns:a16="http://schemas.microsoft.com/office/drawing/2014/main" id="{9EF52F28-C892-C42F-B3DB-0029667E4074}"/>
                </a:ext>
              </a:extLst>
            </p:cNvPr>
            <p:cNvGrpSpPr/>
            <p:nvPr/>
          </p:nvGrpSpPr>
          <p:grpSpPr>
            <a:xfrm>
              <a:off x="1828800" y="2712357"/>
              <a:ext cx="3240000" cy="4577869"/>
              <a:chOff x="1828800" y="2185631"/>
              <a:chExt cx="3240000" cy="4577869"/>
            </a:xfrm>
          </p:grpSpPr>
          <p:pic>
            <p:nvPicPr>
              <p:cNvPr id="6" name="Graphic 5" descr="Man with solid fill">
                <a:extLst>
                  <a:ext uri="{FF2B5EF4-FFF2-40B4-BE49-F238E27FC236}">
                    <a16:creationId xmlns:a16="http://schemas.microsoft.com/office/drawing/2014/main" id="{27FFE30D-43C9-AD2D-23DA-3DD72F5E25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28800" y="3523500"/>
                <a:ext cx="3240000" cy="3240000"/>
              </a:xfrm>
              <a:prstGeom prst="rect">
                <a:avLst/>
              </a:prstGeom>
            </p:spPr>
          </p:pic>
          <p:pic>
            <p:nvPicPr>
              <p:cNvPr id="7" name="Graphic 6" descr="Badge Question Mark with solid fill">
                <a:extLst>
                  <a:ext uri="{FF2B5EF4-FFF2-40B4-BE49-F238E27FC236}">
                    <a16:creationId xmlns:a16="http://schemas.microsoft.com/office/drawing/2014/main" id="{65C4307A-3647-36FB-9892-F49B8B03E3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08800" y="2185631"/>
                <a:ext cx="1080000" cy="1080000"/>
              </a:xfrm>
              <a:prstGeom prst="rect">
                <a:avLst/>
              </a:prstGeom>
            </p:spPr>
          </p:pic>
        </p:grpSp>
        <p:grpSp>
          <p:nvGrpSpPr>
            <p:cNvPr id="20" name="Group 19">
              <a:extLst>
                <a:ext uri="{FF2B5EF4-FFF2-40B4-BE49-F238E27FC236}">
                  <a16:creationId xmlns:a16="http://schemas.microsoft.com/office/drawing/2014/main" id="{A89D274F-8314-CBFE-D707-8F91BDAB328C}"/>
                </a:ext>
              </a:extLst>
            </p:cNvPr>
            <p:cNvGrpSpPr/>
            <p:nvPr/>
          </p:nvGrpSpPr>
          <p:grpSpPr>
            <a:xfrm>
              <a:off x="7101001" y="2705100"/>
              <a:ext cx="2296800" cy="4113526"/>
              <a:chOff x="6542021" y="2178374"/>
              <a:chExt cx="2296800" cy="4113526"/>
            </a:xfrm>
          </p:grpSpPr>
          <p:pic>
            <p:nvPicPr>
              <p:cNvPr id="14" name="Graphic 13" descr="Robot with solid fill">
                <a:extLst>
                  <a:ext uri="{FF2B5EF4-FFF2-40B4-BE49-F238E27FC236}">
                    <a16:creationId xmlns:a16="http://schemas.microsoft.com/office/drawing/2014/main" id="{A88CD49C-4746-5101-BF94-7DCFDF0626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42021" y="3995100"/>
                <a:ext cx="2296800" cy="2296800"/>
              </a:xfrm>
              <a:prstGeom prst="rect">
                <a:avLst/>
              </a:prstGeom>
            </p:spPr>
          </p:pic>
          <p:pic>
            <p:nvPicPr>
              <p:cNvPr id="12" name="Graphic 11" descr="Badge Question Mark with solid fill">
                <a:extLst>
                  <a:ext uri="{FF2B5EF4-FFF2-40B4-BE49-F238E27FC236}">
                    <a16:creationId xmlns:a16="http://schemas.microsoft.com/office/drawing/2014/main" id="{5B2D6E75-576E-DB8A-C43C-161873ED3D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50421" y="2178374"/>
                <a:ext cx="1080000" cy="1080000"/>
              </a:xfrm>
              <a:prstGeom prst="rect">
                <a:avLst/>
              </a:prstGeom>
            </p:spPr>
          </p:pic>
        </p:grpSp>
        <p:grpSp>
          <p:nvGrpSpPr>
            <p:cNvPr id="21" name="Group 20">
              <a:extLst>
                <a:ext uri="{FF2B5EF4-FFF2-40B4-BE49-F238E27FC236}">
                  <a16:creationId xmlns:a16="http://schemas.microsoft.com/office/drawing/2014/main" id="{40B9BBD1-B577-BE82-D40D-F21F57D3C391}"/>
                </a:ext>
              </a:extLst>
            </p:cNvPr>
            <p:cNvGrpSpPr/>
            <p:nvPr/>
          </p:nvGrpSpPr>
          <p:grpSpPr>
            <a:xfrm>
              <a:off x="11430000" y="2712357"/>
              <a:ext cx="3240000" cy="4577869"/>
              <a:chOff x="11430000" y="2185631"/>
              <a:chExt cx="3240000" cy="4577869"/>
            </a:xfrm>
          </p:grpSpPr>
          <p:pic>
            <p:nvPicPr>
              <p:cNvPr id="13" name="Graphic 12" descr="Inpatient with solid fill">
                <a:extLst>
                  <a:ext uri="{FF2B5EF4-FFF2-40B4-BE49-F238E27FC236}">
                    <a16:creationId xmlns:a16="http://schemas.microsoft.com/office/drawing/2014/main" id="{21273B99-BA9E-2892-1366-0405E7FF8F4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30000" y="3523500"/>
                <a:ext cx="3240000" cy="3240000"/>
              </a:xfrm>
              <a:prstGeom prst="rect">
                <a:avLst/>
              </a:prstGeom>
            </p:spPr>
          </p:pic>
          <p:pic>
            <p:nvPicPr>
              <p:cNvPr id="16" name="Graphic 15" descr="Badge Question Mark with solid fill">
                <a:extLst>
                  <a:ext uri="{FF2B5EF4-FFF2-40B4-BE49-F238E27FC236}">
                    <a16:creationId xmlns:a16="http://schemas.microsoft.com/office/drawing/2014/main" id="{2572EDB4-0914-A8DC-FB39-69DB3479E0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510000" y="2185631"/>
                <a:ext cx="1080000" cy="1080000"/>
              </a:xfrm>
              <a:prstGeom prst="rect">
                <a:avLst/>
              </a:prstGeom>
            </p:spPr>
          </p:pic>
        </p:grpSp>
      </p:grpSp>
      <p:sp>
        <p:nvSpPr>
          <p:cNvPr id="22" name="TextBox 21">
            <a:extLst>
              <a:ext uri="{FF2B5EF4-FFF2-40B4-BE49-F238E27FC236}">
                <a16:creationId xmlns:a16="http://schemas.microsoft.com/office/drawing/2014/main" id="{D69C9ADC-7CEC-8036-3A46-220EC8A6432A}"/>
              </a:ext>
            </a:extLst>
          </p:cNvPr>
          <p:cNvSpPr txBox="1"/>
          <p:nvPr/>
        </p:nvSpPr>
        <p:spPr>
          <a:xfrm>
            <a:off x="6330731" y="8423561"/>
            <a:ext cx="4717125" cy="1323439"/>
          </a:xfrm>
          <a:prstGeom prst="rect">
            <a:avLst/>
          </a:prstGeom>
          <a:noFill/>
        </p:spPr>
        <p:txBody>
          <a:bodyPr wrap="none" rtlCol="0">
            <a:spAutoFit/>
          </a:bodyPr>
          <a:lstStyle/>
          <a:p>
            <a:r>
              <a:rPr lang="en-GB" sz="4000" b="1" i="1" dirty="0"/>
              <a:t>U.S. Robots and</a:t>
            </a:r>
          </a:p>
          <a:p>
            <a:r>
              <a:rPr lang="en-GB" sz="4000" b="1" i="1" dirty="0"/>
              <a:t>Mechanical Men</a:t>
            </a:r>
            <a:r>
              <a:rPr lang="en-GB" sz="4000" dirty="0"/>
              <a:t>, Inc.</a:t>
            </a:r>
          </a:p>
        </p:txBody>
      </p:sp>
      <p:cxnSp>
        <p:nvCxnSpPr>
          <p:cNvPr id="23" name="Straight Arrow Connector 22">
            <a:extLst>
              <a:ext uri="{FF2B5EF4-FFF2-40B4-BE49-F238E27FC236}">
                <a16:creationId xmlns:a16="http://schemas.microsoft.com/office/drawing/2014/main" id="{B93AE555-D087-EDB4-56CC-8E381EFE04F1}"/>
              </a:ext>
            </a:extLst>
          </p:cNvPr>
          <p:cNvCxnSpPr/>
          <p:nvPr/>
        </p:nvCxnSpPr>
        <p:spPr>
          <a:xfrm flipV="1">
            <a:off x="8249401" y="696184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pic>
        <p:nvPicPr>
          <p:cNvPr id="25" name="Graphic 24" descr="Badge Question Mark with solid fill">
            <a:extLst>
              <a:ext uri="{FF2B5EF4-FFF2-40B4-BE49-F238E27FC236}">
                <a16:creationId xmlns:a16="http://schemas.microsoft.com/office/drawing/2014/main" id="{72CA26D2-CC1E-00CB-0DC3-5852978DB7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53000" y="8509984"/>
            <a:ext cx="1080000" cy="1080000"/>
          </a:xfrm>
          <a:prstGeom prst="rect">
            <a:avLst/>
          </a:prstGeom>
        </p:spPr>
      </p:pic>
      <p:grpSp>
        <p:nvGrpSpPr>
          <p:cNvPr id="2" name="Group 1">
            <a:extLst>
              <a:ext uri="{FF2B5EF4-FFF2-40B4-BE49-F238E27FC236}">
                <a16:creationId xmlns:a16="http://schemas.microsoft.com/office/drawing/2014/main" id="{CB90F9A8-0B71-932E-F5AE-A571887EDF98}"/>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7C2595F3-2180-E8AF-79B0-7BF4D359EEA8}"/>
                </a:ext>
              </a:extLst>
            </p:cNvPr>
            <p:cNvGrpSpPr/>
            <p:nvPr/>
          </p:nvGrpSpPr>
          <p:grpSpPr>
            <a:xfrm>
              <a:off x="1028700" y="540000"/>
              <a:ext cx="16230600" cy="613410"/>
              <a:chOff x="0" y="142130"/>
              <a:chExt cx="21640800" cy="1642694"/>
            </a:xfrm>
          </p:grpSpPr>
          <p:sp>
            <p:nvSpPr>
              <p:cNvPr id="27" name="AutoShape 4">
                <a:extLst>
                  <a:ext uri="{FF2B5EF4-FFF2-40B4-BE49-F238E27FC236}">
                    <a16:creationId xmlns:a16="http://schemas.microsoft.com/office/drawing/2014/main" id="{189D1CD6-FFA4-3074-C377-8CDC0C636CD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28" name="TextBox 5">
                <a:extLst>
                  <a:ext uri="{FF2B5EF4-FFF2-40B4-BE49-F238E27FC236}">
                    <a16:creationId xmlns:a16="http://schemas.microsoft.com/office/drawing/2014/main" id="{30958044-3705-7773-CF30-284E990FCE8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5" name="TextBox 14">
              <a:extLst>
                <a:ext uri="{FF2B5EF4-FFF2-40B4-BE49-F238E27FC236}">
                  <a16:creationId xmlns:a16="http://schemas.microsoft.com/office/drawing/2014/main" id="{857127B8-EB46-3B72-CF01-A85E4403885A}"/>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24" name="TextBox 23">
              <a:extLst>
                <a:ext uri="{FF2B5EF4-FFF2-40B4-BE49-F238E27FC236}">
                  <a16:creationId xmlns:a16="http://schemas.microsoft.com/office/drawing/2014/main" id="{E96424A3-38FE-A96F-481E-A8498817C60A}"/>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93754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2F63-5A0D-606C-750F-62D4FE6B1AEF}"/>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EED3C43C-3D9E-7767-8B4B-AAA653455D5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6">
            <a:extLst>
              <a:ext uri="{FF2B5EF4-FFF2-40B4-BE49-F238E27FC236}">
                <a16:creationId xmlns:a16="http://schemas.microsoft.com/office/drawing/2014/main" id="{EA13DB1A-8124-749D-491A-52CC717CF2C8}"/>
              </a:ext>
            </a:extLst>
          </p:cNvPr>
          <p:cNvSpPr txBox="1"/>
          <p:nvPr/>
        </p:nvSpPr>
        <p:spPr>
          <a:xfrm>
            <a:off x="1028700" y="1836000"/>
            <a:ext cx="7964040"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variants of responsibility gaps</a:t>
            </a:r>
          </a:p>
        </p:txBody>
      </p:sp>
      <p:sp>
        <p:nvSpPr>
          <p:cNvPr id="13" name="TextBox 12">
            <a:extLst>
              <a:ext uri="{FF2B5EF4-FFF2-40B4-BE49-F238E27FC236}">
                <a16:creationId xmlns:a16="http://schemas.microsoft.com/office/drawing/2014/main" id="{85623596-DDD6-9949-7FE4-3ED1EE5902D5}"/>
              </a:ext>
            </a:extLst>
          </p:cNvPr>
          <p:cNvSpPr txBox="1"/>
          <p:nvPr/>
        </p:nvSpPr>
        <p:spPr>
          <a:xfrm>
            <a:off x="5410200" y="2792268"/>
            <a:ext cx="4793300" cy="4876463"/>
          </a:xfrm>
          <a:prstGeom prst="rect">
            <a:avLst/>
          </a:prstGeom>
          <a:noFill/>
        </p:spPr>
        <p:txBody>
          <a:bodyPr wrap="none" rtlCol="0">
            <a:spAutoFit/>
          </a:bodyPr>
          <a:lstStyle/>
          <a:p>
            <a:pPr>
              <a:lnSpc>
                <a:spcPct val="200000"/>
              </a:lnSpc>
            </a:pPr>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regarding</a:t>
            </a:r>
          </a:p>
          <a:p>
            <a:pPr marL="342900" indent="-342900">
              <a:lnSpc>
                <a:spcPct val="200000"/>
              </a:lnSpc>
              <a:buFont typeface="Arial" panose="020B0604020202020204" pitchFamily="34" charset="0"/>
              <a:buChar char="•"/>
            </a:pPr>
            <a:r>
              <a:rPr lang="en-GB" sz="3200" b="1" dirty="0">
                <a:solidFill>
                  <a:srgbClr val="333333"/>
                </a:solidFill>
                <a:latin typeface="Noto Sans" panose="020B0502040504020204" pitchFamily="34" charset="0"/>
                <a:ea typeface="Noto Sans" panose="020B0502040504020204" pitchFamily="34" charset="0"/>
                <a:cs typeface="Noto Sans" panose="020B0502040504020204" pitchFamily="34" charset="0"/>
              </a:rPr>
              <a:t>culpability</a:t>
            </a:r>
          </a:p>
          <a:p>
            <a:pPr marL="342900" indent="-342900">
              <a:lnSpc>
                <a:spcPct val="200000"/>
              </a:lnSpc>
              <a:buFont typeface="Arial" panose="020B0604020202020204" pitchFamily="34" charset="0"/>
              <a:buChar char="•"/>
            </a:pPr>
            <a:r>
              <a:rPr lang="en-GB" sz="3200" b="1" dirty="0">
                <a:solidFill>
                  <a:srgbClr val="333333"/>
                </a:solidFill>
                <a:latin typeface="Noto Sans" panose="020B0502040504020204" pitchFamily="34" charset="0"/>
                <a:ea typeface="Noto Sans" panose="020B0502040504020204" pitchFamily="34" charset="0"/>
                <a:cs typeface="Noto Sans" panose="020B0502040504020204" pitchFamily="34" charset="0"/>
              </a:rPr>
              <a:t>moral accountability</a:t>
            </a:r>
          </a:p>
          <a:p>
            <a:pPr marL="342900" indent="-342900">
              <a:lnSpc>
                <a:spcPct val="200000"/>
              </a:lnSpc>
              <a:buFont typeface="Arial" panose="020B0604020202020204" pitchFamily="34" charset="0"/>
              <a:buChar char="•"/>
            </a:pPr>
            <a:r>
              <a:rPr lang="en-GB" sz="3200" b="1" dirty="0">
                <a:solidFill>
                  <a:srgbClr val="333333"/>
                </a:solidFill>
                <a:latin typeface="Noto Sans" panose="020B0502040504020204" pitchFamily="34" charset="0"/>
                <a:ea typeface="Noto Sans" panose="020B0502040504020204" pitchFamily="34" charset="0"/>
                <a:cs typeface="Noto Sans" panose="020B0502040504020204" pitchFamily="34" charset="0"/>
              </a:rPr>
              <a:t>public accountability</a:t>
            </a:r>
          </a:p>
          <a:p>
            <a:pPr marL="342900" indent="-342900">
              <a:lnSpc>
                <a:spcPct val="200000"/>
              </a:lnSpc>
              <a:buFont typeface="Arial" panose="020B0604020202020204" pitchFamily="34" charset="0"/>
              <a:buChar char="•"/>
            </a:pPr>
            <a:r>
              <a:rPr lang="en-GB" sz="3200" b="1" dirty="0">
                <a:solidFill>
                  <a:srgbClr val="333333"/>
                </a:solidFill>
                <a:latin typeface="Noto Sans" panose="020B0502040504020204" pitchFamily="34" charset="0"/>
                <a:ea typeface="Noto Sans" panose="020B0502040504020204" pitchFamily="34" charset="0"/>
                <a:cs typeface="Noto Sans" panose="020B0502040504020204" pitchFamily="34" charset="0"/>
              </a:rPr>
              <a:t>active responsibility</a:t>
            </a:r>
          </a:p>
        </p:txBody>
      </p:sp>
      <p:sp>
        <p:nvSpPr>
          <p:cNvPr id="14" name="TextBox 13">
            <a:extLst>
              <a:ext uri="{FF2B5EF4-FFF2-40B4-BE49-F238E27FC236}">
                <a16:creationId xmlns:a16="http://schemas.microsoft.com/office/drawing/2014/main" id="{6A3668F7-0F9B-2053-133F-42B0E5596B39}"/>
              </a:ext>
            </a:extLst>
          </p:cNvPr>
          <p:cNvSpPr txBox="1"/>
          <p:nvPr/>
        </p:nvSpPr>
        <p:spPr>
          <a:xfrm>
            <a:off x="8040231" y="8572830"/>
            <a:ext cx="5551520" cy="954107"/>
          </a:xfrm>
          <a:prstGeom prst="rect">
            <a:avLst/>
          </a:prstGeom>
          <a:noFill/>
        </p:spPr>
        <p:txBody>
          <a:bodyPr wrap="none" rtlCol="0">
            <a:spAutoFit/>
          </a:bodyPr>
          <a:lstStyle/>
          <a:p>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(Santoni De Sio &amp; </a:t>
            </a:r>
            <a:r>
              <a:rPr lang="en-GB" sz="2800" dirty="0" err="1">
                <a:solidFill>
                  <a:srgbClr val="333333"/>
                </a:solidFill>
                <a:latin typeface="Noto Sans" panose="020B0502040504020204" pitchFamily="34" charset="0"/>
                <a:ea typeface="Noto Sans" panose="020B0502040504020204" pitchFamily="34" charset="0"/>
                <a:cs typeface="Noto Sans" panose="020B0502040504020204" pitchFamily="34" charset="0"/>
              </a:rPr>
              <a:t>Mecacci</a:t>
            </a: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 2021)</a:t>
            </a:r>
          </a:p>
          <a:p>
            <a:endParaRPr lang="en-GB" sz="2800" dirty="0">
              <a:solidFill>
                <a:srgbClr val="333333"/>
              </a:solidFill>
            </a:endParaRPr>
          </a:p>
        </p:txBody>
      </p:sp>
      <p:grpSp>
        <p:nvGrpSpPr>
          <p:cNvPr id="2" name="Group 1">
            <a:extLst>
              <a:ext uri="{FF2B5EF4-FFF2-40B4-BE49-F238E27FC236}">
                <a16:creationId xmlns:a16="http://schemas.microsoft.com/office/drawing/2014/main" id="{6C541391-9F13-B511-29D8-2C9869BC027E}"/>
              </a:ext>
            </a:extLst>
          </p:cNvPr>
          <p:cNvGrpSpPr/>
          <p:nvPr/>
        </p:nvGrpSpPr>
        <p:grpSpPr>
          <a:xfrm>
            <a:off x="990600" y="540000"/>
            <a:ext cx="16268700" cy="613410"/>
            <a:chOff x="990600" y="540000"/>
            <a:chExt cx="16268700" cy="613410"/>
          </a:xfrm>
        </p:grpSpPr>
        <p:grpSp>
          <p:nvGrpSpPr>
            <p:cNvPr id="6" name="Group 3">
              <a:extLst>
                <a:ext uri="{FF2B5EF4-FFF2-40B4-BE49-F238E27FC236}">
                  <a16:creationId xmlns:a16="http://schemas.microsoft.com/office/drawing/2014/main" id="{0394DAA1-70FE-3629-4A2C-68EE96116160}"/>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85F6D750-3ED7-9235-4CDF-CFB1331B9C6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6" name="TextBox 5">
                <a:extLst>
                  <a:ext uri="{FF2B5EF4-FFF2-40B4-BE49-F238E27FC236}">
                    <a16:creationId xmlns:a16="http://schemas.microsoft.com/office/drawing/2014/main" id="{5CBFF420-2129-5378-F937-5BA6A9EC753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8B9D0B84-BCFC-0DFF-2F4B-84CA9F967D67}"/>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8758CE5D-7DE9-2F8A-9570-DC23E8C88F6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790460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5B30-BB6C-519E-0A6D-0804B0F4B43D}"/>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0380AD51-6E3E-0BC9-99D0-C03D817AE8E7}"/>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 name="Group 1">
            <a:extLst>
              <a:ext uri="{FF2B5EF4-FFF2-40B4-BE49-F238E27FC236}">
                <a16:creationId xmlns:a16="http://schemas.microsoft.com/office/drawing/2014/main" id="{A172B05C-D5C9-64F5-E4EF-CC2FDDF0F373}"/>
              </a:ext>
            </a:extLst>
          </p:cNvPr>
          <p:cNvGrpSpPr/>
          <p:nvPr/>
        </p:nvGrpSpPr>
        <p:grpSpPr>
          <a:xfrm>
            <a:off x="1029600" y="1836000"/>
            <a:ext cx="13335000" cy="3438769"/>
            <a:chOff x="1029600" y="2882563"/>
            <a:chExt cx="13335000" cy="3438769"/>
          </a:xfrm>
        </p:grpSpPr>
        <p:sp>
          <p:nvSpPr>
            <p:cNvPr id="6" name="TextBox 5">
              <a:extLst>
                <a:ext uri="{FF2B5EF4-FFF2-40B4-BE49-F238E27FC236}">
                  <a16:creationId xmlns:a16="http://schemas.microsoft.com/office/drawing/2014/main" id="{977E9F1E-C8B1-D7A0-F119-1900945A26D3}"/>
                </a:ext>
              </a:extLst>
            </p:cNvPr>
            <p:cNvSpPr txBox="1"/>
            <p:nvPr/>
          </p:nvSpPr>
          <p:spPr>
            <a:xfrm>
              <a:off x="2017486" y="5490335"/>
              <a:ext cx="7583714" cy="830997"/>
            </a:xfrm>
            <a:prstGeom prst="rect">
              <a:avLst/>
            </a:prstGeom>
            <a:noFill/>
          </p:spPr>
          <p:txBody>
            <a:bodyPr wrap="square">
              <a:spAutoFit/>
            </a:bodyPr>
            <a:lstStyle/>
            <a:p>
              <a:r>
                <a:rPr lang="en-GB" sz="4800" i="1" dirty="0">
                  <a:solidFill>
                    <a:srgbClr val="333333"/>
                  </a:solidFill>
                  <a:latin typeface="Noto Sans Bold" panose="020B0802040504020204" charset="0"/>
                  <a:ea typeface="Noto Sans Bold" panose="020B0802040504020204" charset="0"/>
                  <a:cs typeface="Noto Sans Bold" panose="020B0802040504020204" charset="0"/>
                </a:rPr>
                <a:t>problem of many hands</a:t>
              </a:r>
            </a:p>
          </p:txBody>
        </p:sp>
        <p:sp>
          <p:nvSpPr>
            <p:cNvPr id="8" name="TextBox 7">
              <a:extLst>
                <a:ext uri="{FF2B5EF4-FFF2-40B4-BE49-F238E27FC236}">
                  <a16:creationId xmlns:a16="http://schemas.microsoft.com/office/drawing/2014/main" id="{DBD3947C-EE51-395B-CD15-C54E783A673B}"/>
                </a:ext>
              </a:extLst>
            </p:cNvPr>
            <p:cNvSpPr txBox="1"/>
            <p:nvPr/>
          </p:nvSpPr>
          <p:spPr>
            <a:xfrm>
              <a:off x="1029600" y="2882563"/>
              <a:ext cx="13335000" cy="3170099"/>
            </a:xfrm>
            <a:prstGeom prst="rect">
              <a:avLst/>
            </a:prstGeom>
            <a:noFill/>
          </p:spPr>
          <p:txBody>
            <a:bodyPr wrap="square" rtlCol="0">
              <a:spAutoFit/>
            </a:bodyPr>
            <a:lstStyle/>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‘Because many different officials contribute in many ways to decisions and policies of government, it is difficult even in principle to identify who is morally responsible for political outcomes. This is what I call the                                                           .’ (Thompson 1980)</a:t>
              </a:r>
            </a:p>
          </p:txBody>
        </p:sp>
      </p:grpSp>
      <p:grpSp>
        <p:nvGrpSpPr>
          <p:cNvPr id="7" name="Group 6">
            <a:extLst>
              <a:ext uri="{FF2B5EF4-FFF2-40B4-BE49-F238E27FC236}">
                <a16:creationId xmlns:a16="http://schemas.microsoft.com/office/drawing/2014/main" id="{146F06BD-0CAC-6E45-6795-4B791F43756C}"/>
              </a:ext>
            </a:extLst>
          </p:cNvPr>
          <p:cNvGrpSpPr/>
          <p:nvPr/>
        </p:nvGrpSpPr>
        <p:grpSpPr>
          <a:xfrm>
            <a:off x="990600" y="540000"/>
            <a:ext cx="16268700" cy="613410"/>
            <a:chOff x="990600" y="540000"/>
            <a:chExt cx="16268700" cy="613410"/>
          </a:xfrm>
        </p:grpSpPr>
        <p:grpSp>
          <p:nvGrpSpPr>
            <p:cNvPr id="12" name="Group 3">
              <a:extLst>
                <a:ext uri="{FF2B5EF4-FFF2-40B4-BE49-F238E27FC236}">
                  <a16:creationId xmlns:a16="http://schemas.microsoft.com/office/drawing/2014/main" id="{2869CE9A-0DD3-B8FB-B1B6-8B406280655A}"/>
                </a:ext>
              </a:extLst>
            </p:cNvPr>
            <p:cNvGrpSpPr/>
            <p:nvPr/>
          </p:nvGrpSpPr>
          <p:grpSpPr>
            <a:xfrm>
              <a:off x="1028700" y="540000"/>
              <a:ext cx="16230600" cy="613410"/>
              <a:chOff x="0" y="142130"/>
              <a:chExt cx="21640800" cy="1642694"/>
            </a:xfrm>
          </p:grpSpPr>
          <p:sp>
            <p:nvSpPr>
              <p:cNvPr id="15" name="AutoShape 4">
                <a:extLst>
                  <a:ext uri="{FF2B5EF4-FFF2-40B4-BE49-F238E27FC236}">
                    <a16:creationId xmlns:a16="http://schemas.microsoft.com/office/drawing/2014/main" id="{5E539AF5-6A66-84CA-4E17-94E3846E1E0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6" name="TextBox 5">
                <a:extLst>
                  <a:ext uri="{FF2B5EF4-FFF2-40B4-BE49-F238E27FC236}">
                    <a16:creationId xmlns:a16="http://schemas.microsoft.com/office/drawing/2014/main" id="{EFD7C930-0020-9401-7CB7-30ED06CB23E4}"/>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12">
              <a:extLst>
                <a:ext uri="{FF2B5EF4-FFF2-40B4-BE49-F238E27FC236}">
                  <a16:creationId xmlns:a16="http://schemas.microsoft.com/office/drawing/2014/main" id="{BE50FFAB-F658-F1B9-70AD-867C0BEFDD66}"/>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4" name="TextBox 13">
              <a:extLst>
                <a:ext uri="{FF2B5EF4-FFF2-40B4-BE49-F238E27FC236}">
                  <a16:creationId xmlns:a16="http://schemas.microsoft.com/office/drawing/2014/main" id="{BBE8DC49-4C89-232B-D4D4-EAEAADFD15B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19</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416636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8AFC3-BCE9-55E3-5042-BEF455F1ED7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71A40AB-1C79-A133-3486-D524E5F5A16A}"/>
              </a:ext>
            </a:extLst>
          </p:cNvPr>
          <p:cNvSpPr txBox="1"/>
          <p:nvPr/>
        </p:nvSpPr>
        <p:spPr>
          <a:xfrm>
            <a:off x="1028700" y="1944000"/>
            <a:ext cx="16213111" cy="2462213"/>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The Input-Process-Output</a:t>
            </a:r>
            <a:br>
              <a:rPr lang="en-US" sz="8000" dirty="0">
                <a:solidFill>
                  <a:srgbClr val="333333"/>
                </a:solidFill>
                <a:latin typeface="Noto Serif"/>
                <a:ea typeface="Noto Serif"/>
                <a:cs typeface="Noto Serif"/>
                <a:sym typeface="Noto Serif"/>
              </a:rPr>
            </a:br>
            <a:r>
              <a:rPr lang="en-US" sz="8000" dirty="0">
                <a:solidFill>
                  <a:srgbClr val="333333"/>
                </a:solidFill>
                <a:latin typeface="Noto Serif"/>
                <a:ea typeface="Noto Serif"/>
                <a:cs typeface="Noto Serif"/>
                <a:sym typeface="Noto Serif"/>
              </a:rPr>
              <a:t>Model</a:t>
            </a:r>
          </a:p>
        </p:txBody>
      </p:sp>
      <p:sp>
        <p:nvSpPr>
          <p:cNvPr id="10" name="Freeform 10">
            <a:extLst>
              <a:ext uri="{FF2B5EF4-FFF2-40B4-BE49-F238E27FC236}">
                <a16:creationId xmlns:a16="http://schemas.microsoft.com/office/drawing/2014/main" id="{054F10E4-0307-1097-7C25-C08BFDED1BF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6" name="Group 5">
            <a:extLst>
              <a:ext uri="{FF2B5EF4-FFF2-40B4-BE49-F238E27FC236}">
                <a16:creationId xmlns:a16="http://schemas.microsoft.com/office/drawing/2014/main" id="{0A0B91F5-28A2-47F1-5028-93600BE8C811}"/>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BB09EE83-FC6F-F311-23B4-D2E37E08E17C}"/>
                </a:ext>
              </a:extLst>
            </p:cNvPr>
            <p:cNvGrpSpPr/>
            <p:nvPr/>
          </p:nvGrpSpPr>
          <p:grpSpPr>
            <a:xfrm>
              <a:off x="1028700" y="540000"/>
              <a:ext cx="16230600" cy="613410"/>
              <a:chOff x="0" y="142130"/>
              <a:chExt cx="21640800" cy="1642694"/>
            </a:xfrm>
          </p:grpSpPr>
          <p:sp>
            <p:nvSpPr>
              <p:cNvPr id="13" name="AutoShape 4">
                <a:extLst>
                  <a:ext uri="{FF2B5EF4-FFF2-40B4-BE49-F238E27FC236}">
                    <a16:creationId xmlns:a16="http://schemas.microsoft.com/office/drawing/2014/main" id="{8BCA1C0F-B2C8-7CE8-7559-7E9457DF52F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4" name="TextBox 5">
                <a:extLst>
                  <a:ext uri="{FF2B5EF4-FFF2-40B4-BE49-F238E27FC236}">
                    <a16:creationId xmlns:a16="http://schemas.microsoft.com/office/drawing/2014/main" id="{2763F47C-3E20-C25F-75B8-8BD1AB109DE6}"/>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515A35C9-9BCF-05E7-D216-2557ACCC969F}"/>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0B1C077A-771C-C25C-6B0E-8FBB0919CCFE}"/>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675399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CE0F-0677-174C-FBCF-EDB822A931F0}"/>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AE2CAD3C-9ADB-C31C-62E6-14BD60E5BC51}"/>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E04C1623-F706-191A-430E-7B858E404BC4}"/>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82D6BD45-3CE7-1B41-0BD9-2A279E1548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2B9ED224-C117-1254-BE64-1C9CA4A265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61AF1AA1-3032-A071-A306-17758C0A4E16}"/>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4E8588F1-AA91-62B0-38F1-B118FFCF6D19}"/>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ECE228C7-55AF-1A99-B150-5E209F35687E}"/>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D3781D20-55D4-9C39-502B-1DDBE1598E7E}"/>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CCE37C65-0900-677A-163C-4A8503EBD3E7}"/>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FB1CEB0C-EB8A-C6C5-0ACA-BBE991AF1075}"/>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ED6FC22E-D93C-8E56-E80C-D6142392F7AA}"/>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1E666FE0-1068-829B-477A-8DCA6D376098}"/>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F4BE0F4A-6DD1-59F8-61C6-E7DCFF4E17D9}"/>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09A35A8D-F67F-BE7F-0B18-9C0EF8720886}"/>
              </a:ext>
            </a:extLst>
          </p:cNvPr>
          <p:cNvSpPr txBox="1"/>
          <p:nvPr/>
        </p:nvSpPr>
        <p:spPr>
          <a:xfrm>
            <a:off x="1029600" y="1836000"/>
            <a:ext cx="3922869"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a:t>
            </a:r>
          </a:p>
        </p:txBody>
      </p:sp>
      <p:grpSp>
        <p:nvGrpSpPr>
          <p:cNvPr id="2" name="Group 1">
            <a:extLst>
              <a:ext uri="{FF2B5EF4-FFF2-40B4-BE49-F238E27FC236}">
                <a16:creationId xmlns:a16="http://schemas.microsoft.com/office/drawing/2014/main" id="{AC80C499-3F92-668B-9963-E48437A0D05A}"/>
              </a:ext>
            </a:extLst>
          </p:cNvPr>
          <p:cNvGrpSpPr/>
          <p:nvPr/>
        </p:nvGrpSpPr>
        <p:grpSpPr>
          <a:xfrm>
            <a:off x="990600" y="540000"/>
            <a:ext cx="16268700" cy="613410"/>
            <a:chOff x="990600" y="540000"/>
            <a:chExt cx="16268700" cy="613410"/>
          </a:xfrm>
        </p:grpSpPr>
        <p:grpSp>
          <p:nvGrpSpPr>
            <p:cNvPr id="13" name="Group 3">
              <a:extLst>
                <a:ext uri="{FF2B5EF4-FFF2-40B4-BE49-F238E27FC236}">
                  <a16:creationId xmlns:a16="http://schemas.microsoft.com/office/drawing/2014/main" id="{2956861C-D665-9D00-7DCA-0161F35BB407}"/>
                </a:ext>
              </a:extLst>
            </p:cNvPr>
            <p:cNvGrpSpPr/>
            <p:nvPr/>
          </p:nvGrpSpPr>
          <p:grpSpPr>
            <a:xfrm>
              <a:off x="1028700" y="540000"/>
              <a:ext cx="16230600" cy="613410"/>
              <a:chOff x="0" y="142130"/>
              <a:chExt cx="21640800" cy="1642694"/>
            </a:xfrm>
          </p:grpSpPr>
          <p:sp>
            <p:nvSpPr>
              <p:cNvPr id="18" name="AutoShape 4">
                <a:extLst>
                  <a:ext uri="{FF2B5EF4-FFF2-40B4-BE49-F238E27FC236}">
                    <a16:creationId xmlns:a16="http://schemas.microsoft.com/office/drawing/2014/main" id="{C5696C43-FFC7-9FDA-0373-58A93672519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26" name="TextBox 5">
                <a:extLst>
                  <a:ext uri="{FF2B5EF4-FFF2-40B4-BE49-F238E27FC236}">
                    <a16:creationId xmlns:a16="http://schemas.microsoft.com/office/drawing/2014/main" id="{5BE63F48-32D0-BD66-C6AA-93033DD60DD5}"/>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5" name="TextBox 14">
              <a:extLst>
                <a:ext uri="{FF2B5EF4-FFF2-40B4-BE49-F238E27FC236}">
                  <a16:creationId xmlns:a16="http://schemas.microsoft.com/office/drawing/2014/main" id="{96F8E3E6-883C-61F2-7D49-6A3ADDBE164B}"/>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7" name="TextBox 16">
              <a:extLst>
                <a:ext uri="{FF2B5EF4-FFF2-40B4-BE49-F238E27FC236}">
                  <a16:creationId xmlns:a16="http://schemas.microsoft.com/office/drawing/2014/main" id="{BF42E3D9-D33C-3479-C670-424B72464255}"/>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028585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FFCB-7CFE-3671-DCCD-53A49A4579D1}"/>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9E528E2E-F9FF-E0FF-B196-51DFCA5BBE1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00AC9221-DEAD-6FC9-F24D-222F94340A1E}"/>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6C893FB8-FEDA-D9B1-46EB-7488B72060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886D530D-78E1-4A0F-9F86-2AC1A3393C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B882CA17-2AEA-B27D-5106-9470C79A53DF}"/>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82AFF16E-B85C-CFCC-4913-AA6EB808357C}"/>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74591D4C-FAD6-B198-50DD-680786F9E850}"/>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39F35A6F-6A17-CEA6-A681-2634D93FDEC6}"/>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5D47047D-328F-EAFE-0D79-124AE07342B5}"/>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033B1A0-6F14-C01F-2C89-3F022B093B7C}"/>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E7B62594-61A4-5551-E670-A12E9BEEF3E1}"/>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6A6B72DA-00E5-4901-BA58-F11D55D0BAB9}"/>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EAAA5330-6A9A-370C-C2D9-3BF51E29F4CA}"/>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870E01FD-19C0-A1CB-2541-534CA71AE164}"/>
              </a:ext>
            </a:extLst>
          </p:cNvPr>
          <p:cNvSpPr txBox="1"/>
          <p:nvPr/>
        </p:nvSpPr>
        <p:spPr>
          <a:xfrm>
            <a:off x="1029600" y="1836000"/>
            <a:ext cx="10209846"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software engineering</a:t>
            </a:r>
          </a:p>
        </p:txBody>
      </p:sp>
      <p:sp>
        <p:nvSpPr>
          <p:cNvPr id="13" name="TextBox 12">
            <a:extLst>
              <a:ext uri="{FF2B5EF4-FFF2-40B4-BE49-F238E27FC236}">
                <a16:creationId xmlns:a16="http://schemas.microsoft.com/office/drawing/2014/main" id="{CE8F5B83-F3D7-82F5-AFC0-104D1A0E79F5}"/>
              </a:ext>
            </a:extLst>
          </p:cNvPr>
          <p:cNvSpPr txBox="1"/>
          <p:nvPr/>
        </p:nvSpPr>
        <p:spPr>
          <a:xfrm>
            <a:off x="1304344" y="7311647"/>
            <a:ext cx="2877711"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some sort of data</a:t>
            </a:r>
          </a:p>
        </p:txBody>
      </p:sp>
      <p:cxnSp>
        <p:nvCxnSpPr>
          <p:cNvPr id="15" name="Straight Arrow Connector 14">
            <a:extLst>
              <a:ext uri="{FF2B5EF4-FFF2-40B4-BE49-F238E27FC236}">
                <a16:creationId xmlns:a16="http://schemas.microsoft.com/office/drawing/2014/main" id="{0FC298F7-0BB2-DD01-2B4D-A4440270EDCE}"/>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757E248-6198-047C-5953-5CCD26C9DDEC}"/>
              </a:ext>
            </a:extLst>
          </p:cNvPr>
          <p:cNvSpPr txBox="1"/>
          <p:nvPr/>
        </p:nvSpPr>
        <p:spPr>
          <a:xfrm>
            <a:off x="12370989" y="7311647"/>
            <a:ext cx="3804247" cy="461665"/>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some other sort of data</a:t>
            </a:r>
          </a:p>
        </p:txBody>
      </p:sp>
      <p:cxnSp>
        <p:nvCxnSpPr>
          <p:cNvPr id="18" name="Straight Arrow Connector 17">
            <a:extLst>
              <a:ext uri="{FF2B5EF4-FFF2-40B4-BE49-F238E27FC236}">
                <a16:creationId xmlns:a16="http://schemas.microsoft.com/office/drawing/2014/main" id="{3C34304E-7FD3-A77D-B407-65C8BC9059C8}"/>
              </a:ext>
            </a:extLst>
          </p:cNvPr>
          <p:cNvCxnSpPr/>
          <p:nvPr/>
        </p:nvCxnSpPr>
        <p:spPr>
          <a:xfrm flipV="1">
            <a:off x="14273113"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443FE0ED-B859-E6EF-7D04-9F47E506B1C2}"/>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64C378D5-0E90-D483-65B1-3FBF068B20E1}"/>
              </a:ext>
            </a:extLst>
          </p:cNvPr>
          <p:cNvSpPr txBox="1"/>
          <p:nvPr/>
        </p:nvSpPr>
        <p:spPr>
          <a:xfrm>
            <a:off x="6582817" y="7311647"/>
            <a:ext cx="4139275" cy="830997"/>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does exactly the specified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things with the data</a:t>
            </a:r>
          </a:p>
        </p:txBody>
      </p:sp>
      <p:grpSp>
        <p:nvGrpSpPr>
          <p:cNvPr id="2" name="Group 1">
            <a:extLst>
              <a:ext uri="{FF2B5EF4-FFF2-40B4-BE49-F238E27FC236}">
                <a16:creationId xmlns:a16="http://schemas.microsoft.com/office/drawing/2014/main" id="{90671FF4-E930-F555-01E3-CB78EBC808C1}"/>
              </a:ext>
            </a:extLst>
          </p:cNvPr>
          <p:cNvGrpSpPr/>
          <p:nvPr/>
        </p:nvGrpSpPr>
        <p:grpSpPr>
          <a:xfrm>
            <a:off x="990600" y="540000"/>
            <a:ext cx="16268700" cy="613410"/>
            <a:chOff x="990600" y="540000"/>
            <a:chExt cx="16268700" cy="613410"/>
          </a:xfrm>
        </p:grpSpPr>
        <p:grpSp>
          <p:nvGrpSpPr>
            <p:cNvPr id="27" name="Group 3">
              <a:extLst>
                <a:ext uri="{FF2B5EF4-FFF2-40B4-BE49-F238E27FC236}">
                  <a16:creationId xmlns:a16="http://schemas.microsoft.com/office/drawing/2014/main" id="{B77A1B33-6184-3F0B-AC87-21A954E90D3F}"/>
                </a:ext>
              </a:extLst>
            </p:cNvPr>
            <p:cNvGrpSpPr/>
            <p:nvPr/>
          </p:nvGrpSpPr>
          <p:grpSpPr>
            <a:xfrm>
              <a:off x="1028700" y="540000"/>
              <a:ext cx="16230600" cy="613410"/>
              <a:chOff x="0" y="142130"/>
              <a:chExt cx="21640800" cy="1642694"/>
            </a:xfrm>
          </p:grpSpPr>
          <p:sp>
            <p:nvSpPr>
              <p:cNvPr id="31" name="AutoShape 4">
                <a:extLst>
                  <a:ext uri="{FF2B5EF4-FFF2-40B4-BE49-F238E27FC236}">
                    <a16:creationId xmlns:a16="http://schemas.microsoft.com/office/drawing/2014/main" id="{DBCD7CC2-055A-7EFA-79BB-BE4D8A93BCEB}"/>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2" name="TextBox 5">
                <a:extLst>
                  <a:ext uri="{FF2B5EF4-FFF2-40B4-BE49-F238E27FC236}">
                    <a16:creationId xmlns:a16="http://schemas.microsoft.com/office/drawing/2014/main" id="{03C0B03B-CF01-2B54-F83C-D35FC454B0F8}"/>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29" name="TextBox 28">
              <a:extLst>
                <a:ext uri="{FF2B5EF4-FFF2-40B4-BE49-F238E27FC236}">
                  <a16:creationId xmlns:a16="http://schemas.microsoft.com/office/drawing/2014/main" id="{1E1DA18D-5B4D-E221-5360-59239B667DF9}"/>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0" name="TextBox 29">
              <a:extLst>
                <a:ext uri="{FF2B5EF4-FFF2-40B4-BE49-F238E27FC236}">
                  <a16:creationId xmlns:a16="http://schemas.microsoft.com/office/drawing/2014/main" id="{F3077900-04B3-B816-2717-722B544D12E2}"/>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946539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7DBAA-FD58-C1F8-CA4F-CB7BFE37BB01}"/>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AFD902F2-5E48-1912-D223-0E4E6F6CB8D5}"/>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598C00E6-CFEF-1F1B-E88B-B0FB71155CF6}"/>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C91CD709-6E0C-DD39-898D-0961E97ACA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F9413A58-6565-3965-C445-9DF998A04D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6ED468DD-6D5A-BF5E-BA3A-6C3C781CFDCE}"/>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CAF5586B-8F61-A883-3FBE-9E9416F31A94}"/>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D10C74A8-D69F-BDE9-DB9E-4FBC3C489BB6}"/>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DD88373D-D282-38BC-783A-2B289C4943B8}"/>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6D0C8839-62AB-6E8F-1C83-2361D4062A4B}"/>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594BB82-345C-87C4-B026-72FECD5DCCDC}"/>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78AAC767-A575-16A7-C00D-A72125E361B1}"/>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7D318085-B7A4-EA69-3C48-EF5E31400093}"/>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702CA30E-A619-6C63-2CF8-B6EAFEFD1604}"/>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AE5CB2D9-A00E-D754-A6D0-5DA07FCA1045}"/>
              </a:ext>
            </a:extLst>
          </p:cNvPr>
          <p:cNvSpPr txBox="1"/>
          <p:nvPr/>
        </p:nvSpPr>
        <p:spPr>
          <a:xfrm>
            <a:off x="1029600" y="1836000"/>
            <a:ext cx="13486384"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p:txBody>
      </p:sp>
      <p:cxnSp>
        <p:nvCxnSpPr>
          <p:cNvPr id="15" name="Straight Arrow Connector 14">
            <a:extLst>
              <a:ext uri="{FF2B5EF4-FFF2-40B4-BE49-F238E27FC236}">
                <a16:creationId xmlns:a16="http://schemas.microsoft.com/office/drawing/2014/main" id="{5DCD6D6E-EADD-4705-49C2-106A4A5328CC}"/>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F3709AA-68CB-F45E-110C-71D7C6B55765}"/>
              </a:ext>
            </a:extLst>
          </p:cNvPr>
          <p:cNvCxnSpPr/>
          <p:nvPr/>
        </p:nvCxnSpPr>
        <p:spPr>
          <a:xfrm flipV="1">
            <a:off x="14273113"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F483442A-324C-0325-4C4B-846C23AD45FA}"/>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pic>
        <p:nvPicPr>
          <p:cNvPr id="27" name="Graphic 26" descr="Badge Question Mark with solid fill">
            <a:extLst>
              <a:ext uri="{FF2B5EF4-FFF2-40B4-BE49-F238E27FC236}">
                <a16:creationId xmlns:a16="http://schemas.microsoft.com/office/drawing/2014/main" id="{1A8E05DF-8EC3-8A24-C537-F8254FDB16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03200" y="7233312"/>
            <a:ext cx="1080000" cy="1080000"/>
          </a:xfrm>
          <a:prstGeom prst="rect">
            <a:avLst/>
          </a:prstGeom>
        </p:spPr>
      </p:pic>
      <p:pic>
        <p:nvPicPr>
          <p:cNvPr id="30" name="Graphic 29" descr="Badge Question Mark with solid fill">
            <a:extLst>
              <a:ext uri="{FF2B5EF4-FFF2-40B4-BE49-F238E27FC236}">
                <a16:creationId xmlns:a16="http://schemas.microsoft.com/office/drawing/2014/main" id="{037CA8B1-BF30-E9E2-31A4-6A9F12E298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33113" y="7233312"/>
            <a:ext cx="1080000" cy="1080000"/>
          </a:xfrm>
          <a:prstGeom prst="rect">
            <a:avLst/>
          </a:prstGeom>
        </p:spPr>
      </p:pic>
      <p:pic>
        <p:nvPicPr>
          <p:cNvPr id="32" name="Graphic 31" descr="Badge Question Mark with solid fill">
            <a:extLst>
              <a:ext uri="{FF2B5EF4-FFF2-40B4-BE49-F238E27FC236}">
                <a16:creationId xmlns:a16="http://schemas.microsoft.com/office/drawing/2014/main" id="{B98EAAA8-4712-F71C-0551-E949644005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12455" y="7233312"/>
            <a:ext cx="1080000" cy="1080000"/>
          </a:xfrm>
          <a:prstGeom prst="rect">
            <a:avLst/>
          </a:prstGeom>
        </p:spPr>
      </p:pic>
      <p:grpSp>
        <p:nvGrpSpPr>
          <p:cNvPr id="2" name="Group 1">
            <a:extLst>
              <a:ext uri="{FF2B5EF4-FFF2-40B4-BE49-F238E27FC236}">
                <a16:creationId xmlns:a16="http://schemas.microsoft.com/office/drawing/2014/main" id="{4962DD70-C38C-A8EE-E21D-7F292772E634}"/>
              </a:ext>
            </a:extLst>
          </p:cNvPr>
          <p:cNvGrpSpPr/>
          <p:nvPr/>
        </p:nvGrpSpPr>
        <p:grpSpPr>
          <a:xfrm>
            <a:off x="990600" y="540000"/>
            <a:ext cx="16268700" cy="613410"/>
            <a:chOff x="990600" y="540000"/>
            <a:chExt cx="16268700" cy="613410"/>
          </a:xfrm>
        </p:grpSpPr>
        <p:grpSp>
          <p:nvGrpSpPr>
            <p:cNvPr id="13" name="Group 3">
              <a:extLst>
                <a:ext uri="{FF2B5EF4-FFF2-40B4-BE49-F238E27FC236}">
                  <a16:creationId xmlns:a16="http://schemas.microsoft.com/office/drawing/2014/main" id="{E3F0DAD0-B23C-1AD7-7285-ECC0371C947F}"/>
                </a:ext>
              </a:extLst>
            </p:cNvPr>
            <p:cNvGrpSpPr/>
            <p:nvPr/>
          </p:nvGrpSpPr>
          <p:grpSpPr>
            <a:xfrm>
              <a:off x="1028700" y="540000"/>
              <a:ext cx="16230600" cy="613410"/>
              <a:chOff x="0" y="142130"/>
              <a:chExt cx="21640800" cy="1642694"/>
            </a:xfrm>
          </p:grpSpPr>
          <p:sp>
            <p:nvSpPr>
              <p:cNvPr id="29" name="AutoShape 4">
                <a:extLst>
                  <a:ext uri="{FF2B5EF4-FFF2-40B4-BE49-F238E27FC236}">
                    <a16:creationId xmlns:a16="http://schemas.microsoft.com/office/drawing/2014/main" id="{A932CE5A-12DE-5EC4-2DEA-2F61DB2832B1}"/>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1" name="TextBox 5">
                <a:extLst>
                  <a:ext uri="{FF2B5EF4-FFF2-40B4-BE49-F238E27FC236}">
                    <a16:creationId xmlns:a16="http://schemas.microsoft.com/office/drawing/2014/main" id="{62ACF6C6-2838-986A-5C62-F62A43F3A987}"/>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7" name="TextBox 16">
              <a:extLst>
                <a:ext uri="{FF2B5EF4-FFF2-40B4-BE49-F238E27FC236}">
                  <a16:creationId xmlns:a16="http://schemas.microsoft.com/office/drawing/2014/main" id="{2493ADFE-38F5-C1C3-5EFB-6B593D4F5017}"/>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28" name="TextBox 27">
              <a:extLst>
                <a:ext uri="{FF2B5EF4-FFF2-40B4-BE49-F238E27FC236}">
                  <a16:creationId xmlns:a16="http://schemas.microsoft.com/office/drawing/2014/main" id="{26962C10-36E9-3DB9-EB23-310BF2358B1A}"/>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518227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0392-D25A-9E56-049F-BEF69CA31BFF}"/>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DCC05640-4C7D-7D5A-85B3-D64BAE015F6A}"/>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8B533CD9-3DE7-CE8A-B54B-16DBCA4E12FE}"/>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3C2EB174-A397-D886-2F09-FB6FFCE5F8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2AD31E17-8FF8-7DF9-A985-3214B28D13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462E1599-BFB4-92DA-EA0C-760AB2BD305C}"/>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11B9255C-015A-15DB-13D5-077C2B8A334F}"/>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EF34B560-C96C-2B5B-5189-32DE1C09E292}"/>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8C0FBEBE-20BA-95FF-5414-3E1FD16132B6}"/>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5027F659-8B4B-D89C-8C04-ADF574AA630A}"/>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5710994-7D53-83C3-8C29-6D1FE0E2976A}"/>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653E82F7-A56C-6695-47C2-617B3593DC9E}"/>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01B562F1-5805-C43C-F8BE-741F85A602A0}"/>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7CD80562-C12E-EBC5-CCF7-A3C5AEAFB531}"/>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E8C05F5A-B341-B3EA-99F1-7F984F452206}"/>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one approach</a:t>
            </a:r>
          </a:p>
        </p:txBody>
      </p:sp>
      <p:sp>
        <p:nvSpPr>
          <p:cNvPr id="13" name="TextBox 12">
            <a:extLst>
              <a:ext uri="{FF2B5EF4-FFF2-40B4-BE49-F238E27FC236}">
                <a16:creationId xmlns:a16="http://schemas.microsoft.com/office/drawing/2014/main" id="{FB9E90FF-366C-D561-E71A-700E48A52384}"/>
              </a:ext>
            </a:extLst>
          </p:cNvPr>
          <p:cNvSpPr txBox="1"/>
          <p:nvPr/>
        </p:nvSpPr>
        <p:spPr>
          <a:xfrm>
            <a:off x="933249" y="7295971"/>
            <a:ext cx="3619902"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principles, policies,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guidelines, intentions,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strategies etc</a:t>
            </a:r>
          </a:p>
        </p:txBody>
      </p:sp>
      <p:cxnSp>
        <p:nvCxnSpPr>
          <p:cNvPr id="15" name="Straight Arrow Connector 14">
            <a:extLst>
              <a:ext uri="{FF2B5EF4-FFF2-40B4-BE49-F238E27FC236}">
                <a16:creationId xmlns:a16="http://schemas.microsoft.com/office/drawing/2014/main" id="{DA8F40C5-A502-33A4-B958-E61FE7477405}"/>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020CAD0E-71E3-AAC2-FA2B-59FBC3FA9E6B}"/>
              </a:ext>
            </a:extLst>
          </p:cNvPr>
          <p:cNvSpPr txBox="1"/>
          <p:nvPr/>
        </p:nvSpPr>
        <p:spPr>
          <a:xfrm>
            <a:off x="12863111" y="7308591"/>
            <a:ext cx="2820003" cy="461665"/>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effects on people</a:t>
            </a:r>
          </a:p>
        </p:txBody>
      </p:sp>
      <p:cxnSp>
        <p:nvCxnSpPr>
          <p:cNvPr id="18" name="Straight Arrow Connector 17">
            <a:extLst>
              <a:ext uri="{FF2B5EF4-FFF2-40B4-BE49-F238E27FC236}">
                <a16:creationId xmlns:a16="http://schemas.microsoft.com/office/drawing/2014/main" id="{1E1DCE3B-87B9-74E6-859E-7B9E3EFF9068}"/>
              </a:ext>
            </a:extLst>
          </p:cNvPr>
          <p:cNvCxnSpPr/>
          <p:nvPr/>
        </p:nvCxnSpPr>
        <p:spPr>
          <a:xfrm flipV="1">
            <a:off x="14273113"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181FBEDD-E338-876C-E043-52B7EEFE0EA2}"/>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328BE39D-43EB-92CD-E885-FDC253BD5E7E}"/>
              </a:ext>
            </a:extLst>
          </p:cNvPr>
          <p:cNvSpPr txBox="1"/>
          <p:nvPr/>
        </p:nvSpPr>
        <p:spPr>
          <a:xfrm>
            <a:off x="7420389" y="7311647"/>
            <a:ext cx="2464136" cy="830997"/>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we don’t need/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want to know</a:t>
            </a:r>
          </a:p>
        </p:txBody>
      </p:sp>
      <p:grpSp>
        <p:nvGrpSpPr>
          <p:cNvPr id="2" name="Group 1">
            <a:extLst>
              <a:ext uri="{FF2B5EF4-FFF2-40B4-BE49-F238E27FC236}">
                <a16:creationId xmlns:a16="http://schemas.microsoft.com/office/drawing/2014/main" id="{84FF3202-A140-E65F-3BA2-941129454766}"/>
              </a:ext>
            </a:extLst>
          </p:cNvPr>
          <p:cNvGrpSpPr/>
          <p:nvPr/>
        </p:nvGrpSpPr>
        <p:grpSpPr>
          <a:xfrm>
            <a:off x="990600" y="540000"/>
            <a:ext cx="16268700" cy="613410"/>
            <a:chOff x="990600" y="540000"/>
            <a:chExt cx="16268700" cy="613410"/>
          </a:xfrm>
        </p:grpSpPr>
        <p:grpSp>
          <p:nvGrpSpPr>
            <p:cNvPr id="27" name="Group 3">
              <a:extLst>
                <a:ext uri="{FF2B5EF4-FFF2-40B4-BE49-F238E27FC236}">
                  <a16:creationId xmlns:a16="http://schemas.microsoft.com/office/drawing/2014/main" id="{B7B1F9BF-0BEC-C72F-D02E-7DDFA01BDD6A}"/>
                </a:ext>
              </a:extLst>
            </p:cNvPr>
            <p:cNvGrpSpPr/>
            <p:nvPr/>
          </p:nvGrpSpPr>
          <p:grpSpPr>
            <a:xfrm>
              <a:off x="1028700" y="540000"/>
              <a:ext cx="16230600" cy="613410"/>
              <a:chOff x="0" y="142130"/>
              <a:chExt cx="21640800" cy="1642694"/>
            </a:xfrm>
          </p:grpSpPr>
          <p:sp>
            <p:nvSpPr>
              <p:cNvPr id="31" name="AutoShape 4">
                <a:extLst>
                  <a:ext uri="{FF2B5EF4-FFF2-40B4-BE49-F238E27FC236}">
                    <a16:creationId xmlns:a16="http://schemas.microsoft.com/office/drawing/2014/main" id="{EE549699-FBCF-E865-58B2-2A2140DD7DD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2" name="TextBox 5">
                <a:extLst>
                  <a:ext uri="{FF2B5EF4-FFF2-40B4-BE49-F238E27FC236}">
                    <a16:creationId xmlns:a16="http://schemas.microsoft.com/office/drawing/2014/main" id="{16254671-F936-4BF7-FC25-14B7355B0B9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29" name="TextBox 28">
              <a:extLst>
                <a:ext uri="{FF2B5EF4-FFF2-40B4-BE49-F238E27FC236}">
                  <a16:creationId xmlns:a16="http://schemas.microsoft.com/office/drawing/2014/main" id="{506B4409-2EFC-B0A8-9CE8-5EA2A9CA7928}"/>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0" name="TextBox 29">
              <a:extLst>
                <a:ext uri="{FF2B5EF4-FFF2-40B4-BE49-F238E27FC236}">
                  <a16:creationId xmlns:a16="http://schemas.microsoft.com/office/drawing/2014/main" id="{F252B38F-13EA-423C-B9FF-BDDF59C4284F}"/>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817523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593DF-DE93-6D44-1DB2-54F0A226C38B}"/>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652EBACF-4E95-D692-12EC-A4F4893B58F5}"/>
              </a:ext>
            </a:extLst>
          </p:cNvPr>
          <p:cNvGrpSpPr/>
          <p:nvPr/>
        </p:nvGrpSpPr>
        <p:grpSpPr>
          <a:xfrm>
            <a:off x="1028700" y="540000"/>
            <a:ext cx="16230600" cy="613410"/>
            <a:chOff x="1028700" y="1247897"/>
            <a:chExt cx="16230600" cy="613410"/>
          </a:xfrm>
        </p:grpSpPr>
        <p:grpSp>
          <p:nvGrpSpPr>
            <p:cNvPr id="3" name="Group 3">
              <a:extLst>
                <a:ext uri="{FF2B5EF4-FFF2-40B4-BE49-F238E27FC236}">
                  <a16:creationId xmlns:a16="http://schemas.microsoft.com/office/drawing/2014/main" id="{18BE8C1B-2E63-9C63-144F-6C2BA5B1A82F}"/>
                </a:ext>
              </a:extLst>
            </p:cNvPr>
            <p:cNvGrpSpPr/>
            <p:nvPr/>
          </p:nvGrpSpPr>
          <p:grpSpPr>
            <a:xfrm>
              <a:off x="1028700" y="1247897"/>
              <a:ext cx="16230600" cy="613410"/>
              <a:chOff x="0" y="142130"/>
              <a:chExt cx="21640800" cy="1642694"/>
            </a:xfrm>
          </p:grpSpPr>
          <p:sp>
            <p:nvSpPr>
              <p:cNvPr id="4" name="AutoShape 4">
                <a:extLst>
                  <a:ext uri="{FF2B5EF4-FFF2-40B4-BE49-F238E27FC236}">
                    <a16:creationId xmlns:a16="http://schemas.microsoft.com/office/drawing/2014/main" id="{76E4CF04-0AF2-6EA1-D6A1-4F182E72536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30239804-CB3A-94F1-71CD-76F4A90E49FD}"/>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9" name="TextBox 9">
              <a:extLst>
                <a:ext uri="{FF2B5EF4-FFF2-40B4-BE49-F238E27FC236}">
                  <a16:creationId xmlns:a16="http://schemas.microsoft.com/office/drawing/2014/main" id="{39C16690-124B-FA65-0814-709618DC97B4}"/>
                </a:ext>
              </a:extLst>
            </p:cNvPr>
            <p:cNvSpPr txBox="1"/>
            <p:nvPr/>
          </p:nvSpPr>
          <p:spPr>
            <a:xfrm>
              <a:off x="10859618" y="1371200"/>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a:t>
              </a:r>
            </a:p>
          </p:txBody>
        </p:sp>
      </p:grpSp>
      <p:sp>
        <p:nvSpPr>
          <p:cNvPr id="10" name="Freeform 10">
            <a:extLst>
              <a:ext uri="{FF2B5EF4-FFF2-40B4-BE49-F238E27FC236}">
                <a16:creationId xmlns:a16="http://schemas.microsoft.com/office/drawing/2014/main" id="{297E6B53-1E86-635B-EB5D-E52E8912224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FC609A0F-FF6A-3C75-37C2-481E358263A4}"/>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2CDAD35A-0A05-9A52-D997-03B65456B6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E1E59DC1-0648-5BFB-0849-376182FF79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EE361458-4813-FFF1-A58C-D4294524C575}"/>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54D3F732-9560-9A7D-8023-6C5592A23734}"/>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3BD5F1B9-F5B5-27AB-24C9-E014AED9A1E7}"/>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BB52138C-D19C-BA39-DB0C-03C3E50B14AF}"/>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A2D1C064-603F-18D7-ACC1-1A2FCFBC2AA7}"/>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A1F68825-C5F3-4370-6FA7-6ADA93B412FA}"/>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36D23208-16F1-2DF4-E939-22CF5681E3B6}"/>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BAB7A8A2-97EF-3E73-E43D-3C9382DF0A89}"/>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61C6F3D5-591A-6761-14F0-281B020053F0}"/>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6DD5A68A-0A5B-44E0-AC39-B75197F0C00C}"/>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another approach</a:t>
            </a:r>
          </a:p>
        </p:txBody>
      </p:sp>
      <p:sp>
        <p:nvSpPr>
          <p:cNvPr id="13" name="TextBox 12">
            <a:extLst>
              <a:ext uri="{FF2B5EF4-FFF2-40B4-BE49-F238E27FC236}">
                <a16:creationId xmlns:a16="http://schemas.microsoft.com/office/drawing/2014/main" id="{0E006C51-88CA-E02A-87BF-0C7219596B5F}"/>
              </a:ext>
            </a:extLst>
          </p:cNvPr>
          <p:cNvSpPr txBox="1"/>
          <p:nvPr/>
        </p:nvSpPr>
        <p:spPr>
          <a:xfrm>
            <a:off x="933249" y="7316496"/>
            <a:ext cx="3619902"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principles, policies,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guidelines, intentions,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strategies etc</a:t>
            </a:r>
          </a:p>
        </p:txBody>
      </p:sp>
      <p:cxnSp>
        <p:nvCxnSpPr>
          <p:cNvPr id="15" name="Straight Arrow Connector 14">
            <a:extLst>
              <a:ext uri="{FF2B5EF4-FFF2-40B4-BE49-F238E27FC236}">
                <a16:creationId xmlns:a16="http://schemas.microsoft.com/office/drawing/2014/main" id="{8F31B31C-B129-DA2E-172F-74F16E58CA1A}"/>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C5339FD7-EB28-C8D8-89A3-47D8093A80E6}"/>
              </a:ext>
            </a:extLst>
          </p:cNvPr>
          <p:cNvSpPr txBox="1"/>
          <p:nvPr/>
        </p:nvSpPr>
        <p:spPr>
          <a:xfrm>
            <a:off x="12863111" y="7305038"/>
            <a:ext cx="2820003" cy="461665"/>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effects on people</a:t>
            </a:r>
          </a:p>
        </p:txBody>
      </p:sp>
      <p:cxnSp>
        <p:nvCxnSpPr>
          <p:cNvPr id="18" name="Straight Arrow Connector 17">
            <a:extLst>
              <a:ext uri="{FF2B5EF4-FFF2-40B4-BE49-F238E27FC236}">
                <a16:creationId xmlns:a16="http://schemas.microsoft.com/office/drawing/2014/main" id="{AD2ACF9D-1AD9-CA5A-D59D-3C020963B546}"/>
              </a:ext>
            </a:extLst>
          </p:cNvPr>
          <p:cNvCxnSpPr/>
          <p:nvPr/>
        </p:nvCxnSpPr>
        <p:spPr>
          <a:xfrm flipV="1">
            <a:off x="14273113"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82A5EA46-48E2-EB70-8BA4-2324650FD9F7}"/>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C28A9FE2-A25B-C374-D6FD-9835F571C3CE}"/>
              </a:ext>
            </a:extLst>
          </p:cNvPr>
          <p:cNvSpPr txBox="1"/>
          <p:nvPr/>
        </p:nvSpPr>
        <p:spPr>
          <a:xfrm>
            <a:off x="6858549" y="7311647"/>
            <a:ext cx="3587841"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inconvenient specifics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about technology and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how it is used</a:t>
            </a:r>
          </a:p>
        </p:txBody>
      </p:sp>
    </p:spTree>
    <p:extLst>
      <p:ext uri="{BB962C8B-B14F-4D97-AF65-F5344CB8AC3E}">
        <p14:creationId xmlns:p14="http://schemas.microsoft.com/office/powerpoint/2010/main" val="907607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6CE9E-CF91-3FA9-3503-2DD08BF02E52}"/>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09F5AD61-B546-B4BE-2696-D804823D6801}"/>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0C06FB40-581B-375E-6BE4-D3BDE87B56E0}"/>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E2F5F7F6-B395-02BE-3BB8-CE2877323D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BB22BE3D-252D-4967-FC3F-44E9957F46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7493B8D6-C7B0-2326-63A6-01DA680E881C}"/>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0C5D97E9-1887-0A32-4DFF-317454D16202}"/>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9D986873-94B2-20FB-14CF-2E62063F83F2}"/>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DA3E2A83-9A09-325B-87C4-001D15EF5D89}"/>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F7B6BCB9-46CA-0DE5-EE0F-94884B9B20AF}"/>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B8E1F820-D837-F829-72D9-F58F1AA89CF0}"/>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5D4CD4A4-5FD9-C170-D056-17CD1837CE91}"/>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6379B267-980A-EECC-70C2-30EABED455D5}"/>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F9898DF3-1398-7C2F-3F27-1A6254057EE6}"/>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9543E742-DA40-60D5-6E31-A2330DBD2FC8}"/>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modelling details</a:t>
            </a:r>
          </a:p>
        </p:txBody>
      </p:sp>
      <p:sp>
        <p:nvSpPr>
          <p:cNvPr id="13" name="TextBox 12">
            <a:extLst>
              <a:ext uri="{FF2B5EF4-FFF2-40B4-BE49-F238E27FC236}">
                <a16:creationId xmlns:a16="http://schemas.microsoft.com/office/drawing/2014/main" id="{B61524A3-F954-3E32-8B51-86F09413C10E}"/>
              </a:ext>
            </a:extLst>
          </p:cNvPr>
          <p:cNvSpPr txBox="1"/>
          <p:nvPr/>
        </p:nvSpPr>
        <p:spPr>
          <a:xfrm>
            <a:off x="606236" y="7315553"/>
            <a:ext cx="4273927"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policies for fairer and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efficient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immigration management</a:t>
            </a:r>
          </a:p>
        </p:txBody>
      </p:sp>
      <p:cxnSp>
        <p:nvCxnSpPr>
          <p:cNvPr id="15" name="Straight Arrow Connector 14">
            <a:extLst>
              <a:ext uri="{FF2B5EF4-FFF2-40B4-BE49-F238E27FC236}">
                <a16:creationId xmlns:a16="http://schemas.microsoft.com/office/drawing/2014/main" id="{99723CA3-9790-D8F7-218E-70F856F117B6}"/>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B4B56D5-B1DF-E9CA-B151-630527A65476}"/>
              </a:ext>
            </a:extLst>
          </p:cNvPr>
          <p:cNvSpPr txBox="1"/>
          <p:nvPr/>
        </p:nvSpPr>
        <p:spPr>
          <a:xfrm>
            <a:off x="12194658" y="7315553"/>
            <a:ext cx="4156907" cy="1200329"/>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correctly classified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refugees, better resource</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allocation</a:t>
            </a:r>
          </a:p>
        </p:txBody>
      </p:sp>
      <p:cxnSp>
        <p:nvCxnSpPr>
          <p:cNvPr id="18" name="Straight Arrow Connector 17">
            <a:extLst>
              <a:ext uri="{FF2B5EF4-FFF2-40B4-BE49-F238E27FC236}">
                <a16:creationId xmlns:a16="http://schemas.microsoft.com/office/drawing/2014/main" id="{8968626B-F384-AB61-33B7-EC1C60CBF0B3}"/>
              </a:ext>
            </a:extLst>
          </p:cNvPr>
          <p:cNvCxnSpPr>
            <a:cxnSpLocks/>
          </p:cNvCxnSpPr>
          <p:nvPr/>
        </p:nvCxnSpPr>
        <p:spPr>
          <a:xfrm flipV="1">
            <a:off x="14273112"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4F2EE8F-8AFF-BF83-58F7-4E411308DEBF}"/>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E9404991-E24A-3F75-D3B0-801CA382C099}"/>
              </a:ext>
            </a:extLst>
          </p:cNvPr>
          <p:cNvSpPr txBox="1"/>
          <p:nvPr/>
        </p:nvSpPr>
        <p:spPr>
          <a:xfrm>
            <a:off x="7237655" y="7311647"/>
            <a:ext cx="2829622"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 new AI product</a:t>
            </a:r>
          </a:p>
        </p:txBody>
      </p:sp>
      <p:grpSp>
        <p:nvGrpSpPr>
          <p:cNvPr id="2" name="Group 1">
            <a:extLst>
              <a:ext uri="{FF2B5EF4-FFF2-40B4-BE49-F238E27FC236}">
                <a16:creationId xmlns:a16="http://schemas.microsoft.com/office/drawing/2014/main" id="{4A3FEEB0-1930-3599-06AF-B8D597AB893C}"/>
              </a:ext>
            </a:extLst>
          </p:cNvPr>
          <p:cNvGrpSpPr/>
          <p:nvPr/>
        </p:nvGrpSpPr>
        <p:grpSpPr>
          <a:xfrm>
            <a:off x="990600" y="540000"/>
            <a:ext cx="16268700" cy="613410"/>
            <a:chOff x="990600" y="540000"/>
            <a:chExt cx="16268700" cy="613410"/>
          </a:xfrm>
        </p:grpSpPr>
        <p:grpSp>
          <p:nvGrpSpPr>
            <p:cNvPr id="27" name="Group 3">
              <a:extLst>
                <a:ext uri="{FF2B5EF4-FFF2-40B4-BE49-F238E27FC236}">
                  <a16:creationId xmlns:a16="http://schemas.microsoft.com/office/drawing/2014/main" id="{E65A9CA9-A086-40D6-CE7C-C769763ED638}"/>
                </a:ext>
              </a:extLst>
            </p:cNvPr>
            <p:cNvGrpSpPr/>
            <p:nvPr/>
          </p:nvGrpSpPr>
          <p:grpSpPr>
            <a:xfrm>
              <a:off x="1028700" y="540000"/>
              <a:ext cx="16230600" cy="613410"/>
              <a:chOff x="0" y="142130"/>
              <a:chExt cx="21640800" cy="1642694"/>
            </a:xfrm>
          </p:grpSpPr>
          <p:sp>
            <p:nvSpPr>
              <p:cNvPr id="31" name="AutoShape 4">
                <a:extLst>
                  <a:ext uri="{FF2B5EF4-FFF2-40B4-BE49-F238E27FC236}">
                    <a16:creationId xmlns:a16="http://schemas.microsoft.com/office/drawing/2014/main" id="{ECF295BF-A269-2D0B-AA8F-EEAA5B01EB4D}"/>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2" name="TextBox 5">
                <a:extLst>
                  <a:ext uri="{FF2B5EF4-FFF2-40B4-BE49-F238E27FC236}">
                    <a16:creationId xmlns:a16="http://schemas.microsoft.com/office/drawing/2014/main" id="{C8FF2354-40A4-8773-F0C5-93FA42D47C3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29" name="TextBox 28">
              <a:extLst>
                <a:ext uri="{FF2B5EF4-FFF2-40B4-BE49-F238E27FC236}">
                  <a16:creationId xmlns:a16="http://schemas.microsoft.com/office/drawing/2014/main" id="{431F6226-393F-AC2A-BA44-94FCA50F76AC}"/>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0" name="TextBox 29">
              <a:extLst>
                <a:ext uri="{FF2B5EF4-FFF2-40B4-BE49-F238E27FC236}">
                  <a16:creationId xmlns:a16="http://schemas.microsoft.com/office/drawing/2014/main" id="{3CBC84AD-E92D-ED5D-DBCE-45652B2A0CA9}"/>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184803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E1DF-25CE-016A-9E23-7B2A722E518A}"/>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CD884357-00E3-6D36-7C9C-036CF600FC9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ED6254E5-2453-4A05-8015-3EA1A8AAD4C3}"/>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6C4389CD-FF89-4075-2790-62E9EA9D48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6828F21E-1C00-E9AC-1CF7-64B1E36003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77093C8D-5B40-1A9C-9C74-C5135E1ED075}"/>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7D9F6F43-C595-2699-9F7E-1F76511E6514}"/>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3F8FB621-D243-861A-7872-AAD07B9228DC}"/>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D0656E0E-1CE4-887F-BE9F-F78CF8DF93E6}"/>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ED9999FD-4842-E659-4918-34A49C797A24}"/>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B6CC599-8B2F-E7A3-D84C-A7BE71EDFF8F}"/>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6AFCD923-1BE6-C3FC-FA0D-EE511F158336}"/>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FE98C8E6-94F5-B5A8-2ADB-5519520686D5}"/>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BE8D2E48-D90D-9A5B-4CBA-03793F21CA20}"/>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67440712-752C-295B-5172-1E8F0C0DA203}"/>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modelling details</a:t>
            </a:r>
          </a:p>
        </p:txBody>
      </p:sp>
      <p:sp>
        <p:nvSpPr>
          <p:cNvPr id="13" name="TextBox 12">
            <a:extLst>
              <a:ext uri="{FF2B5EF4-FFF2-40B4-BE49-F238E27FC236}">
                <a16:creationId xmlns:a16="http://schemas.microsoft.com/office/drawing/2014/main" id="{221C75BC-0390-AEC8-8356-E23266F47F2D}"/>
              </a:ext>
            </a:extLst>
          </p:cNvPr>
          <p:cNvSpPr txBox="1"/>
          <p:nvPr/>
        </p:nvSpPr>
        <p:spPr>
          <a:xfrm>
            <a:off x="606236" y="7315553"/>
            <a:ext cx="4273927"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policies for fairer and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efficient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immigration management</a:t>
            </a:r>
          </a:p>
        </p:txBody>
      </p:sp>
      <p:cxnSp>
        <p:nvCxnSpPr>
          <p:cNvPr id="15" name="Straight Arrow Connector 14">
            <a:extLst>
              <a:ext uri="{FF2B5EF4-FFF2-40B4-BE49-F238E27FC236}">
                <a16:creationId xmlns:a16="http://schemas.microsoft.com/office/drawing/2014/main" id="{B1B382AA-54F9-53C7-B2CD-0BD6B7129D4B}"/>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D1BA0A4E-5197-B9EE-8DC6-8BDDB3284875}"/>
              </a:ext>
            </a:extLst>
          </p:cNvPr>
          <p:cNvSpPr txBox="1"/>
          <p:nvPr/>
        </p:nvSpPr>
        <p:spPr>
          <a:xfrm>
            <a:off x="12194658" y="7315553"/>
            <a:ext cx="4156907" cy="1200329"/>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correctly classified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refugees, better resource</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allocation</a:t>
            </a:r>
          </a:p>
        </p:txBody>
      </p:sp>
      <p:cxnSp>
        <p:nvCxnSpPr>
          <p:cNvPr id="18" name="Straight Arrow Connector 17">
            <a:extLst>
              <a:ext uri="{FF2B5EF4-FFF2-40B4-BE49-F238E27FC236}">
                <a16:creationId xmlns:a16="http://schemas.microsoft.com/office/drawing/2014/main" id="{F6E0F65A-7661-CD9A-F6C3-13CBA005957D}"/>
              </a:ext>
            </a:extLst>
          </p:cNvPr>
          <p:cNvCxnSpPr>
            <a:cxnSpLocks/>
          </p:cNvCxnSpPr>
          <p:nvPr/>
        </p:nvCxnSpPr>
        <p:spPr>
          <a:xfrm flipV="1">
            <a:off x="14273112"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4EA5CDE5-0C6A-B795-4C27-5282B4DFBE6C}"/>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E4E40044-60B8-408F-2408-B3A8DA1B2A7F}"/>
              </a:ext>
            </a:extLst>
          </p:cNvPr>
          <p:cNvSpPr txBox="1"/>
          <p:nvPr/>
        </p:nvSpPr>
        <p:spPr>
          <a:xfrm>
            <a:off x="7237655" y="7311647"/>
            <a:ext cx="2829622"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 new AI product</a:t>
            </a:r>
          </a:p>
        </p:txBody>
      </p:sp>
      <p:grpSp>
        <p:nvGrpSpPr>
          <p:cNvPr id="30" name="Group 29">
            <a:extLst>
              <a:ext uri="{FF2B5EF4-FFF2-40B4-BE49-F238E27FC236}">
                <a16:creationId xmlns:a16="http://schemas.microsoft.com/office/drawing/2014/main" id="{3356488F-EFAF-C6CB-1907-36AEC9FD187A}"/>
              </a:ext>
            </a:extLst>
          </p:cNvPr>
          <p:cNvGrpSpPr/>
          <p:nvPr/>
        </p:nvGrpSpPr>
        <p:grpSpPr>
          <a:xfrm>
            <a:off x="8027925" y="8564265"/>
            <a:ext cx="1249060" cy="1303635"/>
            <a:chOff x="8027925" y="8564265"/>
            <a:chExt cx="1249060" cy="1303635"/>
          </a:xfrm>
        </p:grpSpPr>
        <p:pic>
          <p:nvPicPr>
            <p:cNvPr id="27" name="Graphic 26" descr="Call center with solid fill">
              <a:extLst>
                <a:ext uri="{FF2B5EF4-FFF2-40B4-BE49-F238E27FC236}">
                  <a16:creationId xmlns:a16="http://schemas.microsoft.com/office/drawing/2014/main" id="{33457B08-C4C4-32AD-2D02-F3ABD5FD9C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5255" y="8564265"/>
              <a:ext cx="914400" cy="914400"/>
            </a:xfrm>
            <a:prstGeom prst="rect">
              <a:avLst/>
            </a:prstGeom>
          </p:spPr>
        </p:pic>
        <p:sp>
          <p:nvSpPr>
            <p:cNvPr id="29" name="TextBox 28">
              <a:extLst>
                <a:ext uri="{FF2B5EF4-FFF2-40B4-BE49-F238E27FC236}">
                  <a16:creationId xmlns:a16="http://schemas.microsoft.com/office/drawing/2014/main" id="{7CF465D1-BACC-4F08-28BB-052D829210A7}"/>
                </a:ext>
              </a:extLst>
            </p:cNvPr>
            <p:cNvSpPr txBox="1"/>
            <p:nvPr/>
          </p:nvSpPr>
          <p:spPr>
            <a:xfrm>
              <a:off x="8027925" y="9498568"/>
              <a:ext cx="1249060" cy="369332"/>
            </a:xfrm>
            <a:prstGeom prst="rect">
              <a:avLst/>
            </a:prstGeom>
            <a:noFill/>
          </p:spPr>
          <p:txBody>
            <a:bodyPr wrap="none" rtlCol="0">
              <a:spAutoFit/>
            </a:bodyPr>
            <a:lstStyle/>
            <a:p>
              <a:pPr algn="ctr"/>
              <a:r>
                <a:rPr lang="en-GB" dirty="0">
                  <a:solidFill>
                    <a:schemeClr val="accent2"/>
                  </a:solidFill>
                  <a:latin typeface="Noto Sans" panose="020B0502040504020204" pitchFamily="34" charset="0"/>
                  <a:ea typeface="Noto Sans" panose="020B0502040504020204" pitchFamily="34" charset="0"/>
                  <a:cs typeface="Noto Sans" panose="020B0502040504020204" pitchFamily="34" charset="0"/>
                </a:rPr>
                <a:t>operators</a:t>
              </a:r>
            </a:p>
          </p:txBody>
        </p:sp>
      </p:grpSp>
      <p:grpSp>
        <p:nvGrpSpPr>
          <p:cNvPr id="2" name="Group 1">
            <a:extLst>
              <a:ext uri="{FF2B5EF4-FFF2-40B4-BE49-F238E27FC236}">
                <a16:creationId xmlns:a16="http://schemas.microsoft.com/office/drawing/2014/main" id="{AB68DEF3-31FE-3FBE-5157-3B511DEAB1CF}"/>
              </a:ext>
            </a:extLst>
          </p:cNvPr>
          <p:cNvGrpSpPr/>
          <p:nvPr/>
        </p:nvGrpSpPr>
        <p:grpSpPr>
          <a:xfrm>
            <a:off x="990600" y="540000"/>
            <a:ext cx="16268700" cy="613410"/>
            <a:chOff x="990600" y="540000"/>
            <a:chExt cx="16268700" cy="613410"/>
          </a:xfrm>
        </p:grpSpPr>
        <p:grpSp>
          <p:nvGrpSpPr>
            <p:cNvPr id="31" name="Group 3">
              <a:extLst>
                <a:ext uri="{FF2B5EF4-FFF2-40B4-BE49-F238E27FC236}">
                  <a16:creationId xmlns:a16="http://schemas.microsoft.com/office/drawing/2014/main" id="{843BFF80-0A95-10AD-1345-A85E757B70B3}"/>
                </a:ext>
              </a:extLst>
            </p:cNvPr>
            <p:cNvGrpSpPr/>
            <p:nvPr/>
          </p:nvGrpSpPr>
          <p:grpSpPr>
            <a:xfrm>
              <a:off x="1028700" y="540000"/>
              <a:ext cx="16230600" cy="613410"/>
              <a:chOff x="0" y="142130"/>
              <a:chExt cx="21640800" cy="1642694"/>
            </a:xfrm>
          </p:grpSpPr>
          <p:sp>
            <p:nvSpPr>
              <p:cNvPr id="34" name="AutoShape 4">
                <a:extLst>
                  <a:ext uri="{FF2B5EF4-FFF2-40B4-BE49-F238E27FC236}">
                    <a16:creationId xmlns:a16="http://schemas.microsoft.com/office/drawing/2014/main" id="{2FD327C7-DAC7-B606-ED6E-BF41095560AA}"/>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5" name="TextBox 5">
                <a:extLst>
                  <a:ext uri="{FF2B5EF4-FFF2-40B4-BE49-F238E27FC236}">
                    <a16:creationId xmlns:a16="http://schemas.microsoft.com/office/drawing/2014/main" id="{9166AB44-F07E-C314-937F-5C086B981270}"/>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32" name="TextBox 31">
              <a:extLst>
                <a:ext uri="{FF2B5EF4-FFF2-40B4-BE49-F238E27FC236}">
                  <a16:creationId xmlns:a16="http://schemas.microsoft.com/office/drawing/2014/main" id="{4D5D1A11-B18A-AE9E-E3C7-7142F4D32AE5}"/>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3" name="TextBox 32">
              <a:extLst>
                <a:ext uri="{FF2B5EF4-FFF2-40B4-BE49-F238E27FC236}">
                  <a16:creationId xmlns:a16="http://schemas.microsoft.com/office/drawing/2014/main" id="{2E72FB1F-A1D3-CE8E-51FF-B384A811C68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091433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BA86-B345-1BD2-1CF3-5FE8C301A16C}"/>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21916131-5630-2C3D-7681-DF7998DF8E4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0165D068-F54E-0473-C375-5722BF6C3521}"/>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C6DB5DA5-B55D-2EF4-126C-E6826D64F4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87093E1A-423B-FAC6-A2EC-2F84A36308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4202A5C2-60A5-EA26-1C33-86805C6E0AD8}"/>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AE555BAF-74DC-1874-CF3A-0700EC6B31F4}"/>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6B5E3A18-A6DD-7428-31D9-48137997B0F6}"/>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C05C976F-14A0-9999-4087-515E9D759624}"/>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BF3C7C41-BF21-010F-1A71-C3F6691468DA}"/>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5D3C9141-35ED-AE5F-F834-E4C13B915A20}"/>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A985A571-1C8D-C1DD-9723-27663ECAE706}"/>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8C374E42-681A-0604-7172-C98D7165DBD4}"/>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F68BB90B-D432-408B-A3B4-33F838B9DB6D}"/>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A923BC6E-4BB1-DCC5-4A6F-73D98ED1977B}"/>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modelling details</a:t>
            </a:r>
          </a:p>
        </p:txBody>
      </p:sp>
      <p:sp>
        <p:nvSpPr>
          <p:cNvPr id="13" name="TextBox 12">
            <a:extLst>
              <a:ext uri="{FF2B5EF4-FFF2-40B4-BE49-F238E27FC236}">
                <a16:creationId xmlns:a16="http://schemas.microsoft.com/office/drawing/2014/main" id="{E6CC7221-0CAB-6D9A-946F-5C7D1CDDD077}"/>
              </a:ext>
            </a:extLst>
          </p:cNvPr>
          <p:cNvSpPr txBox="1"/>
          <p:nvPr/>
        </p:nvSpPr>
        <p:spPr>
          <a:xfrm>
            <a:off x="606236" y="7315553"/>
            <a:ext cx="4273927"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policies for fairer and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efficient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immigration management</a:t>
            </a:r>
          </a:p>
        </p:txBody>
      </p:sp>
      <p:cxnSp>
        <p:nvCxnSpPr>
          <p:cNvPr id="15" name="Straight Arrow Connector 14">
            <a:extLst>
              <a:ext uri="{FF2B5EF4-FFF2-40B4-BE49-F238E27FC236}">
                <a16:creationId xmlns:a16="http://schemas.microsoft.com/office/drawing/2014/main" id="{207886D7-605A-246A-FF4A-C4044B8235FE}"/>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D9A2969E-CC69-7452-0774-905AB6814C77}"/>
              </a:ext>
            </a:extLst>
          </p:cNvPr>
          <p:cNvSpPr txBox="1"/>
          <p:nvPr/>
        </p:nvSpPr>
        <p:spPr>
          <a:xfrm>
            <a:off x="12194658" y="7315553"/>
            <a:ext cx="4156907" cy="1200329"/>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correctly classified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refugees, better resource</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allocation</a:t>
            </a:r>
          </a:p>
        </p:txBody>
      </p:sp>
      <p:cxnSp>
        <p:nvCxnSpPr>
          <p:cNvPr id="18" name="Straight Arrow Connector 17">
            <a:extLst>
              <a:ext uri="{FF2B5EF4-FFF2-40B4-BE49-F238E27FC236}">
                <a16:creationId xmlns:a16="http://schemas.microsoft.com/office/drawing/2014/main" id="{ACEF02EE-A552-F9D5-D52A-1EC250E11F8C}"/>
              </a:ext>
            </a:extLst>
          </p:cNvPr>
          <p:cNvCxnSpPr>
            <a:cxnSpLocks/>
          </p:cNvCxnSpPr>
          <p:nvPr/>
        </p:nvCxnSpPr>
        <p:spPr>
          <a:xfrm flipV="1">
            <a:off x="14273112"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FB5172B4-839F-CAD8-6674-A01EA57662F4}"/>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C139EAED-568F-BA68-C06C-E2F2CE274FA1}"/>
              </a:ext>
            </a:extLst>
          </p:cNvPr>
          <p:cNvSpPr txBox="1"/>
          <p:nvPr/>
        </p:nvSpPr>
        <p:spPr>
          <a:xfrm>
            <a:off x="7237655" y="7311647"/>
            <a:ext cx="2829622"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 new AI product</a:t>
            </a:r>
          </a:p>
        </p:txBody>
      </p:sp>
      <p:grpSp>
        <p:nvGrpSpPr>
          <p:cNvPr id="30" name="Group 29">
            <a:extLst>
              <a:ext uri="{FF2B5EF4-FFF2-40B4-BE49-F238E27FC236}">
                <a16:creationId xmlns:a16="http://schemas.microsoft.com/office/drawing/2014/main" id="{A3DFC096-BCF3-6445-2F29-DC04DE7B0152}"/>
              </a:ext>
            </a:extLst>
          </p:cNvPr>
          <p:cNvGrpSpPr/>
          <p:nvPr/>
        </p:nvGrpSpPr>
        <p:grpSpPr>
          <a:xfrm>
            <a:off x="8027925" y="8564265"/>
            <a:ext cx="1249060" cy="1303635"/>
            <a:chOff x="8027925" y="8564265"/>
            <a:chExt cx="1249060" cy="1303635"/>
          </a:xfrm>
        </p:grpSpPr>
        <p:pic>
          <p:nvPicPr>
            <p:cNvPr id="27" name="Graphic 26" descr="Call center with solid fill">
              <a:extLst>
                <a:ext uri="{FF2B5EF4-FFF2-40B4-BE49-F238E27FC236}">
                  <a16:creationId xmlns:a16="http://schemas.microsoft.com/office/drawing/2014/main" id="{52FBF51C-1084-B1FC-5385-2727B3F4D6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5255" y="8564265"/>
              <a:ext cx="914400" cy="914400"/>
            </a:xfrm>
            <a:prstGeom prst="rect">
              <a:avLst/>
            </a:prstGeom>
          </p:spPr>
        </p:pic>
        <p:sp>
          <p:nvSpPr>
            <p:cNvPr id="29" name="TextBox 28">
              <a:extLst>
                <a:ext uri="{FF2B5EF4-FFF2-40B4-BE49-F238E27FC236}">
                  <a16:creationId xmlns:a16="http://schemas.microsoft.com/office/drawing/2014/main" id="{FAC1E8FC-E462-51C0-525B-5EA108572FC3}"/>
                </a:ext>
              </a:extLst>
            </p:cNvPr>
            <p:cNvSpPr txBox="1"/>
            <p:nvPr/>
          </p:nvSpPr>
          <p:spPr>
            <a:xfrm>
              <a:off x="8027925" y="9498568"/>
              <a:ext cx="1249060" cy="369332"/>
            </a:xfrm>
            <a:prstGeom prst="rect">
              <a:avLst/>
            </a:prstGeom>
            <a:noFill/>
          </p:spPr>
          <p:txBody>
            <a:bodyPr wrap="none" rtlCol="0">
              <a:spAutoFit/>
            </a:bodyPr>
            <a:lstStyle/>
            <a:p>
              <a:pPr algn="ctr"/>
              <a:r>
                <a:rPr lang="en-GB" dirty="0">
                  <a:solidFill>
                    <a:schemeClr val="accent2"/>
                  </a:solidFill>
                  <a:latin typeface="Noto Sans" panose="020B0502040504020204" pitchFamily="34" charset="0"/>
                  <a:ea typeface="Noto Sans" panose="020B0502040504020204" pitchFamily="34" charset="0"/>
                  <a:cs typeface="Noto Sans" panose="020B0502040504020204" pitchFamily="34" charset="0"/>
                </a:rPr>
                <a:t>operators</a:t>
              </a:r>
            </a:p>
          </p:txBody>
        </p:sp>
      </p:grpSp>
      <p:cxnSp>
        <p:nvCxnSpPr>
          <p:cNvPr id="32" name="Connector: Elbow 31">
            <a:extLst>
              <a:ext uri="{FF2B5EF4-FFF2-40B4-BE49-F238E27FC236}">
                <a16:creationId xmlns:a16="http://schemas.microsoft.com/office/drawing/2014/main" id="{F018200E-D4C9-53A7-A4E1-E9843BB3A1BD}"/>
              </a:ext>
            </a:extLst>
          </p:cNvPr>
          <p:cNvCxnSpPr>
            <a:cxnSpLocks/>
            <a:endCxn id="17" idx="2"/>
          </p:cNvCxnSpPr>
          <p:nvPr/>
        </p:nvCxnSpPr>
        <p:spPr>
          <a:xfrm flipV="1">
            <a:off x="9107747" y="8515882"/>
            <a:ext cx="5165365" cy="742419"/>
          </a:xfrm>
          <a:prstGeom prst="bentConnector2">
            <a:avLst/>
          </a:prstGeom>
          <a:ln w="5080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0EFA1046-B0D2-203F-645F-4FA1A4B2B380}"/>
              </a:ext>
            </a:extLst>
          </p:cNvPr>
          <p:cNvCxnSpPr>
            <a:cxnSpLocks/>
            <a:endCxn id="13" idx="2"/>
          </p:cNvCxnSpPr>
          <p:nvPr/>
        </p:nvCxnSpPr>
        <p:spPr>
          <a:xfrm rot="10800000">
            <a:off x="2743201" y="8515883"/>
            <a:ext cx="5452055" cy="760399"/>
          </a:xfrm>
          <a:prstGeom prst="bentConnector2">
            <a:avLst/>
          </a:prstGeom>
          <a:ln w="5080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3CD7FB1B-A284-5801-1395-2A795521D30A}"/>
              </a:ext>
            </a:extLst>
          </p:cNvPr>
          <p:cNvGrpSpPr/>
          <p:nvPr/>
        </p:nvGrpSpPr>
        <p:grpSpPr>
          <a:xfrm>
            <a:off x="990600" y="540000"/>
            <a:ext cx="16268700" cy="613410"/>
            <a:chOff x="990600" y="540000"/>
            <a:chExt cx="16268700" cy="613410"/>
          </a:xfrm>
        </p:grpSpPr>
        <p:grpSp>
          <p:nvGrpSpPr>
            <p:cNvPr id="31" name="Group 3">
              <a:extLst>
                <a:ext uri="{FF2B5EF4-FFF2-40B4-BE49-F238E27FC236}">
                  <a16:creationId xmlns:a16="http://schemas.microsoft.com/office/drawing/2014/main" id="{BFC82FE9-5491-9A7F-6736-1B93241F0706}"/>
                </a:ext>
              </a:extLst>
            </p:cNvPr>
            <p:cNvGrpSpPr/>
            <p:nvPr/>
          </p:nvGrpSpPr>
          <p:grpSpPr>
            <a:xfrm>
              <a:off x="1028700" y="540000"/>
              <a:ext cx="16230600" cy="613410"/>
              <a:chOff x="0" y="142130"/>
              <a:chExt cx="21640800" cy="1642694"/>
            </a:xfrm>
          </p:grpSpPr>
          <p:sp>
            <p:nvSpPr>
              <p:cNvPr id="35" name="AutoShape 4">
                <a:extLst>
                  <a:ext uri="{FF2B5EF4-FFF2-40B4-BE49-F238E27FC236}">
                    <a16:creationId xmlns:a16="http://schemas.microsoft.com/office/drawing/2014/main" id="{8C016506-5798-5DF7-A058-794EC39A19B1}"/>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6" name="TextBox 5">
                <a:extLst>
                  <a:ext uri="{FF2B5EF4-FFF2-40B4-BE49-F238E27FC236}">
                    <a16:creationId xmlns:a16="http://schemas.microsoft.com/office/drawing/2014/main" id="{EBF32E83-7630-51B2-EE7A-80E625DFEB1A}"/>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33" name="TextBox 32">
              <a:extLst>
                <a:ext uri="{FF2B5EF4-FFF2-40B4-BE49-F238E27FC236}">
                  <a16:creationId xmlns:a16="http://schemas.microsoft.com/office/drawing/2014/main" id="{263AA6F5-333E-73F0-668B-C0A42E02534C}"/>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4" name="TextBox 33">
              <a:extLst>
                <a:ext uri="{FF2B5EF4-FFF2-40B4-BE49-F238E27FC236}">
                  <a16:creationId xmlns:a16="http://schemas.microsoft.com/office/drawing/2014/main" id="{72DDED78-D674-980E-C641-AFC0092D8130}"/>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917781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249AF-E090-CD81-70B9-13BE8AB5FD52}"/>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80943C73-C61E-2EC3-B576-702EE7720D47}"/>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5" name="Group 24">
            <a:extLst>
              <a:ext uri="{FF2B5EF4-FFF2-40B4-BE49-F238E27FC236}">
                <a16:creationId xmlns:a16="http://schemas.microsoft.com/office/drawing/2014/main" id="{58417F64-2A60-AC7F-CBED-E16E70634C2A}"/>
              </a:ext>
            </a:extLst>
          </p:cNvPr>
          <p:cNvGrpSpPr/>
          <p:nvPr/>
        </p:nvGrpSpPr>
        <p:grpSpPr>
          <a:xfrm>
            <a:off x="1216743" y="4678749"/>
            <a:ext cx="14932857" cy="914400"/>
            <a:chOff x="1216743" y="4678749"/>
            <a:chExt cx="14932857" cy="914400"/>
          </a:xfrm>
        </p:grpSpPr>
        <p:pic>
          <p:nvPicPr>
            <p:cNvPr id="14" name="Graphic 13" descr="Arrow Right with solid fill">
              <a:extLst>
                <a:ext uri="{FF2B5EF4-FFF2-40B4-BE49-F238E27FC236}">
                  <a16:creationId xmlns:a16="http://schemas.microsoft.com/office/drawing/2014/main" id="{AA7C4B1A-DD22-CA9A-3C65-81DAE8BC35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9757" y="4678749"/>
              <a:ext cx="914400" cy="914400"/>
            </a:xfrm>
            <a:prstGeom prst="rect">
              <a:avLst/>
            </a:prstGeom>
          </p:spPr>
        </p:pic>
        <p:pic>
          <p:nvPicPr>
            <p:cNvPr id="16" name="Graphic 15" descr="Arrow Right with solid fill">
              <a:extLst>
                <a:ext uri="{FF2B5EF4-FFF2-40B4-BE49-F238E27FC236}">
                  <a16:creationId xmlns:a16="http://schemas.microsoft.com/office/drawing/2014/main" id="{75EF7019-5C7D-E8F9-1E22-4F6A483D45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2185" y="4678749"/>
              <a:ext cx="914400" cy="914400"/>
            </a:xfrm>
            <a:prstGeom prst="rect">
              <a:avLst/>
            </a:prstGeom>
          </p:spPr>
        </p:pic>
        <p:grpSp>
          <p:nvGrpSpPr>
            <p:cNvPr id="20" name="Group 19">
              <a:extLst>
                <a:ext uri="{FF2B5EF4-FFF2-40B4-BE49-F238E27FC236}">
                  <a16:creationId xmlns:a16="http://schemas.microsoft.com/office/drawing/2014/main" id="{4763DC12-3866-BFC1-6C47-9A6B2DC3A163}"/>
                </a:ext>
              </a:extLst>
            </p:cNvPr>
            <p:cNvGrpSpPr/>
            <p:nvPr/>
          </p:nvGrpSpPr>
          <p:grpSpPr>
            <a:xfrm>
              <a:off x="1216743" y="4685949"/>
              <a:ext cx="3348000" cy="900000"/>
              <a:chOff x="1216743" y="4685949"/>
              <a:chExt cx="3348000" cy="900000"/>
            </a:xfrm>
          </p:grpSpPr>
          <p:sp>
            <p:nvSpPr>
              <p:cNvPr id="6" name="Flowchart: Data 5">
                <a:extLst>
                  <a:ext uri="{FF2B5EF4-FFF2-40B4-BE49-F238E27FC236}">
                    <a16:creationId xmlns:a16="http://schemas.microsoft.com/office/drawing/2014/main" id="{87DFFB79-AAB3-8C26-00EE-F405B07E5AAA}"/>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19" name="TextBox 18">
                <a:extLst>
                  <a:ext uri="{FF2B5EF4-FFF2-40B4-BE49-F238E27FC236}">
                    <a16:creationId xmlns:a16="http://schemas.microsoft.com/office/drawing/2014/main" id="{B782FC60-8DFB-307E-5ED0-50964F2E772D}"/>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22" name="Group 21">
              <a:extLst>
                <a:ext uri="{FF2B5EF4-FFF2-40B4-BE49-F238E27FC236}">
                  <a16:creationId xmlns:a16="http://schemas.microsoft.com/office/drawing/2014/main" id="{4B8CEE2A-9729-CBDF-2759-F34D36B690DD}"/>
                </a:ext>
              </a:extLst>
            </p:cNvPr>
            <p:cNvGrpSpPr/>
            <p:nvPr/>
          </p:nvGrpSpPr>
          <p:grpSpPr>
            <a:xfrm>
              <a:off x="12801600" y="4685949"/>
              <a:ext cx="3348000" cy="900000"/>
              <a:chOff x="12801600" y="4685949"/>
              <a:chExt cx="3348000" cy="900000"/>
            </a:xfrm>
          </p:grpSpPr>
          <p:sp>
            <p:nvSpPr>
              <p:cNvPr id="8" name="Flowchart: Data 7">
                <a:extLst>
                  <a:ext uri="{FF2B5EF4-FFF2-40B4-BE49-F238E27FC236}">
                    <a16:creationId xmlns:a16="http://schemas.microsoft.com/office/drawing/2014/main" id="{E7572BED-CEF2-6DE1-8072-91C0DAB08D81}"/>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6094792-7CF5-7B11-B87A-84107B941C62}"/>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grpSp>
          <p:nvGrpSpPr>
            <p:cNvPr id="24" name="Group 23">
              <a:extLst>
                <a:ext uri="{FF2B5EF4-FFF2-40B4-BE49-F238E27FC236}">
                  <a16:creationId xmlns:a16="http://schemas.microsoft.com/office/drawing/2014/main" id="{715CA7EF-DB5F-82CF-F501-97EFEAC05B45}"/>
                </a:ext>
              </a:extLst>
            </p:cNvPr>
            <p:cNvGrpSpPr/>
            <p:nvPr/>
          </p:nvGrpSpPr>
          <p:grpSpPr>
            <a:xfrm>
              <a:off x="7009171" y="4685949"/>
              <a:ext cx="3348000" cy="900000"/>
              <a:chOff x="7009171" y="4685949"/>
              <a:chExt cx="3348000" cy="900000"/>
            </a:xfrm>
          </p:grpSpPr>
          <p:sp>
            <p:nvSpPr>
              <p:cNvPr id="12" name="Flowchart: Process 11">
                <a:extLst>
                  <a:ext uri="{FF2B5EF4-FFF2-40B4-BE49-F238E27FC236}">
                    <a16:creationId xmlns:a16="http://schemas.microsoft.com/office/drawing/2014/main" id="{4A21A1E7-F8EA-5968-308C-515F9097ADDE}"/>
                  </a:ext>
                </a:extLst>
              </p:cNvPr>
              <p:cNvSpPr/>
              <p:nvPr/>
            </p:nvSpPr>
            <p:spPr>
              <a:xfrm>
                <a:off x="7009171" y="4685949"/>
                <a:ext cx="3348000" cy="900000"/>
              </a:xfrm>
              <a:prstGeom prst="flowChartProcess">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1F566A00-F34A-C4AA-0DA3-2B74A7A8288A}"/>
                  </a:ext>
                </a:extLst>
              </p:cNvPr>
              <p:cNvSpPr txBox="1"/>
              <p:nvPr/>
            </p:nvSpPr>
            <p:spPr>
              <a:xfrm>
                <a:off x="7846243" y="4843562"/>
                <a:ext cx="1673856"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Process</a:t>
                </a:r>
              </a:p>
            </p:txBody>
          </p:sp>
        </p:grpSp>
      </p:grpSp>
      <p:sp>
        <p:nvSpPr>
          <p:cNvPr id="7" name="TextBox 6">
            <a:extLst>
              <a:ext uri="{FF2B5EF4-FFF2-40B4-BE49-F238E27FC236}">
                <a16:creationId xmlns:a16="http://schemas.microsoft.com/office/drawing/2014/main" id="{22EA818A-4689-519B-6348-FA994F51BF6B}"/>
              </a:ext>
            </a:extLst>
          </p:cNvPr>
          <p:cNvSpPr txBox="1"/>
          <p:nvPr/>
        </p:nvSpPr>
        <p:spPr>
          <a:xfrm>
            <a:off x="1029600" y="1836000"/>
            <a:ext cx="13632258" cy="1323439"/>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The IPO model in applied ethics/political philosophy:</a:t>
            </a:r>
          </a:p>
          <a:p>
            <a:r>
              <a:rPr lang="en-GB" sz="4000" dirty="0">
                <a:solidFill>
                  <a:srgbClr val="333333"/>
                </a:solidFill>
                <a:latin typeface="Noto Sans Bold" panose="020B0802040504020204" charset="0"/>
                <a:ea typeface="Noto Sans Bold" panose="020B0802040504020204" charset="0"/>
                <a:cs typeface="Noto Sans Bold" panose="020B0802040504020204" charset="0"/>
              </a:rPr>
              <a:t>modelling details</a:t>
            </a:r>
          </a:p>
        </p:txBody>
      </p:sp>
      <p:sp>
        <p:nvSpPr>
          <p:cNvPr id="13" name="TextBox 12">
            <a:extLst>
              <a:ext uri="{FF2B5EF4-FFF2-40B4-BE49-F238E27FC236}">
                <a16:creationId xmlns:a16="http://schemas.microsoft.com/office/drawing/2014/main" id="{B3D19EAE-BE4E-B294-393B-126081FB286A}"/>
              </a:ext>
            </a:extLst>
          </p:cNvPr>
          <p:cNvSpPr txBox="1"/>
          <p:nvPr/>
        </p:nvSpPr>
        <p:spPr>
          <a:xfrm>
            <a:off x="606236" y="7315553"/>
            <a:ext cx="4273927" cy="1200329"/>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policies for fairer and</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efficient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immigration management</a:t>
            </a:r>
          </a:p>
        </p:txBody>
      </p:sp>
      <p:cxnSp>
        <p:nvCxnSpPr>
          <p:cNvPr id="15" name="Straight Arrow Connector 14">
            <a:extLst>
              <a:ext uri="{FF2B5EF4-FFF2-40B4-BE49-F238E27FC236}">
                <a16:creationId xmlns:a16="http://schemas.microsoft.com/office/drawing/2014/main" id="{6E9ADE11-6570-47F6-DDA4-2DCC20F42FDA}"/>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B814868-5EE5-B1CA-05F5-3ABC743C1623}"/>
              </a:ext>
            </a:extLst>
          </p:cNvPr>
          <p:cNvSpPr txBox="1"/>
          <p:nvPr/>
        </p:nvSpPr>
        <p:spPr>
          <a:xfrm>
            <a:off x="12194658" y="7315553"/>
            <a:ext cx="4156907" cy="1200329"/>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more correctly classified </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refugees, better resource</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allocation</a:t>
            </a:r>
          </a:p>
        </p:txBody>
      </p:sp>
      <p:cxnSp>
        <p:nvCxnSpPr>
          <p:cNvPr id="18" name="Straight Arrow Connector 17">
            <a:extLst>
              <a:ext uri="{FF2B5EF4-FFF2-40B4-BE49-F238E27FC236}">
                <a16:creationId xmlns:a16="http://schemas.microsoft.com/office/drawing/2014/main" id="{663BA0D7-C8C5-D093-E898-98E87BFFF358}"/>
              </a:ext>
            </a:extLst>
          </p:cNvPr>
          <p:cNvCxnSpPr>
            <a:cxnSpLocks/>
          </p:cNvCxnSpPr>
          <p:nvPr/>
        </p:nvCxnSpPr>
        <p:spPr>
          <a:xfrm flipV="1">
            <a:off x="14273112" y="5834743"/>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3548DE0-9797-189F-E582-E8405F876BC5}"/>
              </a:ext>
            </a:extLst>
          </p:cNvPr>
          <p:cNvCxnSpPr/>
          <p:nvPr/>
        </p:nvCxnSpPr>
        <p:spPr>
          <a:xfrm flipV="1">
            <a:off x="8652455"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BC8CBE27-6E45-7144-CE3A-B7ABF1B35526}"/>
              </a:ext>
            </a:extLst>
          </p:cNvPr>
          <p:cNvSpPr txBox="1"/>
          <p:nvPr/>
        </p:nvSpPr>
        <p:spPr>
          <a:xfrm>
            <a:off x="7237655" y="7311647"/>
            <a:ext cx="2829622"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a new AI product</a:t>
            </a:r>
          </a:p>
        </p:txBody>
      </p:sp>
      <p:grpSp>
        <p:nvGrpSpPr>
          <p:cNvPr id="30" name="Group 29">
            <a:extLst>
              <a:ext uri="{FF2B5EF4-FFF2-40B4-BE49-F238E27FC236}">
                <a16:creationId xmlns:a16="http://schemas.microsoft.com/office/drawing/2014/main" id="{7051AA8E-CD52-7ABF-72D5-799FE7D1DF72}"/>
              </a:ext>
            </a:extLst>
          </p:cNvPr>
          <p:cNvGrpSpPr/>
          <p:nvPr/>
        </p:nvGrpSpPr>
        <p:grpSpPr>
          <a:xfrm>
            <a:off x="8027925" y="8564265"/>
            <a:ext cx="1249060" cy="1303635"/>
            <a:chOff x="8027925" y="8564265"/>
            <a:chExt cx="1249060" cy="1303635"/>
          </a:xfrm>
        </p:grpSpPr>
        <p:pic>
          <p:nvPicPr>
            <p:cNvPr id="27" name="Graphic 26" descr="Call center with solid fill">
              <a:extLst>
                <a:ext uri="{FF2B5EF4-FFF2-40B4-BE49-F238E27FC236}">
                  <a16:creationId xmlns:a16="http://schemas.microsoft.com/office/drawing/2014/main" id="{CAE10F9E-26D1-3CA1-D57C-BEBECEC7CD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5255" y="8564265"/>
              <a:ext cx="914400" cy="914400"/>
            </a:xfrm>
            <a:prstGeom prst="rect">
              <a:avLst/>
            </a:prstGeom>
          </p:spPr>
        </p:pic>
        <p:sp>
          <p:nvSpPr>
            <p:cNvPr id="29" name="TextBox 28">
              <a:extLst>
                <a:ext uri="{FF2B5EF4-FFF2-40B4-BE49-F238E27FC236}">
                  <a16:creationId xmlns:a16="http://schemas.microsoft.com/office/drawing/2014/main" id="{852D3917-C072-FBA3-8E22-D72A78896626}"/>
                </a:ext>
              </a:extLst>
            </p:cNvPr>
            <p:cNvSpPr txBox="1"/>
            <p:nvPr/>
          </p:nvSpPr>
          <p:spPr>
            <a:xfrm>
              <a:off x="8027925" y="9498568"/>
              <a:ext cx="1249060" cy="369332"/>
            </a:xfrm>
            <a:prstGeom prst="rect">
              <a:avLst/>
            </a:prstGeom>
            <a:noFill/>
          </p:spPr>
          <p:txBody>
            <a:bodyPr wrap="none" rtlCol="0">
              <a:spAutoFit/>
            </a:bodyPr>
            <a:lstStyle/>
            <a:p>
              <a:pPr algn="ctr"/>
              <a:r>
                <a:rPr lang="en-GB" dirty="0">
                  <a:solidFill>
                    <a:schemeClr val="accent2"/>
                  </a:solidFill>
                  <a:latin typeface="Noto Sans" panose="020B0502040504020204" pitchFamily="34" charset="0"/>
                  <a:ea typeface="Noto Sans" panose="020B0502040504020204" pitchFamily="34" charset="0"/>
                  <a:cs typeface="Noto Sans" panose="020B0502040504020204" pitchFamily="34" charset="0"/>
                </a:rPr>
                <a:t>operators</a:t>
              </a:r>
            </a:p>
          </p:txBody>
        </p:sp>
      </p:grpSp>
      <p:cxnSp>
        <p:nvCxnSpPr>
          <p:cNvPr id="32" name="Connector: Elbow 31">
            <a:extLst>
              <a:ext uri="{FF2B5EF4-FFF2-40B4-BE49-F238E27FC236}">
                <a16:creationId xmlns:a16="http://schemas.microsoft.com/office/drawing/2014/main" id="{DD8D9668-DD14-1876-4012-7AAAEB0B433D}"/>
              </a:ext>
            </a:extLst>
          </p:cNvPr>
          <p:cNvCxnSpPr>
            <a:cxnSpLocks/>
            <a:endCxn id="28" idx="2"/>
          </p:cNvCxnSpPr>
          <p:nvPr/>
        </p:nvCxnSpPr>
        <p:spPr>
          <a:xfrm rot="5400000" flipH="1" flipV="1">
            <a:off x="8281175" y="8144591"/>
            <a:ext cx="742570" cy="12"/>
          </a:xfrm>
          <a:prstGeom prst="bentConnector3">
            <a:avLst>
              <a:gd name="adj1" fmla="val 50000"/>
            </a:avLst>
          </a:prstGeom>
          <a:ln w="5080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26645D3-FBE5-0D67-35F1-035F96551125}"/>
              </a:ext>
            </a:extLst>
          </p:cNvPr>
          <p:cNvGrpSpPr/>
          <p:nvPr/>
        </p:nvGrpSpPr>
        <p:grpSpPr>
          <a:xfrm>
            <a:off x="990600" y="540000"/>
            <a:ext cx="16268700" cy="613410"/>
            <a:chOff x="990600" y="540000"/>
            <a:chExt cx="16268700" cy="613410"/>
          </a:xfrm>
        </p:grpSpPr>
        <p:grpSp>
          <p:nvGrpSpPr>
            <p:cNvPr id="31" name="Group 3">
              <a:extLst>
                <a:ext uri="{FF2B5EF4-FFF2-40B4-BE49-F238E27FC236}">
                  <a16:creationId xmlns:a16="http://schemas.microsoft.com/office/drawing/2014/main" id="{A36739B6-0F76-5D82-571C-767BA9323227}"/>
                </a:ext>
              </a:extLst>
            </p:cNvPr>
            <p:cNvGrpSpPr/>
            <p:nvPr/>
          </p:nvGrpSpPr>
          <p:grpSpPr>
            <a:xfrm>
              <a:off x="1028700" y="540000"/>
              <a:ext cx="16230600" cy="613410"/>
              <a:chOff x="0" y="142130"/>
              <a:chExt cx="21640800" cy="1642694"/>
            </a:xfrm>
          </p:grpSpPr>
          <p:sp>
            <p:nvSpPr>
              <p:cNvPr id="35" name="AutoShape 4">
                <a:extLst>
                  <a:ext uri="{FF2B5EF4-FFF2-40B4-BE49-F238E27FC236}">
                    <a16:creationId xmlns:a16="http://schemas.microsoft.com/office/drawing/2014/main" id="{FF08F5E3-1AE2-E219-2114-A30AD2ACE97A}"/>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36" name="TextBox 5">
                <a:extLst>
                  <a:ext uri="{FF2B5EF4-FFF2-40B4-BE49-F238E27FC236}">
                    <a16:creationId xmlns:a16="http://schemas.microsoft.com/office/drawing/2014/main" id="{B6C97D00-0E51-601F-7E55-AB16EF6A7101}"/>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33" name="TextBox 32">
              <a:extLst>
                <a:ext uri="{FF2B5EF4-FFF2-40B4-BE49-F238E27FC236}">
                  <a16:creationId xmlns:a16="http://schemas.microsoft.com/office/drawing/2014/main" id="{8550826D-9D4A-5F2D-0803-8861F17FDACA}"/>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34" name="TextBox 33">
              <a:extLst>
                <a:ext uri="{FF2B5EF4-FFF2-40B4-BE49-F238E27FC236}">
                  <a16:creationId xmlns:a16="http://schemas.microsoft.com/office/drawing/2014/main" id="{E84E944D-36AB-90EF-39DB-CA6C1D0A8CBD}"/>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29</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4087823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3DA25-49AE-A93D-0874-57CC36FA3EE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25F5D8C-07EF-B5FF-2070-80DF26A7570F}"/>
              </a:ext>
            </a:extLst>
          </p:cNvPr>
          <p:cNvSpPr txBox="1"/>
          <p:nvPr/>
        </p:nvSpPr>
        <p:spPr>
          <a:xfrm>
            <a:off x="1028700" y="1944000"/>
            <a:ext cx="16213111" cy="2462213"/>
          </a:xfrm>
          <a:prstGeom prst="rect">
            <a:avLst/>
          </a:prstGeom>
        </p:spPr>
        <p:txBody>
          <a:bodyPr lIns="0" tIns="0" rIns="0" bIns="0" rtlCol="0" anchor="t">
            <a:spAutoFit/>
          </a:bodyPr>
          <a:lstStyle/>
          <a:p>
            <a:pPr>
              <a:lnSpc>
                <a:spcPts val="9600"/>
              </a:lnSpc>
            </a:pPr>
            <a:r>
              <a:rPr lang="en-US" sz="8000" dirty="0">
                <a:solidFill>
                  <a:srgbClr val="333333"/>
                </a:solidFill>
                <a:latin typeface="Noto Serif"/>
                <a:ea typeface="Noto Serif"/>
                <a:cs typeface="Noto Serif"/>
                <a:sym typeface="Noto Serif"/>
              </a:rPr>
              <a:t>Self-Sovereign Identity</a:t>
            </a:r>
            <a:br>
              <a:rPr lang="en-US" sz="8000" dirty="0">
                <a:solidFill>
                  <a:srgbClr val="333333"/>
                </a:solidFill>
                <a:latin typeface="Noto Serif"/>
                <a:ea typeface="Noto Serif"/>
                <a:cs typeface="Noto Serif"/>
                <a:sym typeface="Noto Serif"/>
              </a:rPr>
            </a:br>
            <a:r>
              <a:rPr lang="en-US" sz="8000" dirty="0">
                <a:solidFill>
                  <a:srgbClr val="333333"/>
                </a:solidFill>
                <a:latin typeface="Noto Serif"/>
                <a:ea typeface="Noto Serif"/>
                <a:cs typeface="Noto Serif"/>
                <a:sym typeface="Noto Serif"/>
              </a:rPr>
              <a:t>for Refugees</a:t>
            </a:r>
          </a:p>
        </p:txBody>
      </p:sp>
      <p:sp>
        <p:nvSpPr>
          <p:cNvPr id="10" name="Freeform 10">
            <a:extLst>
              <a:ext uri="{FF2B5EF4-FFF2-40B4-BE49-F238E27FC236}">
                <a16:creationId xmlns:a16="http://schemas.microsoft.com/office/drawing/2014/main" id="{72C28026-38D8-13A3-8BC8-BCB8B5BD382E}"/>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8">
            <a:extLst>
              <a:ext uri="{FF2B5EF4-FFF2-40B4-BE49-F238E27FC236}">
                <a16:creationId xmlns:a16="http://schemas.microsoft.com/office/drawing/2014/main" id="{CC079981-1771-8C1C-2DA9-A70117C611B8}"/>
              </a:ext>
            </a:extLst>
          </p:cNvPr>
          <p:cNvSpPr txBox="1"/>
          <p:nvPr/>
        </p:nvSpPr>
        <p:spPr>
          <a:xfrm>
            <a:off x="1055266" y="4762500"/>
            <a:ext cx="16186545" cy="613410"/>
          </a:xfrm>
          <a:prstGeom prst="rect">
            <a:avLst/>
          </a:prstGeom>
        </p:spPr>
        <p:txBody>
          <a:bodyPr lIns="0" tIns="0" rIns="0" bIns="0" rtlCol="0" anchor="t">
            <a:spAutoFit/>
          </a:bodyPr>
          <a:lstStyle/>
          <a:p>
            <a:pPr algn="l">
              <a:lnSpc>
                <a:spcPts val="5040"/>
              </a:lnSpc>
            </a:pPr>
            <a:r>
              <a:rPr lang="en-US" sz="3600" dirty="0">
                <a:solidFill>
                  <a:srgbClr val="333333"/>
                </a:solidFill>
                <a:latin typeface="Noto Sans" panose="020B0502040504020204" pitchFamily="34" charset="0"/>
                <a:ea typeface="Noto Sans" panose="020B0502040504020204" pitchFamily="34" charset="0"/>
                <a:cs typeface="Noto Sans" panose="020B0502040504020204" pitchFamily="34" charset="0"/>
                <a:sym typeface="Noto Sans Bold"/>
              </a:rPr>
              <a:t>An IPO Application Example</a:t>
            </a:r>
          </a:p>
        </p:txBody>
      </p:sp>
      <p:grpSp>
        <p:nvGrpSpPr>
          <p:cNvPr id="6" name="Group 5">
            <a:extLst>
              <a:ext uri="{FF2B5EF4-FFF2-40B4-BE49-F238E27FC236}">
                <a16:creationId xmlns:a16="http://schemas.microsoft.com/office/drawing/2014/main" id="{EFCA4E77-8719-C14A-D32C-AF3BF062F385}"/>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B197B83D-310A-2246-1A80-A89BA354884D}"/>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FAF10953-5086-EC7D-166A-442EBC9093D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2EC3BD47-1258-AF4A-AAAF-87052DE9B894}"/>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F0073BFE-AC02-E948-412D-CBFE6D1FE970}"/>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F3CC3902-7011-D8E2-8CF5-A90AD8B5A6CE}"/>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167493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BD6E4-7C61-2AAF-284F-D462390A8A2E}"/>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FAD46AB5-80EE-FBA3-5C7E-6F3DA056D1AB}"/>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3E9062A7-7A22-1DF5-56BB-DA495E1E0B85}"/>
              </a:ext>
            </a:extLst>
          </p:cNvPr>
          <p:cNvSpPr txBox="1"/>
          <p:nvPr/>
        </p:nvSpPr>
        <p:spPr>
          <a:xfrm>
            <a:off x="1029600" y="1836000"/>
            <a:ext cx="7204216"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Self-sovereign identity (SSI)</a:t>
            </a:r>
          </a:p>
        </p:txBody>
      </p:sp>
      <p:sp>
        <p:nvSpPr>
          <p:cNvPr id="7" name="TextBox 6">
            <a:extLst>
              <a:ext uri="{FF2B5EF4-FFF2-40B4-BE49-F238E27FC236}">
                <a16:creationId xmlns:a16="http://schemas.microsoft.com/office/drawing/2014/main" id="{44FB8A57-E4FC-2C8D-E560-3B3244292239}"/>
              </a:ext>
            </a:extLst>
          </p:cNvPr>
          <p:cNvSpPr txBox="1"/>
          <p:nvPr/>
        </p:nvSpPr>
        <p:spPr>
          <a:xfrm>
            <a:off x="1028700" y="3848100"/>
            <a:ext cx="15429224" cy="4401205"/>
          </a:xfrm>
          <a:prstGeom prst="rect">
            <a:avLst/>
          </a:prstGeom>
          <a:solidFill>
            <a:schemeClr val="bg1">
              <a:alpha val="80000"/>
            </a:schemeClr>
          </a:solidFill>
        </p:spPr>
        <p:txBody>
          <a:bodyPr wrap="none" rtlCol="0">
            <a:spAutoFit/>
          </a:bodyPr>
          <a:lstStyle/>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user-controlled and decentralised forms of digital identification</a:t>
            </a:r>
          </a:p>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based on blockchain technology</a:t>
            </a:r>
          </a:p>
          <a:p>
            <a:endPar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endParaRPr>
          </a:p>
          <a:p>
            <a:endPar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endParaRPr>
          </a:p>
          <a:p>
            <a:endPar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endParaRPr>
          </a:p>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discussed in ‘Self-Sovereignty for Refugees? The Contested</a:t>
            </a:r>
          </a:p>
          <a:p>
            <a:r>
              <a:rPr lang="en-GB" sz="4000" dirty="0">
                <a:solidFill>
                  <a:srgbClr val="333333"/>
                </a:solidFill>
                <a:latin typeface="Noto Sans" panose="020B0502040504020204" pitchFamily="34" charset="0"/>
                <a:ea typeface="Noto Sans" panose="020B0502040504020204" pitchFamily="34" charset="0"/>
                <a:cs typeface="Noto Sans" panose="020B0502040504020204" pitchFamily="34" charset="0"/>
              </a:rPr>
              <a:t>Horizons of Digital Identity’, M. Cheesman 2022</a:t>
            </a:r>
          </a:p>
        </p:txBody>
      </p:sp>
      <p:grpSp>
        <p:nvGrpSpPr>
          <p:cNvPr id="2" name="Group 1">
            <a:extLst>
              <a:ext uri="{FF2B5EF4-FFF2-40B4-BE49-F238E27FC236}">
                <a16:creationId xmlns:a16="http://schemas.microsoft.com/office/drawing/2014/main" id="{A92F5A8C-52B2-A6D4-7271-B63A1A252D37}"/>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0378149A-5E20-A7B2-E60E-72829CDB9BBC}"/>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7ED4D283-B8E9-3EFB-8E8C-49A1D3EAA23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BA60153B-27DF-7F4D-7068-C4ACE00D12F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FFDC4160-87DD-AB30-CD16-EECD3BBC3929}"/>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9E5072C7-A0CC-99BC-D73C-AD8A75B0135D}"/>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070301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485E-8E17-8992-9CA0-719071A1C768}"/>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C2FE26D9-2562-A692-9510-3AFD81060D17}"/>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B7966EB8-A6DF-6354-0A89-5FC85BCD3F8C}"/>
              </a:ext>
            </a:extLst>
          </p:cNvPr>
          <p:cNvSpPr txBox="1"/>
          <p:nvPr/>
        </p:nvSpPr>
        <p:spPr>
          <a:xfrm>
            <a:off x="1029600" y="1836000"/>
            <a:ext cx="9445214"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Blockchain-based distributed ledger</a:t>
            </a:r>
          </a:p>
        </p:txBody>
      </p:sp>
      <p:grpSp>
        <p:nvGrpSpPr>
          <p:cNvPr id="128" name="Group 127">
            <a:extLst>
              <a:ext uri="{FF2B5EF4-FFF2-40B4-BE49-F238E27FC236}">
                <a16:creationId xmlns:a16="http://schemas.microsoft.com/office/drawing/2014/main" id="{C4D15833-16B8-ACE7-CB2E-6546FA5921B1}"/>
              </a:ext>
            </a:extLst>
          </p:cNvPr>
          <p:cNvGrpSpPr/>
          <p:nvPr/>
        </p:nvGrpSpPr>
        <p:grpSpPr>
          <a:xfrm>
            <a:off x="2667000" y="3766457"/>
            <a:ext cx="12954000" cy="3886200"/>
            <a:chOff x="1981200" y="3766457"/>
            <a:chExt cx="12954000" cy="3886200"/>
          </a:xfrm>
        </p:grpSpPr>
        <p:grpSp>
          <p:nvGrpSpPr>
            <p:cNvPr id="72" name="Group 71">
              <a:extLst>
                <a:ext uri="{FF2B5EF4-FFF2-40B4-BE49-F238E27FC236}">
                  <a16:creationId xmlns:a16="http://schemas.microsoft.com/office/drawing/2014/main" id="{FF389623-3A9E-28DF-C10A-B6AF910149EA}"/>
                </a:ext>
              </a:extLst>
            </p:cNvPr>
            <p:cNvGrpSpPr/>
            <p:nvPr/>
          </p:nvGrpSpPr>
          <p:grpSpPr>
            <a:xfrm>
              <a:off x="1981200" y="3766457"/>
              <a:ext cx="1371600" cy="3886200"/>
              <a:chOff x="1981200" y="3771900"/>
              <a:chExt cx="1371600" cy="3886200"/>
            </a:xfrm>
          </p:grpSpPr>
          <p:sp>
            <p:nvSpPr>
              <p:cNvPr id="71" name="Rectangle 70">
                <a:extLst>
                  <a:ext uri="{FF2B5EF4-FFF2-40B4-BE49-F238E27FC236}">
                    <a16:creationId xmlns:a16="http://schemas.microsoft.com/office/drawing/2014/main" id="{88DF228C-BDA6-0D9B-0239-BCD99B7D9BF1}"/>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348F1A0C-9531-AB7F-6ECA-3B2855BE49B8}"/>
                  </a:ext>
                </a:extLst>
              </p:cNvPr>
              <p:cNvGrpSpPr/>
              <p:nvPr/>
            </p:nvGrpSpPr>
            <p:grpSpPr>
              <a:xfrm>
                <a:off x="2438400" y="4152900"/>
                <a:ext cx="457200" cy="3124200"/>
                <a:chOff x="2438400" y="4152900"/>
                <a:chExt cx="457200" cy="3124200"/>
              </a:xfrm>
            </p:grpSpPr>
            <p:sp>
              <p:nvSpPr>
                <p:cNvPr id="2" name="Rectangle 1">
                  <a:extLst>
                    <a:ext uri="{FF2B5EF4-FFF2-40B4-BE49-F238E27FC236}">
                      <a16:creationId xmlns:a16="http://schemas.microsoft.com/office/drawing/2014/main" id="{66C50052-B416-6C59-A49D-7381C623128D}"/>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9CEDBE3-DB3E-D350-5EA4-CBB4C75FE19C}"/>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5605E6C-555B-99A6-12B2-F85115CD706F}"/>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01245E50-F0C4-B860-8514-BCD463CDB389}"/>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6233728D-7D59-B930-9981-E1DE2D62B850}"/>
                    </a:ext>
                  </a:extLst>
                </p:cNvPr>
                <p:cNvCxnSpPr>
                  <a:stCxn id="2" idx="0"/>
                  <a:endCxn id="8"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F0D0DEB-5147-EAB2-91D7-5BCBBF531D74}"/>
                    </a:ext>
                  </a:extLst>
                </p:cNvPr>
                <p:cNvCxnSpPr>
                  <a:cxnSpLocks/>
                  <a:stCxn id="8" idx="0"/>
                  <a:endCxn id="13"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76CA6F0-DEED-5F1F-D7C2-08C7319B755A}"/>
                    </a:ext>
                  </a:extLst>
                </p:cNvPr>
                <p:cNvCxnSpPr>
                  <a:cxnSpLocks/>
                  <a:stCxn id="13" idx="0"/>
                  <a:endCxn id="15"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A4E931-B07B-E93F-3C01-ACA450172F5C}"/>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nvGrpSpPr>
            <p:cNvPr id="73" name="Group 72">
              <a:extLst>
                <a:ext uri="{FF2B5EF4-FFF2-40B4-BE49-F238E27FC236}">
                  <a16:creationId xmlns:a16="http://schemas.microsoft.com/office/drawing/2014/main" id="{D55E7A9C-2D80-9D91-26C6-7E8E04B86FD7}"/>
                </a:ext>
              </a:extLst>
            </p:cNvPr>
            <p:cNvGrpSpPr/>
            <p:nvPr/>
          </p:nvGrpSpPr>
          <p:grpSpPr>
            <a:xfrm>
              <a:off x="4297680" y="3766457"/>
              <a:ext cx="1371600" cy="3886200"/>
              <a:chOff x="1981200" y="3771900"/>
              <a:chExt cx="1371600" cy="3886200"/>
            </a:xfrm>
          </p:grpSpPr>
          <p:sp>
            <p:nvSpPr>
              <p:cNvPr id="74" name="Rectangle 73">
                <a:extLst>
                  <a:ext uri="{FF2B5EF4-FFF2-40B4-BE49-F238E27FC236}">
                    <a16:creationId xmlns:a16="http://schemas.microsoft.com/office/drawing/2014/main" id="{88E294D3-59C0-2B9E-0FB0-018A0E1CFC70}"/>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5" name="Group 74">
                <a:extLst>
                  <a:ext uri="{FF2B5EF4-FFF2-40B4-BE49-F238E27FC236}">
                    <a16:creationId xmlns:a16="http://schemas.microsoft.com/office/drawing/2014/main" id="{43975624-E9DA-6100-FD6B-571CA0528AED}"/>
                  </a:ext>
                </a:extLst>
              </p:cNvPr>
              <p:cNvGrpSpPr/>
              <p:nvPr/>
            </p:nvGrpSpPr>
            <p:grpSpPr>
              <a:xfrm>
                <a:off x="2438400" y="4152900"/>
                <a:ext cx="457200" cy="3124200"/>
                <a:chOff x="2438400" y="4152900"/>
                <a:chExt cx="457200" cy="3124200"/>
              </a:xfrm>
            </p:grpSpPr>
            <p:sp>
              <p:nvSpPr>
                <p:cNvPr id="76" name="Rectangle 75">
                  <a:extLst>
                    <a:ext uri="{FF2B5EF4-FFF2-40B4-BE49-F238E27FC236}">
                      <a16:creationId xmlns:a16="http://schemas.microsoft.com/office/drawing/2014/main" id="{EAF14C0D-7A73-BD7B-2085-FB32A526B40D}"/>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a:extLst>
                    <a:ext uri="{FF2B5EF4-FFF2-40B4-BE49-F238E27FC236}">
                      <a16:creationId xmlns:a16="http://schemas.microsoft.com/office/drawing/2014/main" id="{B605293D-CC8B-E45F-91B1-99E2C84BB5B4}"/>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77">
                  <a:extLst>
                    <a:ext uri="{FF2B5EF4-FFF2-40B4-BE49-F238E27FC236}">
                      <a16:creationId xmlns:a16="http://schemas.microsoft.com/office/drawing/2014/main" id="{D2A246D1-52D4-C0BA-BF1A-D490A13C6128}"/>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a:extLst>
                    <a:ext uri="{FF2B5EF4-FFF2-40B4-BE49-F238E27FC236}">
                      <a16:creationId xmlns:a16="http://schemas.microsoft.com/office/drawing/2014/main" id="{FF78A42D-C24C-FEA6-2B83-188A678830BA}"/>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0" name="Straight Arrow Connector 79">
                  <a:extLst>
                    <a:ext uri="{FF2B5EF4-FFF2-40B4-BE49-F238E27FC236}">
                      <a16:creationId xmlns:a16="http://schemas.microsoft.com/office/drawing/2014/main" id="{FAE51640-1636-1225-EF4B-D4935B2F9F1F}"/>
                    </a:ext>
                  </a:extLst>
                </p:cNvPr>
                <p:cNvCxnSpPr>
                  <a:stCxn id="76" idx="0"/>
                  <a:endCxn id="77"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873A4C5-8D11-7785-87A3-285FE6DE4111}"/>
                    </a:ext>
                  </a:extLst>
                </p:cNvPr>
                <p:cNvCxnSpPr>
                  <a:cxnSpLocks/>
                  <a:stCxn id="77" idx="0"/>
                  <a:endCxn id="78"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505EA06-AEF4-FE38-D70C-5A97277A4830}"/>
                    </a:ext>
                  </a:extLst>
                </p:cNvPr>
                <p:cNvCxnSpPr>
                  <a:cxnSpLocks/>
                  <a:stCxn id="78" idx="0"/>
                  <a:endCxn id="79"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5FF9CD1-ADD0-9826-1064-6E96A7D2EA45}"/>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nvGrpSpPr>
            <p:cNvPr id="84" name="Group 83">
              <a:extLst>
                <a:ext uri="{FF2B5EF4-FFF2-40B4-BE49-F238E27FC236}">
                  <a16:creationId xmlns:a16="http://schemas.microsoft.com/office/drawing/2014/main" id="{2429EF4B-C8D7-54BC-F29C-2622276275AD}"/>
                </a:ext>
              </a:extLst>
            </p:cNvPr>
            <p:cNvGrpSpPr/>
            <p:nvPr/>
          </p:nvGrpSpPr>
          <p:grpSpPr>
            <a:xfrm>
              <a:off x="6614160" y="3766457"/>
              <a:ext cx="1371600" cy="3886200"/>
              <a:chOff x="1981200" y="3771900"/>
              <a:chExt cx="1371600" cy="3886200"/>
            </a:xfrm>
          </p:grpSpPr>
          <p:sp>
            <p:nvSpPr>
              <p:cNvPr id="85" name="Rectangle 84">
                <a:extLst>
                  <a:ext uri="{FF2B5EF4-FFF2-40B4-BE49-F238E27FC236}">
                    <a16:creationId xmlns:a16="http://schemas.microsoft.com/office/drawing/2014/main" id="{DD015DE3-67ED-CCDE-DEDB-31841D17FD81}"/>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6" name="Group 85">
                <a:extLst>
                  <a:ext uri="{FF2B5EF4-FFF2-40B4-BE49-F238E27FC236}">
                    <a16:creationId xmlns:a16="http://schemas.microsoft.com/office/drawing/2014/main" id="{220BC5C2-F3DC-95A8-ADCC-3174769FB58F}"/>
                  </a:ext>
                </a:extLst>
              </p:cNvPr>
              <p:cNvGrpSpPr/>
              <p:nvPr/>
            </p:nvGrpSpPr>
            <p:grpSpPr>
              <a:xfrm>
                <a:off x="2438400" y="4152900"/>
                <a:ext cx="457200" cy="3124200"/>
                <a:chOff x="2438400" y="4152900"/>
                <a:chExt cx="457200" cy="3124200"/>
              </a:xfrm>
            </p:grpSpPr>
            <p:sp>
              <p:nvSpPr>
                <p:cNvPr id="87" name="Rectangle 86">
                  <a:extLst>
                    <a:ext uri="{FF2B5EF4-FFF2-40B4-BE49-F238E27FC236}">
                      <a16:creationId xmlns:a16="http://schemas.microsoft.com/office/drawing/2014/main" id="{FA6F1CF8-7BDB-67C7-FE33-D2361101E228}"/>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a:extLst>
                    <a:ext uri="{FF2B5EF4-FFF2-40B4-BE49-F238E27FC236}">
                      <a16:creationId xmlns:a16="http://schemas.microsoft.com/office/drawing/2014/main" id="{34FA1927-41A7-5EF5-0277-34B5C467513E}"/>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88">
                  <a:extLst>
                    <a:ext uri="{FF2B5EF4-FFF2-40B4-BE49-F238E27FC236}">
                      <a16:creationId xmlns:a16="http://schemas.microsoft.com/office/drawing/2014/main" id="{2B381D5B-C7A4-88C6-647A-6BC71BFA40DF}"/>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89">
                  <a:extLst>
                    <a:ext uri="{FF2B5EF4-FFF2-40B4-BE49-F238E27FC236}">
                      <a16:creationId xmlns:a16="http://schemas.microsoft.com/office/drawing/2014/main" id="{39EB098D-1576-0799-9304-BA021A7B16EA}"/>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1" name="Straight Arrow Connector 90">
                  <a:extLst>
                    <a:ext uri="{FF2B5EF4-FFF2-40B4-BE49-F238E27FC236}">
                      <a16:creationId xmlns:a16="http://schemas.microsoft.com/office/drawing/2014/main" id="{82C63DBE-0452-A373-8648-5B12CAFE808A}"/>
                    </a:ext>
                  </a:extLst>
                </p:cNvPr>
                <p:cNvCxnSpPr>
                  <a:stCxn id="87" idx="0"/>
                  <a:endCxn id="88"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05D27DC7-9ED0-6A69-FDD3-41A98CD14171}"/>
                    </a:ext>
                  </a:extLst>
                </p:cNvPr>
                <p:cNvCxnSpPr>
                  <a:cxnSpLocks/>
                  <a:stCxn id="88" idx="0"/>
                  <a:endCxn id="89"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EAD2AB5E-3FF4-3EB3-5354-D353AB879D09}"/>
                    </a:ext>
                  </a:extLst>
                </p:cNvPr>
                <p:cNvCxnSpPr>
                  <a:cxnSpLocks/>
                  <a:stCxn id="89" idx="0"/>
                  <a:endCxn id="90"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8BEA6D4-6566-789C-18EA-FACA7CD15B89}"/>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nvGrpSpPr>
            <p:cNvPr id="95" name="Group 94">
              <a:extLst>
                <a:ext uri="{FF2B5EF4-FFF2-40B4-BE49-F238E27FC236}">
                  <a16:creationId xmlns:a16="http://schemas.microsoft.com/office/drawing/2014/main" id="{B83C063A-0F9B-BA95-D88D-F8AAFC5DF7D5}"/>
                </a:ext>
              </a:extLst>
            </p:cNvPr>
            <p:cNvGrpSpPr/>
            <p:nvPr/>
          </p:nvGrpSpPr>
          <p:grpSpPr>
            <a:xfrm>
              <a:off x="8930640" y="3766457"/>
              <a:ext cx="1371600" cy="3886200"/>
              <a:chOff x="1981200" y="3771900"/>
              <a:chExt cx="1371600" cy="3886200"/>
            </a:xfrm>
          </p:grpSpPr>
          <p:sp>
            <p:nvSpPr>
              <p:cNvPr id="96" name="Rectangle 95">
                <a:extLst>
                  <a:ext uri="{FF2B5EF4-FFF2-40B4-BE49-F238E27FC236}">
                    <a16:creationId xmlns:a16="http://schemas.microsoft.com/office/drawing/2014/main" id="{C14D5D37-5599-D155-BF31-9DDF12E4129A}"/>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7" name="Group 96">
                <a:extLst>
                  <a:ext uri="{FF2B5EF4-FFF2-40B4-BE49-F238E27FC236}">
                    <a16:creationId xmlns:a16="http://schemas.microsoft.com/office/drawing/2014/main" id="{C9CA6216-49BE-709E-E93F-F5BE92E5A565}"/>
                  </a:ext>
                </a:extLst>
              </p:cNvPr>
              <p:cNvGrpSpPr/>
              <p:nvPr/>
            </p:nvGrpSpPr>
            <p:grpSpPr>
              <a:xfrm>
                <a:off x="2438400" y="4152900"/>
                <a:ext cx="457200" cy="3124200"/>
                <a:chOff x="2438400" y="4152900"/>
                <a:chExt cx="457200" cy="3124200"/>
              </a:xfrm>
            </p:grpSpPr>
            <p:sp>
              <p:nvSpPr>
                <p:cNvPr id="98" name="Rectangle 97">
                  <a:extLst>
                    <a:ext uri="{FF2B5EF4-FFF2-40B4-BE49-F238E27FC236}">
                      <a16:creationId xmlns:a16="http://schemas.microsoft.com/office/drawing/2014/main" id="{643433CF-6486-D128-6251-E68B9C17519C}"/>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a:extLst>
                    <a:ext uri="{FF2B5EF4-FFF2-40B4-BE49-F238E27FC236}">
                      <a16:creationId xmlns:a16="http://schemas.microsoft.com/office/drawing/2014/main" id="{B47546D0-23D3-B155-07A5-61277981536E}"/>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a:extLst>
                    <a:ext uri="{FF2B5EF4-FFF2-40B4-BE49-F238E27FC236}">
                      <a16:creationId xmlns:a16="http://schemas.microsoft.com/office/drawing/2014/main" id="{40DEDB8A-807A-98A7-5F51-DEE05E5E3BDD}"/>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Rectangle 100">
                  <a:extLst>
                    <a:ext uri="{FF2B5EF4-FFF2-40B4-BE49-F238E27FC236}">
                      <a16:creationId xmlns:a16="http://schemas.microsoft.com/office/drawing/2014/main" id="{33DDFF6B-C7CE-86ED-91B6-B0326EE319F9}"/>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2" name="Straight Arrow Connector 101">
                  <a:extLst>
                    <a:ext uri="{FF2B5EF4-FFF2-40B4-BE49-F238E27FC236}">
                      <a16:creationId xmlns:a16="http://schemas.microsoft.com/office/drawing/2014/main" id="{79EF90D1-FF3C-830B-CC6E-D0DB499F83C6}"/>
                    </a:ext>
                  </a:extLst>
                </p:cNvPr>
                <p:cNvCxnSpPr>
                  <a:stCxn id="98" idx="0"/>
                  <a:endCxn id="99"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10C07DA7-0CCD-AE25-0169-055D3C5CEF0D}"/>
                    </a:ext>
                  </a:extLst>
                </p:cNvPr>
                <p:cNvCxnSpPr>
                  <a:cxnSpLocks/>
                  <a:stCxn id="99" idx="0"/>
                  <a:endCxn id="100"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9632AA23-CD37-3172-6A30-6A8465778FEF}"/>
                    </a:ext>
                  </a:extLst>
                </p:cNvPr>
                <p:cNvCxnSpPr>
                  <a:cxnSpLocks/>
                  <a:stCxn id="100" idx="0"/>
                  <a:endCxn id="101"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166561A-1DDC-D1BF-5A5E-0C4A6BD03898}"/>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nvGrpSpPr>
            <p:cNvPr id="106" name="Group 105">
              <a:extLst>
                <a:ext uri="{FF2B5EF4-FFF2-40B4-BE49-F238E27FC236}">
                  <a16:creationId xmlns:a16="http://schemas.microsoft.com/office/drawing/2014/main" id="{61DDC857-9A3A-4691-585F-C131D6EB689D}"/>
                </a:ext>
              </a:extLst>
            </p:cNvPr>
            <p:cNvGrpSpPr/>
            <p:nvPr/>
          </p:nvGrpSpPr>
          <p:grpSpPr>
            <a:xfrm>
              <a:off x="11247120" y="3766457"/>
              <a:ext cx="1371600" cy="3886200"/>
              <a:chOff x="1981200" y="3771900"/>
              <a:chExt cx="1371600" cy="3886200"/>
            </a:xfrm>
          </p:grpSpPr>
          <p:sp>
            <p:nvSpPr>
              <p:cNvPr id="107" name="Rectangle 106">
                <a:extLst>
                  <a:ext uri="{FF2B5EF4-FFF2-40B4-BE49-F238E27FC236}">
                    <a16:creationId xmlns:a16="http://schemas.microsoft.com/office/drawing/2014/main" id="{DBD0FAB1-B50A-1374-47C1-1820DC584398}"/>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8" name="Group 107">
                <a:extLst>
                  <a:ext uri="{FF2B5EF4-FFF2-40B4-BE49-F238E27FC236}">
                    <a16:creationId xmlns:a16="http://schemas.microsoft.com/office/drawing/2014/main" id="{6D1AB868-141E-136A-622E-BFA429BE2D9C}"/>
                  </a:ext>
                </a:extLst>
              </p:cNvPr>
              <p:cNvGrpSpPr/>
              <p:nvPr/>
            </p:nvGrpSpPr>
            <p:grpSpPr>
              <a:xfrm>
                <a:off x="2438400" y="4152900"/>
                <a:ext cx="457200" cy="3124200"/>
                <a:chOff x="2438400" y="4152900"/>
                <a:chExt cx="457200" cy="3124200"/>
              </a:xfrm>
            </p:grpSpPr>
            <p:sp>
              <p:nvSpPr>
                <p:cNvPr id="109" name="Rectangle 108">
                  <a:extLst>
                    <a:ext uri="{FF2B5EF4-FFF2-40B4-BE49-F238E27FC236}">
                      <a16:creationId xmlns:a16="http://schemas.microsoft.com/office/drawing/2014/main" id="{A11CA32C-F230-49AE-621C-618F8AAC280D}"/>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Rectangle 109">
                  <a:extLst>
                    <a:ext uri="{FF2B5EF4-FFF2-40B4-BE49-F238E27FC236}">
                      <a16:creationId xmlns:a16="http://schemas.microsoft.com/office/drawing/2014/main" id="{1A993B5C-E0AA-9A4D-AA59-686C572D1A20}"/>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1" name="Rectangle 110">
                  <a:extLst>
                    <a:ext uri="{FF2B5EF4-FFF2-40B4-BE49-F238E27FC236}">
                      <a16:creationId xmlns:a16="http://schemas.microsoft.com/office/drawing/2014/main" id="{2A321605-010A-261B-C9B9-5E9B19577023}"/>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Rectangle 111">
                  <a:extLst>
                    <a:ext uri="{FF2B5EF4-FFF2-40B4-BE49-F238E27FC236}">
                      <a16:creationId xmlns:a16="http://schemas.microsoft.com/office/drawing/2014/main" id="{BCC0FB34-0C4A-5464-667A-D7FA1549A2C7}"/>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3" name="Straight Arrow Connector 112">
                  <a:extLst>
                    <a:ext uri="{FF2B5EF4-FFF2-40B4-BE49-F238E27FC236}">
                      <a16:creationId xmlns:a16="http://schemas.microsoft.com/office/drawing/2014/main" id="{78EA9FAA-B6B4-9D54-F5D1-F0323B9818A8}"/>
                    </a:ext>
                  </a:extLst>
                </p:cNvPr>
                <p:cNvCxnSpPr>
                  <a:stCxn id="109" idx="0"/>
                  <a:endCxn id="110"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BE7A18F-51DE-04B2-66FB-B4DD475C6856}"/>
                    </a:ext>
                  </a:extLst>
                </p:cNvPr>
                <p:cNvCxnSpPr>
                  <a:cxnSpLocks/>
                  <a:stCxn id="110" idx="0"/>
                  <a:endCxn id="111"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258249C0-6021-2DCD-FB3D-0D95C55FA3CF}"/>
                    </a:ext>
                  </a:extLst>
                </p:cNvPr>
                <p:cNvCxnSpPr>
                  <a:cxnSpLocks/>
                  <a:stCxn id="111" idx="0"/>
                  <a:endCxn id="112"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A94D570-D0A8-89C2-AD5A-0E8E5B02AAA2}"/>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nvGrpSpPr>
            <p:cNvPr id="117" name="Group 116">
              <a:extLst>
                <a:ext uri="{FF2B5EF4-FFF2-40B4-BE49-F238E27FC236}">
                  <a16:creationId xmlns:a16="http://schemas.microsoft.com/office/drawing/2014/main" id="{A6F8CC66-D01B-B316-479B-2A53A9192A36}"/>
                </a:ext>
              </a:extLst>
            </p:cNvPr>
            <p:cNvGrpSpPr/>
            <p:nvPr/>
          </p:nvGrpSpPr>
          <p:grpSpPr>
            <a:xfrm>
              <a:off x="13563600" y="3766457"/>
              <a:ext cx="1371600" cy="3886200"/>
              <a:chOff x="1981200" y="3771900"/>
              <a:chExt cx="1371600" cy="3886200"/>
            </a:xfrm>
          </p:grpSpPr>
          <p:sp>
            <p:nvSpPr>
              <p:cNvPr id="118" name="Rectangle 117">
                <a:extLst>
                  <a:ext uri="{FF2B5EF4-FFF2-40B4-BE49-F238E27FC236}">
                    <a16:creationId xmlns:a16="http://schemas.microsoft.com/office/drawing/2014/main" id="{35135DD3-974B-97F4-003E-7419C7526392}"/>
                  </a:ext>
                </a:extLst>
              </p:cNvPr>
              <p:cNvSpPr/>
              <p:nvPr/>
            </p:nvSpPr>
            <p:spPr>
              <a:xfrm>
                <a:off x="1981200" y="3771900"/>
                <a:ext cx="1371600" cy="3886200"/>
              </a:xfrm>
              <a:prstGeom prst="rect">
                <a:avLst/>
              </a:prstGeom>
              <a:solidFill>
                <a:schemeClr val="bg1">
                  <a:alpha val="80000"/>
                </a:schemeClr>
              </a:solid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9" name="Group 118">
                <a:extLst>
                  <a:ext uri="{FF2B5EF4-FFF2-40B4-BE49-F238E27FC236}">
                    <a16:creationId xmlns:a16="http://schemas.microsoft.com/office/drawing/2014/main" id="{31DEFBA8-53A0-DD5E-1F3E-C2C96650A651}"/>
                  </a:ext>
                </a:extLst>
              </p:cNvPr>
              <p:cNvGrpSpPr/>
              <p:nvPr/>
            </p:nvGrpSpPr>
            <p:grpSpPr>
              <a:xfrm>
                <a:off x="2438400" y="4152900"/>
                <a:ext cx="457200" cy="3124200"/>
                <a:chOff x="2438400" y="4152900"/>
                <a:chExt cx="457200" cy="3124200"/>
              </a:xfrm>
            </p:grpSpPr>
            <p:sp>
              <p:nvSpPr>
                <p:cNvPr id="120" name="Rectangle 119">
                  <a:extLst>
                    <a:ext uri="{FF2B5EF4-FFF2-40B4-BE49-F238E27FC236}">
                      <a16:creationId xmlns:a16="http://schemas.microsoft.com/office/drawing/2014/main" id="{17A1AB66-EE3A-C595-52D3-C362484E33C7}"/>
                    </a:ext>
                  </a:extLst>
                </p:cNvPr>
                <p:cNvSpPr/>
                <p:nvPr/>
              </p:nvSpPr>
              <p:spPr>
                <a:xfrm>
                  <a:off x="2438400" y="6819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extLst>
                    <a:ext uri="{FF2B5EF4-FFF2-40B4-BE49-F238E27FC236}">
                      <a16:creationId xmlns:a16="http://schemas.microsoft.com/office/drawing/2014/main" id="{4BBE7BB3-3E2B-9D89-7A6F-3400677D5044}"/>
                    </a:ext>
                  </a:extLst>
                </p:cNvPr>
                <p:cNvSpPr/>
                <p:nvPr/>
              </p:nvSpPr>
              <p:spPr>
                <a:xfrm>
                  <a:off x="2438400" y="60579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ectangle 121">
                  <a:extLst>
                    <a:ext uri="{FF2B5EF4-FFF2-40B4-BE49-F238E27FC236}">
                      <a16:creationId xmlns:a16="http://schemas.microsoft.com/office/drawing/2014/main" id="{CA8CAE7D-90E5-8C48-962C-03927C39E421}"/>
                    </a:ext>
                  </a:extLst>
                </p:cNvPr>
                <p:cNvSpPr/>
                <p:nvPr/>
              </p:nvSpPr>
              <p:spPr>
                <a:xfrm>
                  <a:off x="2438400" y="52578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extLst>
                    <a:ext uri="{FF2B5EF4-FFF2-40B4-BE49-F238E27FC236}">
                      <a16:creationId xmlns:a16="http://schemas.microsoft.com/office/drawing/2014/main" id="{42C3229C-7053-FB0A-D5F5-5936D7B59E74}"/>
                    </a:ext>
                  </a:extLst>
                </p:cNvPr>
                <p:cNvSpPr/>
                <p:nvPr/>
              </p:nvSpPr>
              <p:spPr>
                <a:xfrm>
                  <a:off x="2438400" y="4457700"/>
                  <a:ext cx="457200" cy="45720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4" name="Straight Arrow Connector 123">
                  <a:extLst>
                    <a:ext uri="{FF2B5EF4-FFF2-40B4-BE49-F238E27FC236}">
                      <a16:creationId xmlns:a16="http://schemas.microsoft.com/office/drawing/2014/main" id="{94511A38-7480-C705-1A13-C5B12392E5DC}"/>
                    </a:ext>
                  </a:extLst>
                </p:cNvPr>
                <p:cNvCxnSpPr>
                  <a:stCxn id="120" idx="0"/>
                  <a:endCxn id="121" idx="2"/>
                </p:cNvCxnSpPr>
                <p:nvPr/>
              </p:nvCxnSpPr>
              <p:spPr>
                <a:xfrm flipV="1">
                  <a:off x="2667000" y="6515100"/>
                  <a:ext cx="0" cy="3048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69B6ED3-A8E7-EA08-661F-DD7959852A22}"/>
                    </a:ext>
                  </a:extLst>
                </p:cNvPr>
                <p:cNvCxnSpPr>
                  <a:cxnSpLocks/>
                  <a:stCxn id="121" idx="0"/>
                  <a:endCxn id="122" idx="2"/>
                </p:cNvCxnSpPr>
                <p:nvPr/>
              </p:nvCxnSpPr>
              <p:spPr>
                <a:xfrm flipV="1">
                  <a:off x="2667000" y="57150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44227628-AB2C-B003-17C8-DC5B6B082C6F}"/>
                    </a:ext>
                  </a:extLst>
                </p:cNvPr>
                <p:cNvCxnSpPr>
                  <a:cxnSpLocks/>
                  <a:stCxn id="122" idx="0"/>
                  <a:endCxn id="123" idx="2"/>
                </p:cNvCxnSpPr>
                <p:nvPr/>
              </p:nvCxnSpPr>
              <p:spPr>
                <a:xfrm flipV="1">
                  <a:off x="2667000" y="4914900"/>
                  <a:ext cx="0" cy="342900"/>
                </a:xfrm>
                <a:prstGeom prst="straightConnector1">
                  <a:avLst/>
                </a:prstGeom>
                <a:ln w="254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60F8290B-21FE-99AF-43BE-1111D4A3C624}"/>
                    </a:ext>
                  </a:extLst>
                </p:cNvPr>
                <p:cNvCxnSpPr/>
                <p:nvPr/>
              </p:nvCxnSpPr>
              <p:spPr>
                <a:xfrm flipV="1">
                  <a:off x="2667000" y="4152900"/>
                  <a:ext cx="0" cy="304800"/>
                </a:xfrm>
                <a:prstGeom prst="straightConnector1">
                  <a:avLst/>
                </a:prstGeom>
                <a:ln w="25400">
                  <a:solidFill>
                    <a:srgbClr val="333333"/>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grpSp>
      <p:cxnSp>
        <p:nvCxnSpPr>
          <p:cNvPr id="130" name="Straight Arrow Connector 129">
            <a:extLst>
              <a:ext uri="{FF2B5EF4-FFF2-40B4-BE49-F238E27FC236}">
                <a16:creationId xmlns:a16="http://schemas.microsoft.com/office/drawing/2014/main" id="{783194CB-C41A-8C85-6DA9-D5F7C540325D}"/>
              </a:ext>
            </a:extLst>
          </p:cNvPr>
          <p:cNvCxnSpPr>
            <a:stCxn id="71" idx="3"/>
            <a:endCxn id="74" idx="1"/>
          </p:cNvCxnSpPr>
          <p:nvPr/>
        </p:nvCxnSpPr>
        <p:spPr>
          <a:xfrm>
            <a:off x="4038600" y="5709557"/>
            <a:ext cx="944880" cy="0"/>
          </a:xfrm>
          <a:prstGeom prst="straightConnector1">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51E992C5-552D-5739-38D4-9E2351DEC138}"/>
              </a:ext>
            </a:extLst>
          </p:cNvPr>
          <p:cNvCxnSpPr/>
          <p:nvPr/>
        </p:nvCxnSpPr>
        <p:spPr>
          <a:xfrm>
            <a:off x="6355080" y="5709557"/>
            <a:ext cx="944880" cy="0"/>
          </a:xfrm>
          <a:prstGeom prst="straightConnector1">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64E6F1B1-77B4-A6DB-01C4-B82800FC7A5E}"/>
              </a:ext>
            </a:extLst>
          </p:cNvPr>
          <p:cNvCxnSpPr/>
          <p:nvPr/>
        </p:nvCxnSpPr>
        <p:spPr>
          <a:xfrm>
            <a:off x="8671560" y="5693228"/>
            <a:ext cx="944880" cy="0"/>
          </a:xfrm>
          <a:prstGeom prst="straightConnector1">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190047F2-DC09-0A1F-B1B5-3E41F159D5E0}"/>
              </a:ext>
            </a:extLst>
          </p:cNvPr>
          <p:cNvCxnSpPr/>
          <p:nvPr/>
        </p:nvCxnSpPr>
        <p:spPr>
          <a:xfrm>
            <a:off x="10988040" y="5709557"/>
            <a:ext cx="944880" cy="0"/>
          </a:xfrm>
          <a:prstGeom prst="straightConnector1">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0BC71B93-5ADC-B4D2-EC77-B5375DD9B56D}"/>
              </a:ext>
            </a:extLst>
          </p:cNvPr>
          <p:cNvCxnSpPr/>
          <p:nvPr/>
        </p:nvCxnSpPr>
        <p:spPr>
          <a:xfrm>
            <a:off x="13304520" y="5691414"/>
            <a:ext cx="944880" cy="0"/>
          </a:xfrm>
          <a:prstGeom prst="straightConnector1">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Elbow 152">
            <a:extLst>
              <a:ext uri="{FF2B5EF4-FFF2-40B4-BE49-F238E27FC236}">
                <a16:creationId xmlns:a16="http://schemas.microsoft.com/office/drawing/2014/main" id="{B4B6B0EC-BCD7-276F-944E-56910C817A77}"/>
              </a:ext>
            </a:extLst>
          </p:cNvPr>
          <p:cNvCxnSpPr>
            <a:stCxn id="74" idx="2"/>
            <a:endCxn id="107" idx="2"/>
          </p:cNvCxnSpPr>
          <p:nvPr/>
        </p:nvCxnSpPr>
        <p:spPr>
          <a:xfrm rot="16200000" flipH="1">
            <a:off x="9144000" y="4177937"/>
            <a:ext cx="12700" cy="6949440"/>
          </a:xfrm>
          <a:prstGeom prst="bentConnector3">
            <a:avLst>
              <a:gd name="adj1" fmla="val 6485717"/>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5" name="Connector: Elbow 154">
            <a:extLst>
              <a:ext uri="{FF2B5EF4-FFF2-40B4-BE49-F238E27FC236}">
                <a16:creationId xmlns:a16="http://schemas.microsoft.com/office/drawing/2014/main" id="{43921CAC-4142-AE42-122E-D8503B8008C8}"/>
              </a:ext>
            </a:extLst>
          </p:cNvPr>
          <p:cNvCxnSpPr>
            <a:cxnSpLocks/>
            <a:stCxn id="85" idx="2"/>
            <a:endCxn id="118" idx="2"/>
          </p:cNvCxnSpPr>
          <p:nvPr/>
        </p:nvCxnSpPr>
        <p:spPr>
          <a:xfrm rot="16200000" flipH="1">
            <a:off x="11460480" y="4177937"/>
            <a:ext cx="12700" cy="6949440"/>
          </a:xfrm>
          <a:prstGeom prst="bentConnector3">
            <a:avLst>
              <a:gd name="adj1" fmla="val 3971433"/>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59">
            <a:extLst>
              <a:ext uri="{FF2B5EF4-FFF2-40B4-BE49-F238E27FC236}">
                <a16:creationId xmlns:a16="http://schemas.microsoft.com/office/drawing/2014/main" id="{F98E677E-8971-4936-C6E9-7CE5807DCF43}"/>
              </a:ext>
            </a:extLst>
          </p:cNvPr>
          <p:cNvCxnSpPr>
            <a:cxnSpLocks/>
            <a:stCxn id="71" idx="2"/>
            <a:endCxn id="96" idx="2"/>
          </p:cNvCxnSpPr>
          <p:nvPr/>
        </p:nvCxnSpPr>
        <p:spPr>
          <a:xfrm rot="16200000" flipH="1">
            <a:off x="6827520" y="4177937"/>
            <a:ext cx="12700" cy="6949440"/>
          </a:xfrm>
          <a:prstGeom prst="bentConnector3">
            <a:avLst>
              <a:gd name="adj1" fmla="val 9571425"/>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4" name="Connector: Elbow 163">
            <a:extLst>
              <a:ext uri="{FF2B5EF4-FFF2-40B4-BE49-F238E27FC236}">
                <a16:creationId xmlns:a16="http://schemas.microsoft.com/office/drawing/2014/main" id="{16361C84-4AED-352E-599F-82C34E4EBBF6}"/>
              </a:ext>
            </a:extLst>
          </p:cNvPr>
          <p:cNvCxnSpPr>
            <a:cxnSpLocks/>
            <a:stCxn id="71" idx="0"/>
            <a:endCxn id="85" idx="0"/>
          </p:cNvCxnSpPr>
          <p:nvPr/>
        </p:nvCxnSpPr>
        <p:spPr>
          <a:xfrm rot="5400000" flipH="1" flipV="1">
            <a:off x="5669280" y="1449977"/>
            <a:ext cx="12700" cy="4632960"/>
          </a:xfrm>
          <a:prstGeom prst="bentConnector3">
            <a:avLst>
              <a:gd name="adj1" fmla="val 6714283"/>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8" name="Connector: Elbow 167">
            <a:extLst>
              <a:ext uri="{FF2B5EF4-FFF2-40B4-BE49-F238E27FC236}">
                <a16:creationId xmlns:a16="http://schemas.microsoft.com/office/drawing/2014/main" id="{717288CC-FC8E-EA26-DCC4-01934D6661B2}"/>
              </a:ext>
            </a:extLst>
          </p:cNvPr>
          <p:cNvCxnSpPr>
            <a:cxnSpLocks/>
            <a:stCxn id="96" idx="0"/>
            <a:endCxn id="118" idx="0"/>
          </p:cNvCxnSpPr>
          <p:nvPr/>
        </p:nvCxnSpPr>
        <p:spPr>
          <a:xfrm rot="5400000" flipH="1" flipV="1">
            <a:off x="12618720" y="1449977"/>
            <a:ext cx="12700" cy="4632960"/>
          </a:xfrm>
          <a:prstGeom prst="bentConnector3">
            <a:avLst>
              <a:gd name="adj1" fmla="val 6942850"/>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8" name="Connector: Elbow 177">
            <a:extLst>
              <a:ext uri="{FF2B5EF4-FFF2-40B4-BE49-F238E27FC236}">
                <a16:creationId xmlns:a16="http://schemas.microsoft.com/office/drawing/2014/main" id="{1CE4FD94-E38E-8E83-A7A0-8583FE3D847B}"/>
              </a:ext>
            </a:extLst>
          </p:cNvPr>
          <p:cNvCxnSpPr>
            <a:cxnSpLocks/>
            <a:stCxn id="74" idx="0"/>
            <a:endCxn id="107" idx="0"/>
          </p:cNvCxnSpPr>
          <p:nvPr/>
        </p:nvCxnSpPr>
        <p:spPr>
          <a:xfrm rot="5400000" flipH="1" flipV="1">
            <a:off x="9144000" y="291737"/>
            <a:ext cx="12700" cy="6949440"/>
          </a:xfrm>
          <a:prstGeom prst="bentConnector3">
            <a:avLst>
              <a:gd name="adj1" fmla="val 1800000"/>
            </a:avLst>
          </a:prstGeom>
          <a:ln w="50800">
            <a:solidFill>
              <a:schemeClr val="accent2"/>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82" name="Group 181">
            <a:extLst>
              <a:ext uri="{FF2B5EF4-FFF2-40B4-BE49-F238E27FC236}">
                <a16:creationId xmlns:a16="http://schemas.microsoft.com/office/drawing/2014/main" id="{F295BA9E-9BD2-3B7F-55E4-08BCA2D59709}"/>
              </a:ext>
            </a:extLst>
          </p:cNvPr>
          <p:cNvGrpSpPr/>
          <p:nvPr/>
        </p:nvGrpSpPr>
        <p:grpSpPr>
          <a:xfrm>
            <a:off x="990600" y="540000"/>
            <a:ext cx="16268700" cy="613410"/>
            <a:chOff x="990600" y="540000"/>
            <a:chExt cx="16268700" cy="613410"/>
          </a:xfrm>
        </p:grpSpPr>
        <p:grpSp>
          <p:nvGrpSpPr>
            <p:cNvPr id="183" name="Group 3">
              <a:extLst>
                <a:ext uri="{FF2B5EF4-FFF2-40B4-BE49-F238E27FC236}">
                  <a16:creationId xmlns:a16="http://schemas.microsoft.com/office/drawing/2014/main" id="{0FB15E78-2312-8C06-F5E8-C67B207BD91D}"/>
                </a:ext>
              </a:extLst>
            </p:cNvPr>
            <p:cNvGrpSpPr/>
            <p:nvPr/>
          </p:nvGrpSpPr>
          <p:grpSpPr>
            <a:xfrm>
              <a:off x="1028700" y="540000"/>
              <a:ext cx="16230600" cy="613410"/>
              <a:chOff x="0" y="142130"/>
              <a:chExt cx="21640800" cy="1642694"/>
            </a:xfrm>
          </p:grpSpPr>
          <p:sp>
            <p:nvSpPr>
              <p:cNvPr id="186" name="AutoShape 4">
                <a:extLst>
                  <a:ext uri="{FF2B5EF4-FFF2-40B4-BE49-F238E27FC236}">
                    <a16:creationId xmlns:a16="http://schemas.microsoft.com/office/drawing/2014/main" id="{6CCDF3D2-D32E-5B27-68F3-8DCB038C2047}"/>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87" name="TextBox 5">
                <a:extLst>
                  <a:ext uri="{FF2B5EF4-FFF2-40B4-BE49-F238E27FC236}">
                    <a16:creationId xmlns:a16="http://schemas.microsoft.com/office/drawing/2014/main" id="{9F74C7CA-F901-69D4-4293-464C816222F6}"/>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84" name="TextBox 183">
              <a:extLst>
                <a:ext uri="{FF2B5EF4-FFF2-40B4-BE49-F238E27FC236}">
                  <a16:creationId xmlns:a16="http://schemas.microsoft.com/office/drawing/2014/main" id="{C43267C6-425E-AF3C-A59F-68AE2CB70602}"/>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85" name="TextBox 184">
              <a:extLst>
                <a:ext uri="{FF2B5EF4-FFF2-40B4-BE49-F238E27FC236}">
                  <a16:creationId xmlns:a16="http://schemas.microsoft.com/office/drawing/2014/main" id="{AE25A87A-600A-D21F-719E-0C25945A9E6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363904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3FFC0-D35C-9135-6E89-2D443C2BDD25}"/>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44419385-B46C-72EA-4733-568CAF31519A}"/>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80B621A4-166F-2B8A-6EAD-280BD7874C5C}"/>
              </a:ext>
            </a:extLst>
          </p:cNvPr>
          <p:cNvSpPr txBox="1"/>
          <p:nvPr/>
        </p:nvSpPr>
        <p:spPr>
          <a:xfrm>
            <a:off x="1029600" y="1836000"/>
            <a:ext cx="6155852"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Competing logics of SSI</a:t>
            </a:r>
          </a:p>
        </p:txBody>
      </p:sp>
      <p:grpSp>
        <p:nvGrpSpPr>
          <p:cNvPr id="16" name="Group 15">
            <a:extLst>
              <a:ext uri="{FF2B5EF4-FFF2-40B4-BE49-F238E27FC236}">
                <a16:creationId xmlns:a16="http://schemas.microsoft.com/office/drawing/2014/main" id="{5031F7D1-1843-8CB6-988D-561FDF0EE598}"/>
              </a:ext>
            </a:extLst>
          </p:cNvPr>
          <p:cNvGrpSpPr/>
          <p:nvPr/>
        </p:nvGrpSpPr>
        <p:grpSpPr>
          <a:xfrm>
            <a:off x="4147237" y="3692978"/>
            <a:ext cx="9993526" cy="5108122"/>
            <a:chOff x="2438400" y="3692978"/>
            <a:chExt cx="9993526" cy="5108122"/>
          </a:xfrm>
        </p:grpSpPr>
        <p:sp>
          <p:nvSpPr>
            <p:cNvPr id="2" name="Rectangle 1">
              <a:extLst>
                <a:ext uri="{FF2B5EF4-FFF2-40B4-BE49-F238E27FC236}">
                  <a16:creationId xmlns:a16="http://schemas.microsoft.com/office/drawing/2014/main" id="{37AF2A9B-8C5F-827B-DBA1-39852AD19DAE}"/>
                </a:ext>
              </a:extLst>
            </p:cNvPr>
            <p:cNvSpPr/>
            <p:nvPr/>
          </p:nvSpPr>
          <p:spPr>
            <a:xfrm>
              <a:off x="2438400" y="3692978"/>
              <a:ext cx="4572000" cy="2133600"/>
            </a:xfrm>
            <a:prstGeom prst="rect">
              <a:avLst/>
            </a:prstGeom>
            <a:noFill/>
            <a:ln w="50800">
              <a:solidFill>
                <a:srgbClr val="33333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rgbClr val="333333"/>
                  </a:solidFill>
                  <a:latin typeface="Noto Sans" panose="020B0502040504020204" pitchFamily="34" charset="0"/>
                  <a:ea typeface="Noto Sans" panose="020B0502040504020204" pitchFamily="34" charset="0"/>
                  <a:cs typeface="Noto Sans" panose="020B0502040504020204" pitchFamily="34" charset="0"/>
                </a:rPr>
                <a:t>neutrality of technology</a:t>
              </a:r>
            </a:p>
          </p:txBody>
        </p:sp>
        <p:sp>
          <p:nvSpPr>
            <p:cNvPr id="8" name="Rectangle 7">
              <a:extLst>
                <a:ext uri="{FF2B5EF4-FFF2-40B4-BE49-F238E27FC236}">
                  <a16:creationId xmlns:a16="http://schemas.microsoft.com/office/drawing/2014/main" id="{D7053488-5A66-C2A8-63C4-381B6E4939DA}"/>
                </a:ext>
              </a:extLst>
            </p:cNvPr>
            <p:cNvSpPr/>
            <p:nvPr/>
          </p:nvSpPr>
          <p:spPr>
            <a:xfrm>
              <a:off x="7859926" y="3692978"/>
              <a:ext cx="4572000" cy="2133600"/>
            </a:xfrm>
            <a:prstGeom prst="rect">
              <a:avLst/>
            </a:prstGeom>
            <a:noFill/>
            <a:ln w="50800">
              <a:solidFill>
                <a:srgbClr val="33333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rgbClr val="333333"/>
                  </a:solidFill>
                  <a:latin typeface="Noto Sans" panose="020B0502040504020204" pitchFamily="34" charset="0"/>
                  <a:ea typeface="Noto Sans" panose="020B0502040504020204" pitchFamily="34" charset="0"/>
                  <a:cs typeface="Noto Sans" panose="020B0502040504020204" pitchFamily="34" charset="0"/>
                </a:rPr>
                <a:t>capacities of refugees</a:t>
              </a:r>
            </a:p>
          </p:txBody>
        </p:sp>
        <p:sp>
          <p:nvSpPr>
            <p:cNvPr id="13" name="Rectangle 12">
              <a:extLst>
                <a:ext uri="{FF2B5EF4-FFF2-40B4-BE49-F238E27FC236}">
                  <a16:creationId xmlns:a16="http://schemas.microsoft.com/office/drawing/2014/main" id="{ED3BBBF0-475A-C5BC-90BD-FF87B7059607}"/>
                </a:ext>
              </a:extLst>
            </p:cNvPr>
            <p:cNvSpPr/>
            <p:nvPr/>
          </p:nvSpPr>
          <p:spPr>
            <a:xfrm>
              <a:off x="2438400" y="6667500"/>
              <a:ext cx="4572000" cy="2133600"/>
            </a:xfrm>
            <a:prstGeom prst="rect">
              <a:avLst/>
            </a:prstGeom>
            <a:noFill/>
            <a:ln w="50800">
              <a:solidFill>
                <a:srgbClr val="33333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rgbClr val="333333"/>
                  </a:solidFill>
                  <a:latin typeface="Noto Sans" panose="020B0502040504020204" pitchFamily="34" charset="0"/>
                  <a:ea typeface="Noto Sans" panose="020B0502040504020204" pitchFamily="34" charset="0"/>
                  <a:cs typeface="Noto Sans" panose="020B0502040504020204" pitchFamily="34" charset="0"/>
                </a:rPr>
                <a:t>state monopoly on identify verification</a:t>
              </a:r>
            </a:p>
          </p:txBody>
        </p:sp>
        <p:sp>
          <p:nvSpPr>
            <p:cNvPr id="15" name="Rectangle 14">
              <a:extLst>
                <a:ext uri="{FF2B5EF4-FFF2-40B4-BE49-F238E27FC236}">
                  <a16:creationId xmlns:a16="http://schemas.microsoft.com/office/drawing/2014/main" id="{D79D3BD9-7B40-0B38-53D9-54732BE2E55C}"/>
                </a:ext>
              </a:extLst>
            </p:cNvPr>
            <p:cNvSpPr/>
            <p:nvPr/>
          </p:nvSpPr>
          <p:spPr>
            <a:xfrm>
              <a:off x="7859926" y="6667500"/>
              <a:ext cx="4572000" cy="2133600"/>
            </a:xfrm>
            <a:prstGeom prst="rect">
              <a:avLst/>
            </a:prstGeom>
            <a:solidFill>
              <a:schemeClr val="bg1">
                <a:alpha val="80000"/>
              </a:schemeClr>
            </a:solidFill>
            <a:ln w="50800">
              <a:solidFill>
                <a:srgbClr val="33333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solidFill>
                    <a:srgbClr val="333333"/>
                  </a:solidFill>
                  <a:latin typeface="Noto Sans" panose="020B0502040504020204" pitchFamily="34" charset="0"/>
                  <a:ea typeface="Noto Sans" panose="020B0502040504020204" pitchFamily="34" charset="0"/>
                  <a:cs typeface="Noto Sans" panose="020B0502040504020204" pitchFamily="34" charset="0"/>
                </a:rPr>
                <a:t>economic models around digital identity</a:t>
              </a:r>
            </a:p>
          </p:txBody>
        </p:sp>
      </p:grpSp>
      <p:grpSp>
        <p:nvGrpSpPr>
          <p:cNvPr id="7" name="Group 6">
            <a:extLst>
              <a:ext uri="{FF2B5EF4-FFF2-40B4-BE49-F238E27FC236}">
                <a16:creationId xmlns:a16="http://schemas.microsoft.com/office/drawing/2014/main" id="{382AEE91-CF62-6802-C10E-4087895D740D}"/>
              </a:ext>
            </a:extLst>
          </p:cNvPr>
          <p:cNvGrpSpPr/>
          <p:nvPr/>
        </p:nvGrpSpPr>
        <p:grpSpPr>
          <a:xfrm>
            <a:off x="990600" y="540000"/>
            <a:ext cx="16268700" cy="613410"/>
            <a:chOff x="990600" y="540000"/>
            <a:chExt cx="16268700" cy="613410"/>
          </a:xfrm>
        </p:grpSpPr>
        <p:grpSp>
          <p:nvGrpSpPr>
            <p:cNvPr id="12" name="Group 3">
              <a:extLst>
                <a:ext uri="{FF2B5EF4-FFF2-40B4-BE49-F238E27FC236}">
                  <a16:creationId xmlns:a16="http://schemas.microsoft.com/office/drawing/2014/main" id="{C2FA10C3-7BC4-71C3-A46D-A46C7B9F24FD}"/>
                </a:ext>
              </a:extLst>
            </p:cNvPr>
            <p:cNvGrpSpPr/>
            <p:nvPr/>
          </p:nvGrpSpPr>
          <p:grpSpPr>
            <a:xfrm>
              <a:off x="1028700" y="540000"/>
              <a:ext cx="16230600" cy="613410"/>
              <a:chOff x="0" y="142130"/>
              <a:chExt cx="21640800" cy="1642694"/>
            </a:xfrm>
          </p:grpSpPr>
          <p:sp>
            <p:nvSpPr>
              <p:cNvPr id="18" name="AutoShape 4">
                <a:extLst>
                  <a:ext uri="{FF2B5EF4-FFF2-40B4-BE49-F238E27FC236}">
                    <a16:creationId xmlns:a16="http://schemas.microsoft.com/office/drawing/2014/main" id="{4BB9814C-A2BE-30C4-088F-7E1FED465317}"/>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9" name="TextBox 5">
                <a:extLst>
                  <a:ext uri="{FF2B5EF4-FFF2-40B4-BE49-F238E27FC236}">
                    <a16:creationId xmlns:a16="http://schemas.microsoft.com/office/drawing/2014/main" id="{871CEBB1-4263-46A4-9A3F-40EB5BC17525}"/>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4" name="TextBox 13">
              <a:extLst>
                <a:ext uri="{FF2B5EF4-FFF2-40B4-BE49-F238E27FC236}">
                  <a16:creationId xmlns:a16="http://schemas.microsoft.com/office/drawing/2014/main" id="{AB784809-B405-7095-3617-8212DD62DF7D}"/>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7" name="TextBox 16">
              <a:extLst>
                <a:ext uri="{FF2B5EF4-FFF2-40B4-BE49-F238E27FC236}">
                  <a16:creationId xmlns:a16="http://schemas.microsoft.com/office/drawing/2014/main" id="{31D1935B-2F18-C58F-C721-209137BDEE12}"/>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33</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832255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80BF9-0557-2E1C-9BCE-45A09A34C435}"/>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79E00859-D618-1B69-BCE6-DB8C639BA9B3}"/>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4A2CC8E3-39F2-D7F3-A89E-ABA70344B59A}"/>
              </a:ext>
            </a:extLst>
          </p:cNvPr>
          <p:cNvSpPr txBox="1"/>
          <p:nvPr/>
        </p:nvSpPr>
        <p:spPr>
          <a:xfrm>
            <a:off x="1029600" y="1836000"/>
            <a:ext cx="2646878"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SSI: Input</a:t>
            </a:r>
          </a:p>
        </p:txBody>
      </p:sp>
      <p:sp>
        <p:nvSpPr>
          <p:cNvPr id="16" name="Rectangle 15">
            <a:extLst>
              <a:ext uri="{FF2B5EF4-FFF2-40B4-BE49-F238E27FC236}">
                <a16:creationId xmlns:a16="http://schemas.microsoft.com/office/drawing/2014/main" id="{15A38909-FD18-1FF6-2CB2-C096E47C163D}"/>
              </a:ext>
            </a:extLst>
          </p:cNvPr>
          <p:cNvSpPr/>
          <p:nvPr/>
        </p:nvSpPr>
        <p:spPr>
          <a:xfrm>
            <a:off x="2667000" y="3390900"/>
            <a:ext cx="4572000" cy="1140277"/>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UN Sustainable Development Goal 16.9</a:t>
            </a:r>
          </a:p>
        </p:txBody>
      </p:sp>
      <p:sp>
        <p:nvSpPr>
          <p:cNvPr id="18" name="Rectangle 17">
            <a:extLst>
              <a:ext uri="{FF2B5EF4-FFF2-40B4-BE49-F238E27FC236}">
                <a16:creationId xmlns:a16="http://schemas.microsoft.com/office/drawing/2014/main" id="{25CA7BDD-7C6D-49BF-439C-2B0B0F666E93}"/>
              </a:ext>
            </a:extLst>
          </p:cNvPr>
          <p:cNvSpPr/>
          <p:nvPr/>
        </p:nvSpPr>
        <p:spPr>
          <a:xfrm>
            <a:off x="8686800" y="2696250"/>
            <a:ext cx="5410200" cy="1140277"/>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UNHCR registration protocols</a:t>
            </a:r>
          </a:p>
        </p:txBody>
      </p:sp>
      <p:sp>
        <p:nvSpPr>
          <p:cNvPr id="19" name="Oval 18">
            <a:extLst>
              <a:ext uri="{FF2B5EF4-FFF2-40B4-BE49-F238E27FC236}">
                <a16:creationId xmlns:a16="http://schemas.microsoft.com/office/drawing/2014/main" id="{EE6F8FB1-DED5-FA71-79E1-CE624D39B014}"/>
              </a:ext>
            </a:extLst>
          </p:cNvPr>
          <p:cNvSpPr/>
          <p:nvPr/>
        </p:nvSpPr>
        <p:spPr>
          <a:xfrm>
            <a:off x="8382000" y="5295900"/>
            <a:ext cx="1524000" cy="1524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latin typeface="Noto Sans" panose="020B0502040504020204" pitchFamily="34" charset="0"/>
                <a:ea typeface="Noto Sans" panose="020B0502040504020204" pitchFamily="34" charset="0"/>
                <a:cs typeface="Noto Sans" panose="020B0502040504020204" pitchFamily="34" charset="0"/>
              </a:rPr>
              <a:t>SSI</a:t>
            </a:r>
          </a:p>
        </p:txBody>
      </p:sp>
      <p:sp>
        <p:nvSpPr>
          <p:cNvPr id="21" name="Rectangle 20">
            <a:extLst>
              <a:ext uri="{FF2B5EF4-FFF2-40B4-BE49-F238E27FC236}">
                <a16:creationId xmlns:a16="http://schemas.microsoft.com/office/drawing/2014/main" id="{F642171E-FDA8-ABBE-3D04-0806E6622F80}"/>
              </a:ext>
            </a:extLst>
          </p:cNvPr>
          <p:cNvSpPr/>
          <p:nvPr/>
        </p:nvSpPr>
        <p:spPr>
          <a:xfrm>
            <a:off x="6781800" y="8496300"/>
            <a:ext cx="4248322" cy="1140277"/>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migration and asylum policies of host states</a:t>
            </a:r>
          </a:p>
        </p:txBody>
      </p:sp>
      <p:sp>
        <p:nvSpPr>
          <p:cNvPr id="23" name="Rectangle 22">
            <a:extLst>
              <a:ext uri="{FF2B5EF4-FFF2-40B4-BE49-F238E27FC236}">
                <a16:creationId xmlns:a16="http://schemas.microsoft.com/office/drawing/2014/main" id="{455453EF-542B-4990-A096-47C009C05CFB}"/>
              </a:ext>
            </a:extLst>
          </p:cNvPr>
          <p:cNvSpPr/>
          <p:nvPr/>
        </p:nvSpPr>
        <p:spPr>
          <a:xfrm>
            <a:off x="11749033" y="6057900"/>
            <a:ext cx="3775111" cy="1140277"/>
          </a:xfrm>
          <a:prstGeom prst="rect">
            <a:avLst/>
          </a:prstGeom>
          <a:solidFill>
            <a:schemeClr val="bg1">
              <a:alpha val="80000"/>
            </a:schemeClr>
          </a:solid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technological design specifications</a:t>
            </a:r>
          </a:p>
        </p:txBody>
      </p:sp>
      <p:sp>
        <p:nvSpPr>
          <p:cNvPr id="25" name="Rectangle 24">
            <a:extLst>
              <a:ext uri="{FF2B5EF4-FFF2-40B4-BE49-F238E27FC236}">
                <a16:creationId xmlns:a16="http://schemas.microsoft.com/office/drawing/2014/main" id="{1B489D06-FDFB-C3E9-0C60-E179C1219ECF}"/>
              </a:ext>
            </a:extLst>
          </p:cNvPr>
          <p:cNvSpPr/>
          <p:nvPr/>
        </p:nvSpPr>
        <p:spPr>
          <a:xfrm>
            <a:off x="4186415" y="5813184"/>
            <a:ext cx="2225430" cy="1140277"/>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economic interests</a:t>
            </a:r>
          </a:p>
        </p:txBody>
      </p:sp>
      <p:cxnSp>
        <p:nvCxnSpPr>
          <p:cNvPr id="27" name="Straight Arrow Connector 26">
            <a:extLst>
              <a:ext uri="{FF2B5EF4-FFF2-40B4-BE49-F238E27FC236}">
                <a16:creationId xmlns:a16="http://schemas.microsoft.com/office/drawing/2014/main" id="{71F0AF92-0D4E-74B8-04A7-DCD87687C7CD}"/>
              </a:ext>
            </a:extLst>
          </p:cNvPr>
          <p:cNvCxnSpPr/>
          <p:nvPr/>
        </p:nvCxnSpPr>
        <p:spPr>
          <a:xfrm flipH="1">
            <a:off x="9829800" y="3961038"/>
            <a:ext cx="1224325" cy="1334862"/>
          </a:xfrm>
          <a:prstGeom prst="straightConnector1">
            <a:avLst/>
          </a:prstGeom>
          <a:ln w="508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AD811C-D797-94C1-920C-2B09CA5B8307}"/>
              </a:ext>
            </a:extLst>
          </p:cNvPr>
          <p:cNvCxnSpPr>
            <a:cxnSpLocks/>
          </p:cNvCxnSpPr>
          <p:nvPr/>
        </p:nvCxnSpPr>
        <p:spPr>
          <a:xfrm>
            <a:off x="7037614" y="4708741"/>
            <a:ext cx="1311411" cy="749096"/>
          </a:xfrm>
          <a:prstGeom prst="straightConnector1">
            <a:avLst/>
          </a:prstGeom>
          <a:ln w="508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3837ABA-9CC6-D879-6150-6CEAF6BC1131}"/>
              </a:ext>
            </a:extLst>
          </p:cNvPr>
          <p:cNvCxnSpPr>
            <a:cxnSpLocks/>
          </p:cNvCxnSpPr>
          <p:nvPr/>
        </p:nvCxnSpPr>
        <p:spPr>
          <a:xfrm flipH="1" flipV="1">
            <a:off x="10012500" y="6314044"/>
            <a:ext cx="1569900" cy="313994"/>
          </a:xfrm>
          <a:prstGeom prst="straightConnector1">
            <a:avLst/>
          </a:prstGeom>
          <a:ln w="508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C2CE927-58E8-A252-F0C2-76D5A3C6A382}"/>
              </a:ext>
            </a:extLst>
          </p:cNvPr>
          <p:cNvCxnSpPr>
            <a:cxnSpLocks/>
          </p:cNvCxnSpPr>
          <p:nvPr/>
        </p:nvCxnSpPr>
        <p:spPr>
          <a:xfrm flipV="1">
            <a:off x="8905961" y="6966845"/>
            <a:ext cx="238039" cy="1351891"/>
          </a:xfrm>
          <a:prstGeom prst="straightConnector1">
            <a:avLst/>
          </a:prstGeom>
          <a:ln w="50800">
            <a:solidFill>
              <a:srgbClr val="333333"/>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0429367-145E-6C33-F655-5861D1073ACB}"/>
              </a:ext>
            </a:extLst>
          </p:cNvPr>
          <p:cNvCxnSpPr>
            <a:cxnSpLocks/>
          </p:cNvCxnSpPr>
          <p:nvPr/>
        </p:nvCxnSpPr>
        <p:spPr>
          <a:xfrm flipV="1">
            <a:off x="6599783" y="6314044"/>
            <a:ext cx="1675717" cy="136430"/>
          </a:xfrm>
          <a:prstGeom prst="straightConnector1">
            <a:avLst/>
          </a:prstGeom>
          <a:ln w="50800">
            <a:solidFill>
              <a:srgbClr val="333333"/>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CD58DBD-65B5-DC82-2D7E-274AF9EE3C5D}"/>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DDC267C8-7F8D-2526-1749-03B6C8113CC9}"/>
                </a:ext>
              </a:extLst>
            </p:cNvPr>
            <p:cNvGrpSpPr/>
            <p:nvPr/>
          </p:nvGrpSpPr>
          <p:grpSpPr>
            <a:xfrm>
              <a:off x="1028700" y="540000"/>
              <a:ext cx="16230600" cy="613410"/>
              <a:chOff x="0" y="142130"/>
              <a:chExt cx="21640800" cy="1642694"/>
            </a:xfrm>
          </p:grpSpPr>
          <p:sp>
            <p:nvSpPr>
              <p:cNvPr id="13" name="AutoShape 4">
                <a:extLst>
                  <a:ext uri="{FF2B5EF4-FFF2-40B4-BE49-F238E27FC236}">
                    <a16:creationId xmlns:a16="http://schemas.microsoft.com/office/drawing/2014/main" id="{EFCA7290-B95D-81CF-54B9-779BD42D50F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4" name="TextBox 5">
                <a:extLst>
                  <a:ext uri="{FF2B5EF4-FFF2-40B4-BE49-F238E27FC236}">
                    <a16:creationId xmlns:a16="http://schemas.microsoft.com/office/drawing/2014/main" id="{3EB0A40F-502E-C252-0846-E19790EDFD79}"/>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653E4416-7439-825A-7160-F19E4C5D2343}"/>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C678BE0B-E387-D2C5-83ED-AFE46E78518E}"/>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34</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3277958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01BE3-F604-2C3C-B04D-F6705AB9A90A}"/>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B1721912-AFC1-9DB8-DE54-CADA860B694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E6042485-B073-75E5-8401-823B2F71828B}"/>
              </a:ext>
            </a:extLst>
          </p:cNvPr>
          <p:cNvSpPr txBox="1"/>
          <p:nvPr/>
        </p:nvSpPr>
        <p:spPr>
          <a:xfrm>
            <a:off x="1029600" y="1836000"/>
            <a:ext cx="3174267"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SSI: Process</a:t>
            </a:r>
          </a:p>
        </p:txBody>
      </p:sp>
      <p:sp>
        <p:nvSpPr>
          <p:cNvPr id="19" name="Oval 18">
            <a:extLst>
              <a:ext uri="{FF2B5EF4-FFF2-40B4-BE49-F238E27FC236}">
                <a16:creationId xmlns:a16="http://schemas.microsoft.com/office/drawing/2014/main" id="{6B5B756A-8F0E-454F-2723-936F562AE6B1}"/>
              </a:ext>
            </a:extLst>
          </p:cNvPr>
          <p:cNvSpPr/>
          <p:nvPr/>
        </p:nvSpPr>
        <p:spPr>
          <a:xfrm>
            <a:off x="7921171" y="4373949"/>
            <a:ext cx="1524000" cy="1524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latin typeface="Noto Sans" panose="020B0502040504020204" pitchFamily="34" charset="0"/>
                <a:ea typeface="Noto Sans" panose="020B0502040504020204" pitchFamily="34" charset="0"/>
                <a:cs typeface="Noto Sans" panose="020B0502040504020204" pitchFamily="34" charset="0"/>
              </a:rPr>
              <a:t>SSI</a:t>
            </a:r>
          </a:p>
        </p:txBody>
      </p:sp>
      <p:pic>
        <p:nvPicPr>
          <p:cNvPr id="7" name="Graphic 6" descr="Arrow Right with solid fill">
            <a:extLst>
              <a:ext uri="{FF2B5EF4-FFF2-40B4-BE49-F238E27FC236}">
                <a16:creationId xmlns:a16="http://schemas.microsoft.com/office/drawing/2014/main" id="{886C9FA0-C34B-AE7D-CE42-409C7F69F4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5757" y="4678749"/>
            <a:ext cx="914400" cy="914400"/>
          </a:xfrm>
          <a:prstGeom prst="rect">
            <a:avLst/>
          </a:prstGeom>
        </p:spPr>
      </p:pic>
      <p:pic>
        <p:nvPicPr>
          <p:cNvPr id="8" name="Graphic 7" descr="Arrow Right with solid fill">
            <a:extLst>
              <a:ext uri="{FF2B5EF4-FFF2-40B4-BE49-F238E27FC236}">
                <a16:creationId xmlns:a16="http://schemas.microsoft.com/office/drawing/2014/main" id="{EBC74740-1DDC-84B4-C9CA-FEE1315486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6185" y="4678749"/>
            <a:ext cx="914400" cy="914400"/>
          </a:xfrm>
          <a:prstGeom prst="rect">
            <a:avLst/>
          </a:prstGeom>
        </p:spPr>
      </p:pic>
      <p:grpSp>
        <p:nvGrpSpPr>
          <p:cNvPr id="12" name="Group 11">
            <a:extLst>
              <a:ext uri="{FF2B5EF4-FFF2-40B4-BE49-F238E27FC236}">
                <a16:creationId xmlns:a16="http://schemas.microsoft.com/office/drawing/2014/main" id="{F1C4D769-7BCF-3572-37EC-E0C86C629988}"/>
              </a:ext>
            </a:extLst>
          </p:cNvPr>
          <p:cNvGrpSpPr/>
          <p:nvPr/>
        </p:nvGrpSpPr>
        <p:grpSpPr>
          <a:xfrm>
            <a:off x="1216743" y="4685949"/>
            <a:ext cx="3348000" cy="900000"/>
            <a:chOff x="1216743" y="4685949"/>
            <a:chExt cx="3348000" cy="900000"/>
          </a:xfrm>
        </p:grpSpPr>
        <p:sp>
          <p:nvSpPr>
            <p:cNvPr id="24" name="Flowchart: Data 23">
              <a:extLst>
                <a:ext uri="{FF2B5EF4-FFF2-40B4-BE49-F238E27FC236}">
                  <a16:creationId xmlns:a16="http://schemas.microsoft.com/office/drawing/2014/main" id="{5FD59525-E75A-700B-EBED-53223C96712B}"/>
                </a:ext>
              </a:extLst>
            </p:cNvPr>
            <p:cNvSpPr/>
            <p:nvPr/>
          </p:nvSpPr>
          <p:spPr>
            <a:xfrm>
              <a:off x="1216743"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333333"/>
                </a:solidFill>
              </a:endParaRPr>
            </a:p>
          </p:txBody>
        </p:sp>
        <p:sp>
          <p:nvSpPr>
            <p:cNvPr id="26" name="TextBox 25">
              <a:extLst>
                <a:ext uri="{FF2B5EF4-FFF2-40B4-BE49-F238E27FC236}">
                  <a16:creationId xmlns:a16="http://schemas.microsoft.com/office/drawing/2014/main" id="{17D5AAFC-0345-1C8F-16D6-C4BC39A8F443}"/>
                </a:ext>
              </a:extLst>
            </p:cNvPr>
            <p:cNvSpPr txBox="1"/>
            <p:nvPr/>
          </p:nvSpPr>
          <p:spPr>
            <a:xfrm>
              <a:off x="2275030" y="4843562"/>
              <a:ext cx="1231427"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Input</a:t>
              </a:r>
            </a:p>
          </p:txBody>
        </p:sp>
      </p:grpSp>
      <p:grpSp>
        <p:nvGrpSpPr>
          <p:cNvPr id="13" name="Group 12">
            <a:extLst>
              <a:ext uri="{FF2B5EF4-FFF2-40B4-BE49-F238E27FC236}">
                <a16:creationId xmlns:a16="http://schemas.microsoft.com/office/drawing/2014/main" id="{D36C6234-3C34-3564-78D7-7D196179A4BD}"/>
              </a:ext>
            </a:extLst>
          </p:cNvPr>
          <p:cNvGrpSpPr/>
          <p:nvPr/>
        </p:nvGrpSpPr>
        <p:grpSpPr>
          <a:xfrm>
            <a:off x="12801600" y="4685949"/>
            <a:ext cx="3348000" cy="900000"/>
            <a:chOff x="12801600" y="4685949"/>
            <a:chExt cx="3348000" cy="900000"/>
          </a:xfrm>
        </p:grpSpPr>
        <p:sp>
          <p:nvSpPr>
            <p:cNvPr id="20" name="Flowchart: Data 19">
              <a:extLst>
                <a:ext uri="{FF2B5EF4-FFF2-40B4-BE49-F238E27FC236}">
                  <a16:creationId xmlns:a16="http://schemas.microsoft.com/office/drawing/2014/main" id="{5C35F1C8-88BE-4EC9-79B0-F5244ED39DE6}"/>
                </a:ext>
              </a:extLst>
            </p:cNvPr>
            <p:cNvSpPr/>
            <p:nvPr/>
          </p:nvSpPr>
          <p:spPr>
            <a:xfrm>
              <a:off x="12801600" y="4685949"/>
              <a:ext cx="3348000" cy="900000"/>
            </a:xfrm>
            <a:prstGeom prst="flowChartInputOutput">
              <a:avLst/>
            </a:prstGeom>
            <a:noFill/>
            <a:ln>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E9B049A8-C337-EEA3-C6EB-CEB49DE26B80}"/>
                </a:ext>
              </a:extLst>
            </p:cNvPr>
            <p:cNvSpPr txBox="1"/>
            <p:nvPr/>
          </p:nvSpPr>
          <p:spPr>
            <a:xfrm>
              <a:off x="13695579" y="4843562"/>
              <a:ext cx="1560042" cy="584775"/>
            </a:xfrm>
            <a:prstGeom prst="rect">
              <a:avLst/>
            </a:prstGeom>
            <a:noFill/>
          </p:spPr>
          <p:txBody>
            <a:bodyPr wrap="none" rtlCol="0">
              <a:spAutoFit/>
            </a:bodyPr>
            <a:lstStyle/>
            <a:p>
              <a:r>
                <a:rPr lang="en-GB" sz="3200" dirty="0">
                  <a:solidFill>
                    <a:srgbClr val="333333"/>
                  </a:solidFill>
                  <a:latin typeface="Noto Sans" panose="020B0502040504020204" pitchFamily="34" charset="0"/>
                  <a:ea typeface="Noto Sans" panose="020B0502040504020204" pitchFamily="34" charset="0"/>
                  <a:cs typeface="Noto Sans" panose="020B0502040504020204" pitchFamily="34" charset="0"/>
                </a:rPr>
                <a:t>Output</a:t>
              </a:r>
            </a:p>
          </p:txBody>
        </p:sp>
      </p:grpSp>
      <p:sp>
        <p:nvSpPr>
          <p:cNvPr id="29" name="TextBox 28">
            <a:extLst>
              <a:ext uri="{FF2B5EF4-FFF2-40B4-BE49-F238E27FC236}">
                <a16:creationId xmlns:a16="http://schemas.microsoft.com/office/drawing/2014/main" id="{8B8B9C10-9F39-CCD3-62C0-E2469989728E}"/>
              </a:ext>
            </a:extLst>
          </p:cNvPr>
          <p:cNvSpPr txBox="1"/>
          <p:nvPr/>
        </p:nvSpPr>
        <p:spPr>
          <a:xfrm>
            <a:off x="1317173" y="7315553"/>
            <a:ext cx="2852063" cy="461665"/>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false information</a:t>
            </a:r>
          </a:p>
        </p:txBody>
      </p:sp>
      <p:cxnSp>
        <p:nvCxnSpPr>
          <p:cNvPr id="30" name="Straight Arrow Connector 29">
            <a:extLst>
              <a:ext uri="{FF2B5EF4-FFF2-40B4-BE49-F238E27FC236}">
                <a16:creationId xmlns:a16="http://schemas.microsoft.com/office/drawing/2014/main" id="{26732885-1964-CF75-0B84-7F802EE64598}"/>
              </a:ext>
            </a:extLst>
          </p:cNvPr>
          <p:cNvCxnSpPr/>
          <p:nvPr/>
        </p:nvCxnSpPr>
        <p:spPr>
          <a:xfrm flipV="1">
            <a:off x="2743200"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870D23BB-63AC-EE70-096B-FA05C1588C9C}"/>
              </a:ext>
            </a:extLst>
          </p:cNvPr>
          <p:cNvSpPr txBox="1"/>
          <p:nvPr/>
        </p:nvSpPr>
        <p:spPr>
          <a:xfrm>
            <a:off x="12469784" y="7315553"/>
            <a:ext cx="3515706" cy="830997"/>
          </a:xfrm>
          <a:prstGeom prst="rect">
            <a:avLst/>
          </a:prstGeom>
          <a:solidFill>
            <a:schemeClr val="bg1">
              <a:alpha val="80000"/>
            </a:schemeClr>
          </a:solid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unexpected or even</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harmful consequence</a:t>
            </a:r>
          </a:p>
        </p:txBody>
      </p:sp>
      <p:cxnSp>
        <p:nvCxnSpPr>
          <p:cNvPr id="33" name="Straight Arrow Connector 32">
            <a:extLst>
              <a:ext uri="{FF2B5EF4-FFF2-40B4-BE49-F238E27FC236}">
                <a16:creationId xmlns:a16="http://schemas.microsoft.com/office/drawing/2014/main" id="{1FCA0CB2-9591-3ED7-FA2C-B79288B7ECB7}"/>
              </a:ext>
            </a:extLst>
          </p:cNvPr>
          <p:cNvCxnSpPr/>
          <p:nvPr/>
        </p:nvCxnSpPr>
        <p:spPr>
          <a:xfrm flipV="1">
            <a:off x="14227627" y="5829300"/>
            <a:ext cx="0" cy="1290000"/>
          </a:xfrm>
          <a:prstGeom prst="straightConnector1">
            <a:avLst/>
          </a:prstGeom>
          <a:ln w="76200">
            <a:solidFill>
              <a:srgbClr val="333333"/>
            </a:solidFill>
            <a:prstDash val="sysDash"/>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E2D6C2A-7310-D549-0B83-5773A3A4842F}"/>
              </a:ext>
            </a:extLst>
          </p:cNvPr>
          <p:cNvSpPr txBox="1"/>
          <p:nvPr/>
        </p:nvSpPr>
        <p:spPr>
          <a:xfrm>
            <a:off x="6514575" y="7684885"/>
            <a:ext cx="4344459" cy="830997"/>
          </a:xfrm>
          <a:prstGeom prst="rect">
            <a:avLst/>
          </a:prstGeom>
          <a:noFill/>
        </p:spPr>
        <p:txBody>
          <a:bodyPr wrap="none" rtlCol="0">
            <a:spAutoFit/>
          </a:bodyPr>
          <a:lstStyle/>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information becomes</a:t>
            </a:r>
          </a:p>
          <a:p>
            <a:pPr algn="ctr"/>
            <a:r>
              <a:rPr lang="en-GB" sz="2400" dirty="0">
                <a:solidFill>
                  <a:srgbClr val="333333"/>
                </a:solidFill>
                <a:latin typeface="Noto Sans Bold" panose="020B0802040504020204" charset="0"/>
                <a:ea typeface="Noto Sans Bold" panose="020B0802040504020204" charset="0"/>
                <a:cs typeface="Noto Sans Bold" panose="020B0802040504020204" charset="0"/>
              </a:rPr>
              <a:t>permanent and immutable</a:t>
            </a:r>
          </a:p>
        </p:txBody>
      </p:sp>
      <p:cxnSp>
        <p:nvCxnSpPr>
          <p:cNvPr id="36" name="Straight Arrow Connector 35">
            <a:extLst>
              <a:ext uri="{FF2B5EF4-FFF2-40B4-BE49-F238E27FC236}">
                <a16:creationId xmlns:a16="http://schemas.microsoft.com/office/drawing/2014/main" id="{5F7856C7-CFE5-F966-EDF6-169B5AE4EDDC}"/>
              </a:ext>
            </a:extLst>
          </p:cNvPr>
          <p:cNvCxnSpPr/>
          <p:nvPr/>
        </p:nvCxnSpPr>
        <p:spPr>
          <a:xfrm flipV="1">
            <a:off x="8686800" y="6134100"/>
            <a:ext cx="0" cy="1290000"/>
          </a:xfrm>
          <a:prstGeom prst="straightConnector1">
            <a:avLst/>
          </a:prstGeom>
          <a:ln w="76200">
            <a:solidFill>
              <a:schemeClr val="accent2"/>
            </a:solidFill>
            <a:prstDash val="sysDash"/>
            <a:tailEnd type="triangle"/>
          </a:ln>
        </p:spPr>
        <p:style>
          <a:lnRef idx="1">
            <a:schemeClr val="dk1"/>
          </a:lnRef>
          <a:fillRef idx="0">
            <a:schemeClr val="dk1"/>
          </a:fillRef>
          <a:effectRef idx="0">
            <a:schemeClr val="dk1"/>
          </a:effectRef>
          <a:fontRef idx="minor">
            <a:schemeClr val="tx1"/>
          </a:fontRef>
        </p:style>
      </p:cxnSp>
      <p:grpSp>
        <p:nvGrpSpPr>
          <p:cNvPr id="2" name="Group 1">
            <a:extLst>
              <a:ext uri="{FF2B5EF4-FFF2-40B4-BE49-F238E27FC236}">
                <a16:creationId xmlns:a16="http://schemas.microsoft.com/office/drawing/2014/main" id="{CA5D7827-7736-CF3C-7A9F-C8B7A37A6054}"/>
              </a:ext>
            </a:extLst>
          </p:cNvPr>
          <p:cNvGrpSpPr/>
          <p:nvPr/>
        </p:nvGrpSpPr>
        <p:grpSpPr>
          <a:xfrm>
            <a:off x="990600" y="540000"/>
            <a:ext cx="16268700" cy="613410"/>
            <a:chOff x="990600" y="540000"/>
            <a:chExt cx="16268700" cy="613410"/>
          </a:xfrm>
        </p:grpSpPr>
        <p:grpSp>
          <p:nvGrpSpPr>
            <p:cNvPr id="14" name="Group 3">
              <a:extLst>
                <a:ext uri="{FF2B5EF4-FFF2-40B4-BE49-F238E27FC236}">
                  <a16:creationId xmlns:a16="http://schemas.microsoft.com/office/drawing/2014/main" id="{84D762E4-8805-C505-5509-079B4B2B6E7C}"/>
                </a:ext>
              </a:extLst>
            </p:cNvPr>
            <p:cNvGrpSpPr/>
            <p:nvPr/>
          </p:nvGrpSpPr>
          <p:grpSpPr>
            <a:xfrm>
              <a:off x="1028700" y="540000"/>
              <a:ext cx="16230600" cy="613410"/>
              <a:chOff x="0" y="142130"/>
              <a:chExt cx="21640800" cy="1642694"/>
            </a:xfrm>
          </p:grpSpPr>
          <p:sp>
            <p:nvSpPr>
              <p:cNvPr id="17" name="AutoShape 4">
                <a:extLst>
                  <a:ext uri="{FF2B5EF4-FFF2-40B4-BE49-F238E27FC236}">
                    <a16:creationId xmlns:a16="http://schemas.microsoft.com/office/drawing/2014/main" id="{26B82FCD-DC6A-C671-3EE2-308B7AA76C41}"/>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8" name="TextBox 5">
                <a:extLst>
                  <a:ext uri="{FF2B5EF4-FFF2-40B4-BE49-F238E27FC236}">
                    <a16:creationId xmlns:a16="http://schemas.microsoft.com/office/drawing/2014/main" id="{D4744C44-D506-151B-513A-A81F9BAE97E8}"/>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5" name="TextBox 14">
              <a:extLst>
                <a:ext uri="{FF2B5EF4-FFF2-40B4-BE49-F238E27FC236}">
                  <a16:creationId xmlns:a16="http://schemas.microsoft.com/office/drawing/2014/main" id="{1BF80BA4-2C60-E533-3D61-A8470B487E47}"/>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6" name="TextBox 15">
              <a:extLst>
                <a:ext uri="{FF2B5EF4-FFF2-40B4-BE49-F238E27FC236}">
                  <a16:creationId xmlns:a16="http://schemas.microsoft.com/office/drawing/2014/main" id="{1E228906-7853-8355-F587-131845FB6CB3}"/>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35</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940397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D5AD2-9C06-D331-847C-F7A94FE5A233}"/>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69D3154B-6401-E3C2-F4B9-F131EC2CBFF8}"/>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16" name="Graphic 15" descr="Add with solid fill">
            <a:extLst>
              <a:ext uri="{FF2B5EF4-FFF2-40B4-BE49-F238E27FC236}">
                <a16:creationId xmlns:a16="http://schemas.microsoft.com/office/drawing/2014/main" id="{8D7CE7CB-5CDD-4CC7-0C08-ED8F5EBD0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5209" y="6038100"/>
            <a:ext cx="914400" cy="914400"/>
          </a:xfrm>
          <a:prstGeom prst="rect">
            <a:avLst/>
          </a:prstGeom>
        </p:spPr>
      </p:pic>
      <p:pic>
        <p:nvPicPr>
          <p:cNvPr id="18" name="Graphic 17" descr="Arrow Right with solid fill">
            <a:extLst>
              <a:ext uri="{FF2B5EF4-FFF2-40B4-BE49-F238E27FC236}">
                <a16:creationId xmlns:a16="http://schemas.microsoft.com/office/drawing/2014/main" id="{99C9A69F-FC8E-60FB-A042-E2D556FE14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38821" y="5580710"/>
            <a:ext cx="1829179" cy="1829179"/>
          </a:xfrm>
          <a:prstGeom prst="rect">
            <a:avLst/>
          </a:prstGeom>
        </p:spPr>
      </p:pic>
      <p:pic>
        <p:nvPicPr>
          <p:cNvPr id="22" name="Graphic 21" descr="Arrow: Rotate left with solid fill">
            <a:extLst>
              <a:ext uri="{FF2B5EF4-FFF2-40B4-BE49-F238E27FC236}">
                <a16:creationId xmlns:a16="http://schemas.microsoft.com/office/drawing/2014/main" id="{8D8FC6ED-800B-1A83-5D9B-88EA48101D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28000" y="2707200"/>
            <a:ext cx="2296800" cy="2296800"/>
          </a:xfrm>
          <a:prstGeom prst="rect">
            <a:avLst/>
          </a:prstGeom>
        </p:spPr>
      </p:pic>
      <p:sp>
        <p:nvSpPr>
          <p:cNvPr id="14" name="TextBox 13">
            <a:extLst>
              <a:ext uri="{FF2B5EF4-FFF2-40B4-BE49-F238E27FC236}">
                <a16:creationId xmlns:a16="http://schemas.microsoft.com/office/drawing/2014/main" id="{8FBD9AC0-472E-13D1-78D3-C55D50869B09}"/>
              </a:ext>
            </a:extLst>
          </p:cNvPr>
          <p:cNvSpPr txBox="1"/>
          <p:nvPr/>
        </p:nvSpPr>
        <p:spPr>
          <a:xfrm>
            <a:off x="1029600" y="1836000"/>
            <a:ext cx="3174267"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SSI: Process</a:t>
            </a:r>
          </a:p>
        </p:txBody>
      </p:sp>
      <p:sp>
        <p:nvSpPr>
          <p:cNvPr id="20" name="Oval 19">
            <a:extLst>
              <a:ext uri="{FF2B5EF4-FFF2-40B4-BE49-F238E27FC236}">
                <a16:creationId xmlns:a16="http://schemas.microsoft.com/office/drawing/2014/main" id="{4B7A2C9A-0DE8-5CE8-1A50-056092CCBD6F}"/>
              </a:ext>
            </a:extLst>
          </p:cNvPr>
          <p:cNvSpPr/>
          <p:nvPr/>
        </p:nvSpPr>
        <p:spPr>
          <a:xfrm>
            <a:off x="11647021" y="5155250"/>
            <a:ext cx="2680099" cy="268009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latin typeface="Noto Sans" panose="020B0502040504020204" pitchFamily="34" charset="0"/>
                <a:ea typeface="Noto Sans" panose="020B0502040504020204" pitchFamily="34" charset="0"/>
                <a:cs typeface="Noto Sans" panose="020B0502040504020204" pitchFamily="34" charset="0"/>
              </a:rPr>
              <a:t>SSI</a:t>
            </a:r>
          </a:p>
        </p:txBody>
      </p:sp>
      <p:pic>
        <p:nvPicPr>
          <p:cNvPr id="23" name="Graphic 22" descr="Key with solid fill">
            <a:extLst>
              <a:ext uri="{FF2B5EF4-FFF2-40B4-BE49-F238E27FC236}">
                <a16:creationId xmlns:a16="http://schemas.microsoft.com/office/drawing/2014/main" id="{E2F96C95-0847-A21D-2B41-C7CA409337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85544" y="5346899"/>
            <a:ext cx="2296800" cy="2296800"/>
          </a:xfrm>
          <a:prstGeom prst="rect">
            <a:avLst/>
          </a:prstGeom>
        </p:spPr>
      </p:pic>
      <p:pic>
        <p:nvPicPr>
          <p:cNvPr id="25" name="Graphic 24" descr="Confused person with solid fill">
            <a:extLst>
              <a:ext uri="{FF2B5EF4-FFF2-40B4-BE49-F238E27FC236}">
                <a16:creationId xmlns:a16="http://schemas.microsoft.com/office/drawing/2014/main" id="{DEDBF7F6-BF88-23A6-C3D4-6ECB44FA45C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45899" y="4875299"/>
            <a:ext cx="3240000" cy="3240000"/>
          </a:xfrm>
          <a:prstGeom prst="rect">
            <a:avLst/>
          </a:prstGeom>
        </p:spPr>
      </p:pic>
      <p:grpSp>
        <p:nvGrpSpPr>
          <p:cNvPr id="2" name="Group 1">
            <a:extLst>
              <a:ext uri="{FF2B5EF4-FFF2-40B4-BE49-F238E27FC236}">
                <a16:creationId xmlns:a16="http://schemas.microsoft.com/office/drawing/2014/main" id="{E73651FB-6440-9863-6533-C2BF112422C9}"/>
              </a:ext>
            </a:extLst>
          </p:cNvPr>
          <p:cNvGrpSpPr/>
          <p:nvPr/>
        </p:nvGrpSpPr>
        <p:grpSpPr>
          <a:xfrm>
            <a:off x="990600" y="540000"/>
            <a:ext cx="16268700" cy="613410"/>
            <a:chOff x="990600" y="540000"/>
            <a:chExt cx="16268700" cy="613410"/>
          </a:xfrm>
        </p:grpSpPr>
        <p:grpSp>
          <p:nvGrpSpPr>
            <p:cNvPr id="6" name="Group 3">
              <a:extLst>
                <a:ext uri="{FF2B5EF4-FFF2-40B4-BE49-F238E27FC236}">
                  <a16:creationId xmlns:a16="http://schemas.microsoft.com/office/drawing/2014/main" id="{7151DAFA-AC0E-9B94-3DF2-3EEAB69E3925}"/>
                </a:ext>
              </a:extLst>
            </p:cNvPr>
            <p:cNvGrpSpPr/>
            <p:nvPr/>
          </p:nvGrpSpPr>
          <p:grpSpPr>
            <a:xfrm>
              <a:off x="1028700" y="540000"/>
              <a:ext cx="16230600" cy="613410"/>
              <a:chOff x="0" y="142130"/>
              <a:chExt cx="21640800" cy="1642694"/>
            </a:xfrm>
          </p:grpSpPr>
          <p:sp>
            <p:nvSpPr>
              <p:cNvPr id="12" name="AutoShape 4">
                <a:extLst>
                  <a:ext uri="{FF2B5EF4-FFF2-40B4-BE49-F238E27FC236}">
                    <a16:creationId xmlns:a16="http://schemas.microsoft.com/office/drawing/2014/main" id="{0778702D-3B21-7021-BFEB-0C815A279363}"/>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3" name="TextBox 5">
                <a:extLst>
                  <a:ext uri="{FF2B5EF4-FFF2-40B4-BE49-F238E27FC236}">
                    <a16:creationId xmlns:a16="http://schemas.microsoft.com/office/drawing/2014/main" id="{9D40A7F6-BAA8-2885-E83C-3858F709288E}"/>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7" name="TextBox 6">
              <a:extLst>
                <a:ext uri="{FF2B5EF4-FFF2-40B4-BE49-F238E27FC236}">
                  <a16:creationId xmlns:a16="http://schemas.microsoft.com/office/drawing/2014/main" id="{284BF6AB-AD11-2A6D-6243-441FBBB685E0}"/>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8" name="TextBox 7">
              <a:extLst>
                <a:ext uri="{FF2B5EF4-FFF2-40B4-BE49-F238E27FC236}">
                  <a16:creationId xmlns:a16="http://schemas.microsoft.com/office/drawing/2014/main" id="{E7B0D5F8-AB76-DE84-54E1-0880A37499B7}"/>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36</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844659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9D1B-9E7C-4AE3-478A-757B8C992D64}"/>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35175E8C-8B5A-7F28-22A9-09C0CEFD57B9}"/>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4E96072F-4234-7112-C23A-4731205B9516}"/>
              </a:ext>
            </a:extLst>
          </p:cNvPr>
          <p:cNvSpPr txBox="1"/>
          <p:nvPr/>
        </p:nvSpPr>
        <p:spPr>
          <a:xfrm>
            <a:off x="1029600" y="1836000"/>
            <a:ext cx="3079689"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SSI: Output</a:t>
            </a:r>
          </a:p>
        </p:txBody>
      </p:sp>
      <p:grpSp>
        <p:nvGrpSpPr>
          <p:cNvPr id="36" name="Group 35">
            <a:extLst>
              <a:ext uri="{FF2B5EF4-FFF2-40B4-BE49-F238E27FC236}">
                <a16:creationId xmlns:a16="http://schemas.microsoft.com/office/drawing/2014/main" id="{84083BEF-1CC5-2F17-2F2F-F1A3403932CA}"/>
              </a:ext>
            </a:extLst>
          </p:cNvPr>
          <p:cNvGrpSpPr/>
          <p:nvPr/>
        </p:nvGrpSpPr>
        <p:grpSpPr>
          <a:xfrm>
            <a:off x="3962400" y="2171701"/>
            <a:ext cx="8860971" cy="6705600"/>
            <a:chOff x="2797629" y="2171701"/>
            <a:chExt cx="8860971" cy="6705600"/>
          </a:xfrm>
        </p:grpSpPr>
        <p:sp>
          <p:nvSpPr>
            <p:cNvPr id="19" name="Oval 18">
              <a:extLst>
                <a:ext uri="{FF2B5EF4-FFF2-40B4-BE49-F238E27FC236}">
                  <a16:creationId xmlns:a16="http://schemas.microsoft.com/office/drawing/2014/main" id="{BA5A766F-AFD1-3DA3-FD6F-10FAD77186C5}"/>
                </a:ext>
              </a:extLst>
            </p:cNvPr>
            <p:cNvSpPr/>
            <p:nvPr/>
          </p:nvSpPr>
          <p:spPr>
            <a:xfrm>
              <a:off x="2797629" y="4791787"/>
              <a:ext cx="1524000" cy="1524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latin typeface="Noto Sans" panose="020B0502040504020204" pitchFamily="34" charset="0"/>
                  <a:ea typeface="Noto Sans" panose="020B0502040504020204" pitchFamily="34" charset="0"/>
                  <a:cs typeface="Noto Sans" panose="020B0502040504020204" pitchFamily="34" charset="0"/>
                </a:rPr>
                <a:t>SSI</a:t>
              </a:r>
            </a:p>
          </p:txBody>
        </p:sp>
        <p:sp>
          <p:nvSpPr>
            <p:cNvPr id="7" name="Rectangle 6">
              <a:extLst>
                <a:ext uri="{FF2B5EF4-FFF2-40B4-BE49-F238E27FC236}">
                  <a16:creationId xmlns:a16="http://schemas.microsoft.com/office/drawing/2014/main" id="{4ECA4971-04C8-9C2D-481A-C5DAEF1E467C}"/>
                </a:ext>
              </a:extLst>
            </p:cNvPr>
            <p:cNvSpPr/>
            <p:nvPr/>
          </p:nvSpPr>
          <p:spPr>
            <a:xfrm>
              <a:off x="7010400" y="6972300"/>
              <a:ext cx="4648200" cy="1905001"/>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000">
                <a:spcAft>
                  <a:spcPts val="1100"/>
                </a:spcAft>
              </a:pPr>
              <a:r>
                <a:rPr lang="en-GB" sz="2800" dirty="0">
                  <a:solidFill>
                    <a:srgbClr val="333333"/>
                  </a:solidFill>
                  <a:latin typeface="Noto Sans Bold" panose="020B0802040504020204" charset="0"/>
                  <a:ea typeface="Noto Sans Bold" panose="020B0802040504020204" charset="0"/>
                  <a:cs typeface="Noto Sans Bold" panose="020B0802040504020204" charset="0"/>
                </a:rPr>
                <a:t>Technical output</a:t>
              </a:r>
            </a:p>
            <a:p>
              <a:pPr marL="180000"/>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verified digital credential</a:t>
              </a:r>
            </a:p>
            <a:p>
              <a:pPr marL="180000"/>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on a blockchain</a:t>
              </a:r>
            </a:p>
          </p:txBody>
        </p:sp>
        <p:sp>
          <p:nvSpPr>
            <p:cNvPr id="12" name="Rectangle 11">
              <a:extLst>
                <a:ext uri="{FF2B5EF4-FFF2-40B4-BE49-F238E27FC236}">
                  <a16:creationId xmlns:a16="http://schemas.microsoft.com/office/drawing/2014/main" id="{9E289621-291A-4026-F4A4-86B2EEA5C040}"/>
                </a:ext>
              </a:extLst>
            </p:cNvPr>
            <p:cNvSpPr/>
            <p:nvPr/>
          </p:nvSpPr>
          <p:spPr>
            <a:xfrm>
              <a:off x="7510637" y="2171701"/>
              <a:ext cx="4064506" cy="2285997"/>
            </a:xfrm>
            <a:prstGeom prst="rect">
              <a:avLst/>
            </a:prstGeom>
            <a:noFill/>
            <a:ln w="25400">
              <a:solidFill>
                <a:srgbClr val="33333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000">
                <a:spcAft>
                  <a:spcPts val="1100"/>
                </a:spcAft>
              </a:pPr>
              <a:r>
                <a:rPr lang="en-GB" sz="2800" dirty="0">
                  <a:solidFill>
                    <a:srgbClr val="333333"/>
                  </a:solidFill>
                  <a:latin typeface="Noto Sans Bold" panose="020B0802040504020204" charset="0"/>
                  <a:ea typeface="Noto Sans Bold" panose="020B0802040504020204" charset="0"/>
                  <a:cs typeface="Noto Sans Bold" panose="020B0802040504020204" charset="0"/>
                </a:rPr>
                <a:t>Normative output</a:t>
              </a:r>
            </a:p>
            <a:p>
              <a:pPr marL="720000" indent="-457200">
                <a:buClr>
                  <a:srgbClr val="333333"/>
                </a:buClr>
                <a:buFont typeface="Arial" panose="020B0604020202020204" pitchFamily="34" charset="0"/>
                <a:buChar char="•"/>
              </a:pP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legal recognition</a:t>
              </a:r>
            </a:p>
            <a:p>
              <a:pPr marL="720000" indent="-457200">
                <a:buFont typeface="Arial" panose="020B0604020202020204" pitchFamily="34" charset="0"/>
                <a:buChar char="•"/>
              </a:pP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access to rights</a:t>
              </a:r>
            </a:p>
            <a:p>
              <a:pPr marL="720000" indent="-457200">
                <a:buFont typeface="Arial" panose="020B0604020202020204" pitchFamily="34" charset="0"/>
                <a:buChar char="•"/>
              </a:pPr>
              <a:r>
                <a:rPr lang="en-GB" sz="2800" dirty="0">
                  <a:solidFill>
                    <a:srgbClr val="333333"/>
                  </a:solidFill>
                  <a:latin typeface="Noto Sans" panose="020B0502040504020204" pitchFamily="34" charset="0"/>
                  <a:ea typeface="Noto Sans" panose="020B0502040504020204" pitchFamily="34" charset="0"/>
                  <a:cs typeface="Noto Sans" panose="020B0502040504020204" pitchFamily="34" charset="0"/>
                </a:rPr>
                <a:t>political status</a:t>
              </a:r>
            </a:p>
          </p:txBody>
        </p:sp>
        <p:cxnSp>
          <p:nvCxnSpPr>
            <p:cNvPr id="14" name="Straight Arrow Connector 13">
              <a:extLst>
                <a:ext uri="{FF2B5EF4-FFF2-40B4-BE49-F238E27FC236}">
                  <a16:creationId xmlns:a16="http://schemas.microsoft.com/office/drawing/2014/main" id="{FAF5784D-1CD8-CDE1-B318-6969BFBFB767}"/>
                </a:ext>
              </a:extLst>
            </p:cNvPr>
            <p:cNvCxnSpPr>
              <a:cxnSpLocks/>
            </p:cNvCxnSpPr>
            <p:nvPr/>
          </p:nvCxnSpPr>
          <p:spPr>
            <a:xfrm>
              <a:off x="4428323" y="5858587"/>
              <a:ext cx="2483788" cy="1418513"/>
            </a:xfrm>
            <a:prstGeom prst="straightConnector1">
              <a:avLst/>
            </a:prstGeom>
            <a:ln w="50800">
              <a:solidFill>
                <a:srgbClr val="33333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EB3AB05-8CBC-8431-250B-EFDA8F6E2A47}"/>
                </a:ext>
              </a:extLst>
            </p:cNvPr>
            <p:cNvCxnSpPr>
              <a:cxnSpLocks/>
            </p:cNvCxnSpPr>
            <p:nvPr/>
          </p:nvCxnSpPr>
          <p:spPr>
            <a:xfrm flipV="1">
              <a:off x="9334500" y="4610100"/>
              <a:ext cx="0" cy="2215550"/>
            </a:xfrm>
            <a:prstGeom prst="straightConnector1">
              <a:avLst/>
            </a:prstGeom>
            <a:ln w="5080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Badge Question Mark with solid fill">
              <a:extLst>
                <a:ext uri="{FF2B5EF4-FFF2-40B4-BE49-F238E27FC236}">
                  <a16:creationId xmlns:a16="http://schemas.microsoft.com/office/drawing/2014/main" id="{D6BABAE1-B0E9-0C39-6654-BC09A86477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75547" y="5253984"/>
              <a:ext cx="1080000" cy="1080000"/>
            </a:xfrm>
            <a:prstGeom prst="rect">
              <a:avLst/>
            </a:prstGeom>
          </p:spPr>
        </p:pic>
      </p:grpSp>
      <p:grpSp>
        <p:nvGrpSpPr>
          <p:cNvPr id="2" name="Group 1">
            <a:extLst>
              <a:ext uri="{FF2B5EF4-FFF2-40B4-BE49-F238E27FC236}">
                <a16:creationId xmlns:a16="http://schemas.microsoft.com/office/drawing/2014/main" id="{65EEAE88-C1EA-03EC-30B6-90A7A49A810C}"/>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DAD42C91-E4A4-03F6-5ED6-C6060E799595}"/>
                </a:ext>
              </a:extLst>
            </p:cNvPr>
            <p:cNvGrpSpPr/>
            <p:nvPr/>
          </p:nvGrpSpPr>
          <p:grpSpPr>
            <a:xfrm>
              <a:off x="1028700" y="540000"/>
              <a:ext cx="16230600" cy="613410"/>
              <a:chOff x="0" y="142130"/>
              <a:chExt cx="21640800" cy="1642694"/>
            </a:xfrm>
          </p:grpSpPr>
          <p:sp>
            <p:nvSpPr>
              <p:cNvPr id="16" name="AutoShape 4">
                <a:extLst>
                  <a:ext uri="{FF2B5EF4-FFF2-40B4-BE49-F238E27FC236}">
                    <a16:creationId xmlns:a16="http://schemas.microsoft.com/office/drawing/2014/main" id="{1017FE48-30AA-6800-4CBB-324A529DF200}"/>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7" name="TextBox 5">
                <a:extLst>
                  <a:ext uri="{FF2B5EF4-FFF2-40B4-BE49-F238E27FC236}">
                    <a16:creationId xmlns:a16="http://schemas.microsoft.com/office/drawing/2014/main" id="{6DA31248-2226-E717-23F5-3BC4B3C99D9A}"/>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3" name="TextBox 12">
              <a:extLst>
                <a:ext uri="{FF2B5EF4-FFF2-40B4-BE49-F238E27FC236}">
                  <a16:creationId xmlns:a16="http://schemas.microsoft.com/office/drawing/2014/main" id="{A86DA22B-CCD2-BC18-0B36-37EC04A92F68}"/>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5" name="TextBox 14">
              <a:extLst>
                <a:ext uri="{FF2B5EF4-FFF2-40B4-BE49-F238E27FC236}">
                  <a16:creationId xmlns:a16="http://schemas.microsoft.com/office/drawing/2014/main" id="{1E708B3E-D16A-7DA5-A607-DCC6AE26258F}"/>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37</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518604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BC3A3-3B55-D908-948A-E0149635261B}"/>
            </a:ext>
          </a:extLst>
        </p:cNvPr>
        <p:cNvGrpSpPr/>
        <p:nvPr/>
      </p:nvGrpSpPr>
      <p:grpSpPr>
        <a:xfrm>
          <a:off x="0" y="0"/>
          <a:ext cx="0" cy="0"/>
          <a:chOff x="0" y="0"/>
          <a:chExt cx="0" cy="0"/>
        </a:xfrm>
      </p:grpSpPr>
      <p:sp>
        <p:nvSpPr>
          <p:cNvPr id="10" name="Freeform 10">
            <a:extLst>
              <a:ext uri="{FF2B5EF4-FFF2-40B4-BE49-F238E27FC236}">
                <a16:creationId xmlns:a16="http://schemas.microsoft.com/office/drawing/2014/main" id="{D749886B-33FD-043F-7D42-FB48E94B4E93}"/>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18" name="Graphic 17" descr="Arrow Right with solid fill">
            <a:extLst>
              <a:ext uri="{FF2B5EF4-FFF2-40B4-BE49-F238E27FC236}">
                <a16:creationId xmlns:a16="http://schemas.microsoft.com/office/drawing/2014/main" id="{54DB1A97-5545-8A85-CE23-112655F206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4400" y="3791511"/>
            <a:ext cx="1829179" cy="1829179"/>
          </a:xfrm>
          <a:prstGeom prst="rect">
            <a:avLst/>
          </a:prstGeom>
        </p:spPr>
      </p:pic>
      <p:sp>
        <p:nvSpPr>
          <p:cNvPr id="14" name="TextBox 13">
            <a:extLst>
              <a:ext uri="{FF2B5EF4-FFF2-40B4-BE49-F238E27FC236}">
                <a16:creationId xmlns:a16="http://schemas.microsoft.com/office/drawing/2014/main" id="{2F9B4335-34F7-8444-309B-72780ACD2E8B}"/>
              </a:ext>
            </a:extLst>
          </p:cNvPr>
          <p:cNvSpPr txBox="1"/>
          <p:nvPr/>
        </p:nvSpPr>
        <p:spPr>
          <a:xfrm>
            <a:off x="1029600" y="1836000"/>
            <a:ext cx="3079689" cy="707886"/>
          </a:xfrm>
          <a:prstGeom prst="rect">
            <a:avLst/>
          </a:prstGeom>
          <a:noFill/>
        </p:spPr>
        <p:txBody>
          <a:bodyPr wrap="none" rtlCol="0">
            <a:spAutoFit/>
          </a:bodyPr>
          <a:lstStyle/>
          <a:p>
            <a:r>
              <a:rPr lang="en-GB" sz="4000" dirty="0">
                <a:solidFill>
                  <a:srgbClr val="333333"/>
                </a:solidFill>
                <a:latin typeface="Noto Sans Bold" panose="020B0802040504020204" charset="0"/>
                <a:ea typeface="Noto Sans Bold" panose="020B0802040504020204" charset="0"/>
                <a:cs typeface="Noto Sans Bold" panose="020B0802040504020204" charset="0"/>
              </a:rPr>
              <a:t>SSI: Output</a:t>
            </a:r>
          </a:p>
        </p:txBody>
      </p:sp>
      <p:sp>
        <p:nvSpPr>
          <p:cNvPr id="20" name="Oval 19">
            <a:extLst>
              <a:ext uri="{FF2B5EF4-FFF2-40B4-BE49-F238E27FC236}">
                <a16:creationId xmlns:a16="http://schemas.microsoft.com/office/drawing/2014/main" id="{61C96A00-81E6-CCDA-5744-2ECBB1CEEB34}"/>
              </a:ext>
            </a:extLst>
          </p:cNvPr>
          <p:cNvSpPr/>
          <p:nvPr/>
        </p:nvSpPr>
        <p:spPr>
          <a:xfrm>
            <a:off x="6951981" y="3346249"/>
            <a:ext cx="2680099" cy="268009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latin typeface="Noto Sans" panose="020B0502040504020204" pitchFamily="34" charset="0"/>
                <a:ea typeface="Noto Sans" panose="020B0502040504020204" pitchFamily="34" charset="0"/>
                <a:cs typeface="Noto Sans" panose="020B0502040504020204" pitchFamily="34" charset="0"/>
              </a:rPr>
              <a:t>SSI</a:t>
            </a:r>
          </a:p>
        </p:txBody>
      </p:sp>
      <p:pic>
        <p:nvPicPr>
          <p:cNvPr id="25" name="Graphic 24" descr="Confused person with solid fill">
            <a:extLst>
              <a:ext uri="{FF2B5EF4-FFF2-40B4-BE49-F238E27FC236}">
                <a16:creationId xmlns:a16="http://schemas.microsoft.com/office/drawing/2014/main" id="{257A1586-05A7-0AFC-3DBE-334FAE98F4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45899" y="3086100"/>
            <a:ext cx="3240000" cy="3240000"/>
          </a:xfrm>
          <a:prstGeom prst="rect">
            <a:avLst/>
          </a:prstGeom>
        </p:spPr>
      </p:pic>
      <p:pic>
        <p:nvPicPr>
          <p:cNvPr id="6" name="Graphic 5" descr="Arrow Right with solid fill">
            <a:extLst>
              <a:ext uri="{FF2B5EF4-FFF2-40B4-BE49-F238E27FC236}">
                <a16:creationId xmlns:a16="http://schemas.microsoft.com/office/drawing/2014/main" id="{9B5B5743-5436-BB9B-DAB3-5950D59ECF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30482" y="3771708"/>
            <a:ext cx="1829179" cy="1829179"/>
          </a:xfrm>
          <a:prstGeom prst="rect">
            <a:avLst/>
          </a:prstGeom>
        </p:spPr>
      </p:pic>
      <p:pic>
        <p:nvPicPr>
          <p:cNvPr id="8" name="Graphic 7" descr="Bento Box with solid fill">
            <a:extLst>
              <a:ext uri="{FF2B5EF4-FFF2-40B4-BE49-F238E27FC236}">
                <a16:creationId xmlns:a16="http://schemas.microsoft.com/office/drawing/2014/main" id="{E85DE515-E012-E80B-ED2A-BA18C6DC01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258063" y="3431668"/>
            <a:ext cx="2448537" cy="2448537"/>
          </a:xfrm>
          <a:prstGeom prst="rect">
            <a:avLst/>
          </a:prstGeom>
        </p:spPr>
      </p:pic>
      <p:pic>
        <p:nvPicPr>
          <p:cNvPr id="13" name="Graphic 12" descr="Arrow Right with solid fill">
            <a:extLst>
              <a:ext uri="{FF2B5EF4-FFF2-40B4-BE49-F238E27FC236}">
                <a16:creationId xmlns:a16="http://schemas.microsoft.com/office/drawing/2014/main" id="{06736D83-ACDB-E13E-24D0-DD1405C01B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7483776" y="6134100"/>
            <a:ext cx="1616354" cy="1616354"/>
          </a:xfrm>
          <a:prstGeom prst="rect">
            <a:avLst/>
          </a:prstGeom>
        </p:spPr>
      </p:pic>
      <p:pic>
        <p:nvPicPr>
          <p:cNvPr id="17" name="Graphic 16" descr="Money with solid fill">
            <a:extLst>
              <a:ext uri="{FF2B5EF4-FFF2-40B4-BE49-F238E27FC236}">
                <a16:creationId xmlns:a16="http://schemas.microsoft.com/office/drawing/2014/main" id="{9A139028-C210-45E7-A579-FA0F456A615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3776" y="7734300"/>
            <a:ext cx="1616354" cy="1616354"/>
          </a:xfrm>
          <a:prstGeom prst="rect">
            <a:avLst/>
          </a:prstGeom>
        </p:spPr>
      </p:pic>
      <p:pic>
        <p:nvPicPr>
          <p:cNvPr id="21" name="Graphic 20" descr="Arrow Right with solid fill">
            <a:extLst>
              <a:ext uri="{FF2B5EF4-FFF2-40B4-BE49-F238E27FC236}">
                <a16:creationId xmlns:a16="http://schemas.microsoft.com/office/drawing/2014/main" id="{B1E7ACEB-ADE4-4A4C-132C-42F1BA2F69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96400" y="7734300"/>
            <a:ext cx="1829179" cy="1829179"/>
          </a:xfrm>
          <a:prstGeom prst="rect">
            <a:avLst/>
          </a:prstGeom>
        </p:spPr>
      </p:pic>
      <p:pic>
        <p:nvPicPr>
          <p:cNvPr id="26" name="Graphic 25" descr="Building with solid fill">
            <a:extLst>
              <a:ext uri="{FF2B5EF4-FFF2-40B4-BE49-F238E27FC236}">
                <a16:creationId xmlns:a16="http://schemas.microsoft.com/office/drawing/2014/main" id="{E5DE6D7A-C999-2C19-610F-07B9F737070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21849" y="7734300"/>
            <a:ext cx="1616354" cy="1616354"/>
          </a:xfrm>
          <a:prstGeom prst="rect">
            <a:avLst/>
          </a:prstGeom>
        </p:spPr>
      </p:pic>
      <p:sp>
        <p:nvSpPr>
          <p:cNvPr id="27" name="TextBox 26">
            <a:extLst>
              <a:ext uri="{FF2B5EF4-FFF2-40B4-BE49-F238E27FC236}">
                <a16:creationId xmlns:a16="http://schemas.microsoft.com/office/drawing/2014/main" id="{0CA8E7D2-1D7F-B716-93CA-965D5A8FE4D0}"/>
              </a:ext>
            </a:extLst>
          </p:cNvPr>
          <p:cNvSpPr txBox="1"/>
          <p:nvPr/>
        </p:nvSpPr>
        <p:spPr>
          <a:xfrm>
            <a:off x="11180086" y="9410700"/>
            <a:ext cx="2015295" cy="646331"/>
          </a:xfrm>
          <a:prstGeom prst="rect">
            <a:avLst/>
          </a:prstGeom>
          <a:noFill/>
        </p:spPr>
        <p:txBody>
          <a:bodyPr wrap="none" rtlCol="0">
            <a:spAutoFit/>
          </a:bodyPr>
          <a:lstStyle/>
          <a:p>
            <a:pPr algn="ctr"/>
            <a:r>
              <a:rPr lang="en-GB" dirty="0">
                <a:solidFill>
                  <a:srgbClr val="333333"/>
                </a:solidFill>
                <a:latin typeface="Noto Sans Bold" panose="020B0802040504020204" charset="0"/>
                <a:ea typeface="Noto Sans Bold" panose="020B0802040504020204" charset="0"/>
                <a:cs typeface="Noto Sans Bold" panose="020B0802040504020204" charset="0"/>
              </a:rPr>
              <a:t>Weyland-Yutani</a:t>
            </a:r>
            <a:br>
              <a:rPr lang="en-GB" dirty="0">
                <a:solidFill>
                  <a:srgbClr val="333333"/>
                </a:solidFill>
                <a:latin typeface="Noto Sans Bold" panose="020B0802040504020204" charset="0"/>
                <a:ea typeface="Noto Sans Bold" panose="020B0802040504020204" charset="0"/>
                <a:cs typeface="Noto Sans Bold" panose="020B0802040504020204" charset="0"/>
              </a:rPr>
            </a:br>
            <a:r>
              <a:rPr lang="en-GB" dirty="0" err="1">
                <a:solidFill>
                  <a:srgbClr val="333333"/>
                </a:solidFill>
                <a:latin typeface="Noto Sans Bold" panose="020B0802040504020204" charset="0"/>
                <a:ea typeface="Noto Sans Bold" panose="020B0802040504020204" charset="0"/>
                <a:cs typeface="Noto Sans Bold" panose="020B0802040504020204" charset="0"/>
              </a:rPr>
              <a:t>IdentiCorp</a:t>
            </a:r>
            <a:r>
              <a:rPr lang="en-GB" dirty="0">
                <a:solidFill>
                  <a:srgbClr val="333333"/>
                </a:solidFill>
                <a:latin typeface="Noto Sans Bold" panose="020B0802040504020204" charset="0"/>
                <a:ea typeface="Noto Sans Bold" panose="020B0802040504020204" charset="0"/>
                <a:cs typeface="Noto Sans Bold" panose="020B0802040504020204" charset="0"/>
              </a:rPr>
              <a:t> PLC</a:t>
            </a:r>
          </a:p>
        </p:txBody>
      </p:sp>
      <p:grpSp>
        <p:nvGrpSpPr>
          <p:cNvPr id="2" name="Group 1">
            <a:extLst>
              <a:ext uri="{FF2B5EF4-FFF2-40B4-BE49-F238E27FC236}">
                <a16:creationId xmlns:a16="http://schemas.microsoft.com/office/drawing/2014/main" id="{847C18C4-B272-5755-AB86-67EA899DD196}"/>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8A81E6AB-A94D-1452-BA15-47BA8468EC39}"/>
                </a:ext>
              </a:extLst>
            </p:cNvPr>
            <p:cNvGrpSpPr/>
            <p:nvPr/>
          </p:nvGrpSpPr>
          <p:grpSpPr>
            <a:xfrm>
              <a:off x="1028700" y="540000"/>
              <a:ext cx="16230600" cy="613410"/>
              <a:chOff x="0" y="142130"/>
              <a:chExt cx="21640800" cy="1642694"/>
            </a:xfrm>
          </p:grpSpPr>
          <p:sp>
            <p:nvSpPr>
              <p:cNvPr id="16" name="AutoShape 4">
                <a:extLst>
                  <a:ext uri="{FF2B5EF4-FFF2-40B4-BE49-F238E27FC236}">
                    <a16:creationId xmlns:a16="http://schemas.microsoft.com/office/drawing/2014/main" id="{64689447-A6BA-E5FD-1415-A6DE51D6FBE1}"/>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9" name="TextBox 5">
                <a:extLst>
                  <a:ext uri="{FF2B5EF4-FFF2-40B4-BE49-F238E27FC236}">
                    <a16:creationId xmlns:a16="http://schemas.microsoft.com/office/drawing/2014/main" id="{E68077FF-FE27-2806-D27E-60CA6EB239ED}"/>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0A9F7A85-9CF8-D360-461A-5F28C6FAD08A}"/>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5" name="TextBox 14">
              <a:extLst>
                <a:ext uri="{FF2B5EF4-FFF2-40B4-BE49-F238E27FC236}">
                  <a16:creationId xmlns:a16="http://schemas.microsoft.com/office/drawing/2014/main" id="{83AA4C11-7130-2BE5-E90C-33F61FE96CD6}"/>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38</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14811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3F5C7-EB9A-E083-CC36-2AD1EA81F1C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AB40357-B0D2-DB42-46B2-75001E219020}"/>
              </a:ext>
            </a:extLst>
          </p:cNvPr>
          <p:cNvSpPr txBox="1"/>
          <p:nvPr/>
        </p:nvSpPr>
        <p:spPr>
          <a:xfrm>
            <a:off x="1028700" y="1944000"/>
            <a:ext cx="16213111" cy="1231106"/>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The End</a:t>
            </a:r>
          </a:p>
        </p:txBody>
      </p:sp>
      <p:sp>
        <p:nvSpPr>
          <p:cNvPr id="10" name="Freeform 10">
            <a:extLst>
              <a:ext uri="{FF2B5EF4-FFF2-40B4-BE49-F238E27FC236}">
                <a16:creationId xmlns:a16="http://schemas.microsoft.com/office/drawing/2014/main" id="{D872D3C2-6373-81ED-DAF8-B3E66B3C2C27}"/>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6" name="Group 5">
            <a:extLst>
              <a:ext uri="{FF2B5EF4-FFF2-40B4-BE49-F238E27FC236}">
                <a16:creationId xmlns:a16="http://schemas.microsoft.com/office/drawing/2014/main" id="{C5AACC91-2161-573B-C60E-4639514AE366}"/>
              </a:ext>
            </a:extLst>
          </p:cNvPr>
          <p:cNvGrpSpPr/>
          <p:nvPr/>
        </p:nvGrpSpPr>
        <p:grpSpPr>
          <a:xfrm>
            <a:off x="990600" y="540000"/>
            <a:ext cx="16268700" cy="613410"/>
            <a:chOff x="990600" y="540000"/>
            <a:chExt cx="16268700" cy="613410"/>
          </a:xfrm>
        </p:grpSpPr>
        <p:grpSp>
          <p:nvGrpSpPr>
            <p:cNvPr id="7" name="Group 3">
              <a:extLst>
                <a:ext uri="{FF2B5EF4-FFF2-40B4-BE49-F238E27FC236}">
                  <a16:creationId xmlns:a16="http://schemas.microsoft.com/office/drawing/2014/main" id="{9650F68D-FF44-D71C-B20F-9B5AEDA23CD8}"/>
                </a:ext>
              </a:extLst>
            </p:cNvPr>
            <p:cNvGrpSpPr/>
            <p:nvPr/>
          </p:nvGrpSpPr>
          <p:grpSpPr>
            <a:xfrm>
              <a:off x="1028700" y="540000"/>
              <a:ext cx="16230600" cy="613410"/>
              <a:chOff x="0" y="142130"/>
              <a:chExt cx="21640800" cy="1642694"/>
            </a:xfrm>
          </p:grpSpPr>
          <p:sp>
            <p:nvSpPr>
              <p:cNvPr id="13" name="AutoShape 4">
                <a:extLst>
                  <a:ext uri="{FF2B5EF4-FFF2-40B4-BE49-F238E27FC236}">
                    <a16:creationId xmlns:a16="http://schemas.microsoft.com/office/drawing/2014/main" id="{F39903DB-29B3-5724-A143-941558131DCC}"/>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4" name="TextBox 5">
                <a:extLst>
                  <a:ext uri="{FF2B5EF4-FFF2-40B4-BE49-F238E27FC236}">
                    <a16:creationId xmlns:a16="http://schemas.microsoft.com/office/drawing/2014/main" id="{54266C7C-13B1-94BA-C191-F2E1ADBE93E0}"/>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8" name="TextBox 7">
              <a:extLst>
                <a:ext uri="{FF2B5EF4-FFF2-40B4-BE49-F238E27FC236}">
                  <a16:creationId xmlns:a16="http://schemas.microsoft.com/office/drawing/2014/main" id="{B86301AA-7F0A-60A0-C0A4-CFFCD1A786C4}"/>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2" name="TextBox 11">
              <a:extLst>
                <a:ext uri="{FF2B5EF4-FFF2-40B4-BE49-F238E27FC236}">
                  <a16:creationId xmlns:a16="http://schemas.microsoft.com/office/drawing/2014/main" id="{77B56EB5-D1E6-F290-8374-A9804A7C94C1}"/>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39</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48658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D6ABC-3268-AC50-5A3C-4A2D55B6068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FC440BE-DF74-7DD9-BE0A-BAACBD01B669}"/>
              </a:ext>
            </a:extLst>
          </p:cNvPr>
          <p:cNvSpPr txBox="1"/>
          <p:nvPr/>
        </p:nvSpPr>
        <p:spPr>
          <a:xfrm>
            <a:off x="1028700" y="1944000"/>
            <a:ext cx="16213111" cy="1231106"/>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Bibliography</a:t>
            </a:r>
          </a:p>
        </p:txBody>
      </p:sp>
      <p:sp>
        <p:nvSpPr>
          <p:cNvPr id="10" name="Freeform 10">
            <a:extLst>
              <a:ext uri="{FF2B5EF4-FFF2-40B4-BE49-F238E27FC236}">
                <a16:creationId xmlns:a16="http://schemas.microsoft.com/office/drawing/2014/main" id="{8878F5DC-DC7E-2EBB-8592-BB0D15F2C424}"/>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6">
            <a:extLst>
              <a:ext uri="{FF2B5EF4-FFF2-40B4-BE49-F238E27FC236}">
                <a16:creationId xmlns:a16="http://schemas.microsoft.com/office/drawing/2014/main" id="{8E9ED97F-9545-3362-AB25-ED784A3839E4}"/>
              </a:ext>
            </a:extLst>
          </p:cNvPr>
          <p:cNvSpPr txBox="1"/>
          <p:nvPr/>
        </p:nvSpPr>
        <p:spPr>
          <a:xfrm>
            <a:off x="1021443" y="3429000"/>
            <a:ext cx="11045370" cy="6715108"/>
          </a:xfrm>
          <a:prstGeom prst="rect">
            <a:avLst/>
          </a:prstGeom>
          <a:noFill/>
        </p:spPr>
        <p:txBody>
          <a:bodyPr wrap="square">
            <a:spAutoFit/>
          </a:bodyPr>
          <a:lstStyle/>
          <a:p>
            <a:pPr marL="285750" indent="-285750">
              <a:lnSpc>
                <a:spcPct val="110000"/>
              </a:lnSpc>
              <a:buFont typeface="Arial" panose="020B0604020202020204" pitchFamily="34" charset="0"/>
              <a:buChar char="•"/>
            </a:pPr>
            <a:r>
              <a:rPr lang="en-GB" sz="1400" dirty="0" err="1">
                <a:latin typeface="Noto Sans" panose="020B0604020202020204"/>
                <a:ea typeface="Noto Sans" panose="020B0604020202020204"/>
                <a:cs typeface="Noto Sans" panose="020B0604020202020204"/>
              </a:rPr>
              <a:t>Büchi</a:t>
            </a:r>
            <a:r>
              <a:rPr lang="en-GB" sz="1400" dirty="0">
                <a:latin typeface="Noto Sans" panose="020B0604020202020204"/>
                <a:ea typeface="Noto Sans" panose="020B0604020202020204"/>
                <a:cs typeface="Noto Sans" panose="020B0604020202020204"/>
              </a:rPr>
              <a:t>, Moritz, Noemi </a:t>
            </a:r>
            <a:r>
              <a:rPr lang="en-GB" sz="1400" dirty="0" err="1">
                <a:latin typeface="Noto Sans" panose="020B0604020202020204"/>
                <a:ea typeface="Noto Sans" panose="020B0604020202020204"/>
                <a:cs typeface="Noto Sans" panose="020B0604020202020204"/>
              </a:rPr>
              <a:t>Festic</a:t>
            </a:r>
            <a:r>
              <a:rPr lang="en-GB" sz="1400" dirty="0">
                <a:latin typeface="Noto Sans" panose="020B0604020202020204"/>
                <a:ea typeface="Noto Sans" panose="020B0604020202020204"/>
                <a:cs typeface="Noto Sans" panose="020B0604020202020204"/>
              </a:rPr>
              <a:t>, and Michael Latzer. 2022. ‘The Chilling Effects of Digital Dataveillance: A Theoretical Model and an Empirical Research Agenda’. Big Data &amp; Society 9 (1): 205395172110653. </a:t>
            </a:r>
            <a:r>
              <a:rPr lang="en-GB" sz="1400" dirty="0">
                <a:latin typeface="Noto Sans" panose="020B0604020202020204"/>
                <a:ea typeface="Noto Sans" panose="020B0604020202020204"/>
                <a:cs typeface="Noto Sans" panose="020B0604020202020204"/>
                <a:hlinkClick r:id="rId4"/>
              </a:rPr>
              <a:t>https://doi.org/10.1177/20539517211065368</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Carter, J. Adam. 2026. ‘Who Acts When the Machine Decides? Intentional Action and Agentic AI’. Inquiry, June 13, 1–33. </a:t>
            </a:r>
            <a:r>
              <a:rPr lang="en-GB" sz="1400" dirty="0">
                <a:latin typeface="Noto Sans" panose="020B0604020202020204"/>
                <a:ea typeface="Noto Sans" panose="020B0604020202020204"/>
                <a:cs typeface="Noto Sans" panose="020B0604020202020204"/>
                <a:hlinkClick r:id="rId5"/>
              </a:rPr>
              <a:t>https://doi.org/10.1080/0020174X.2026.2685308</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Cheesman, Margie. 2022. ‘Self-Sovereignty for Refugees? The Contested Horizons of Digital Identity’. Geopolitics 27 (1): 134–59. </a:t>
            </a:r>
            <a:r>
              <a:rPr lang="en-GB" sz="1400" dirty="0">
                <a:latin typeface="Noto Sans" panose="020B0604020202020204"/>
                <a:ea typeface="Noto Sans" panose="020B0604020202020204"/>
                <a:cs typeface="Noto Sans" panose="020B0604020202020204"/>
                <a:hlinkClick r:id="rId6"/>
              </a:rPr>
              <a:t>https://doi.org/10.1080/14650045.2020.1823836</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Clarke, Roger. 1988. ‘Information Technology and Dataveillance’. Communications of the ACM 31 (5): 498–512. </a:t>
            </a:r>
            <a:r>
              <a:rPr lang="en-GB" sz="1400" dirty="0">
                <a:latin typeface="Noto Sans" panose="020B0604020202020204"/>
                <a:ea typeface="Noto Sans" panose="020B0604020202020204"/>
                <a:cs typeface="Noto Sans" panose="020B0604020202020204"/>
                <a:hlinkClick r:id="rId7"/>
              </a:rPr>
              <a:t>https://doi.org/10.1145/42411.42413</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Danaher, John. 2022. ‘Tragic Choices and the Virtue of Techno-Responsibility Gaps’. Philosophy &amp; Technology 35 (2): 26. </a:t>
            </a:r>
            <a:r>
              <a:rPr lang="en-GB" sz="1400" dirty="0">
                <a:latin typeface="Noto Sans" panose="020B0604020202020204"/>
                <a:ea typeface="Noto Sans" panose="020B0604020202020204"/>
                <a:cs typeface="Noto Sans" panose="020B0604020202020204"/>
                <a:hlinkClick r:id="rId8"/>
              </a:rPr>
              <a:t>https://doi.org/10.1007/s13347-022-00519-1</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err="1">
                <a:latin typeface="Noto Sans" panose="020B0604020202020204"/>
                <a:ea typeface="Noto Sans" panose="020B0604020202020204"/>
                <a:cs typeface="Noto Sans" panose="020B0604020202020204"/>
              </a:rPr>
              <a:t>Dijstelbloem</a:t>
            </a:r>
            <a:r>
              <a:rPr lang="en-GB" sz="1400" dirty="0">
                <a:latin typeface="Noto Sans" panose="020B0604020202020204"/>
                <a:ea typeface="Noto Sans" panose="020B0604020202020204"/>
                <a:cs typeface="Noto Sans" panose="020B0604020202020204"/>
              </a:rPr>
              <a:t>, Huub. 2021. Borders as Infrastructure: The </a:t>
            </a:r>
            <a:r>
              <a:rPr lang="en-GB" sz="1400" dirty="0" err="1">
                <a:latin typeface="Noto Sans" panose="020B0604020202020204"/>
                <a:ea typeface="Noto Sans" panose="020B0604020202020204"/>
                <a:cs typeface="Noto Sans" panose="020B0604020202020204"/>
              </a:rPr>
              <a:t>Technopolitics</a:t>
            </a:r>
            <a:r>
              <a:rPr lang="en-GB" sz="1400" dirty="0">
                <a:latin typeface="Noto Sans" panose="020B0604020202020204"/>
                <a:ea typeface="Noto Sans" panose="020B0604020202020204"/>
                <a:cs typeface="Noto Sans" panose="020B0604020202020204"/>
              </a:rPr>
              <a:t> of Border Control. The MIT Press. </a:t>
            </a:r>
            <a:r>
              <a:rPr lang="en-GB" sz="1400" dirty="0">
                <a:latin typeface="Noto Sans" panose="020B0604020202020204"/>
                <a:ea typeface="Noto Sans" panose="020B0604020202020204"/>
                <a:cs typeface="Noto Sans" panose="020B0604020202020204"/>
                <a:hlinkClick r:id="rId9"/>
              </a:rPr>
              <a:t>https://doi.org/10.7551/mitpress/11926.001.0001</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Goodin, Robert E. 1992. ‘If People Were Money...’ In Free Movement, edited by Brian Barry and Robert E. Goodin. Pennsylvania State University Press.</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Han, Sung Jun. 2025. ‘The Question of AI and Democracy: Four Categories of AI Governance’. Philosophy &amp; Technology 38 (2): 83. </a:t>
            </a:r>
            <a:r>
              <a:rPr lang="en-GB" sz="1400" dirty="0">
                <a:latin typeface="Noto Sans" panose="020B0604020202020204"/>
                <a:ea typeface="Noto Sans" panose="020B0604020202020204"/>
                <a:cs typeface="Noto Sans" panose="020B0604020202020204"/>
                <a:hlinkClick r:id="rId10"/>
              </a:rPr>
              <a:t>https://doi.org/10.1007/s13347-025-00904-6</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Matthias, Andreas. 2004. ‘The Responsibility Gap: Ascribing Responsibility for the Actions of Learning Automata’. Ethics and Information Technology 6 (3): 175–83. </a:t>
            </a:r>
            <a:r>
              <a:rPr lang="en-GB" sz="1400" dirty="0">
                <a:latin typeface="Noto Sans" panose="020B0604020202020204"/>
                <a:ea typeface="Noto Sans" panose="020B0604020202020204"/>
                <a:cs typeface="Noto Sans" panose="020B0604020202020204"/>
                <a:hlinkClick r:id="rId11"/>
              </a:rPr>
              <a:t>https://doi.org/10.1007/s10676-004-3422-1</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Meneses Gutierrez, </a:t>
            </a:r>
            <a:r>
              <a:rPr lang="en-GB" sz="1400" dirty="0" err="1">
                <a:latin typeface="Noto Sans" panose="020B0604020202020204"/>
                <a:ea typeface="Noto Sans" panose="020B0604020202020204"/>
                <a:cs typeface="Noto Sans" panose="020B0604020202020204"/>
              </a:rPr>
              <a:t>Mitxy</a:t>
            </a:r>
            <a:r>
              <a:rPr lang="en-GB" sz="1400" dirty="0">
                <a:latin typeface="Noto Sans" panose="020B0604020202020204"/>
                <a:ea typeface="Noto Sans" panose="020B0604020202020204"/>
                <a:cs typeface="Noto Sans" panose="020B0604020202020204"/>
              </a:rPr>
              <a:t> Mabel. 2023. ‘Researching the Mexico-US Border: A Tale of Dataveillance’. Journal of Global Ethics 19 (3): 347–58. </a:t>
            </a:r>
            <a:r>
              <a:rPr lang="en-GB" sz="1400" dirty="0">
                <a:latin typeface="Noto Sans" panose="020B0604020202020204"/>
                <a:ea typeface="Noto Sans" panose="020B0604020202020204"/>
                <a:cs typeface="Noto Sans" panose="020B0604020202020204"/>
                <a:hlinkClick r:id="rId12"/>
              </a:rPr>
              <a:t>https://doi.org/10.1080/17449626.2023.2271005</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Narita, Kaelynn. 2023. ‘An Infrastructural Approach to the </a:t>
            </a:r>
            <a:r>
              <a:rPr lang="en-GB" sz="1400" i="1" dirty="0">
                <a:latin typeface="Noto Sans" panose="020B0604020202020204"/>
                <a:ea typeface="Noto Sans" panose="020B0604020202020204"/>
                <a:cs typeface="Noto Sans" panose="020B0604020202020204"/>
              </a:rPr>
              <a:t>Digital</a:t>
            </a:r>
            <a:r>
              <a:rPr lang="en-GB" sz="1400" dirty="0">
                <a:latin typeface="Noto Sans" panose="020B0604020202020204"/>
                <a:ea typeface="Noto Sans" panose="020B0604020202020204"/>
                <a:cs typeface="Noto Sans" panose="020B0604020202020204"/>
              </a:rPr>
              <a:t> Hostile Environment’. Journal of Global Ethics 19 (3): 294–306. </a:t>
            </a:r>
            <a:r>
              <a:rPr lang="en-GB" sz="1400" dirty="0">
                <a:latin typeface="Noto Sans" panose="020B0604020202020204"/>
                <a:ea typeface="Noto Sans" panose="020B0604020202020204"/>
                <a:cs typeface="Noto Sans" panose="020B0604020202020204"/>
                <a:hlinkClick r:id="rId13"/>
              </a:rPr>
              <a:t>https://doi.org/10.1080/17449626.2023.2272773</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Santoni De Sio, Filippo, and Giulio </a:t>
            </a:r>
            <a:r>
              <a:rPr lang="en-GB" sz="1400" dirty="0" err="1">
                <a:latin typeface="Noto Sans" panose="020B0604020202020204"/>
                <a:ea typeface="Noto Sans" panose="020B0604020202020204"/>
                <a:cs typeface="Noto Sans" panose="020B0604020202020204"/>
              </a:rPr>
              <a:t>Mecacci</a:t>
            </a:r>
            <a:r>
              <a:rPr lang="en-GB" sz="1400" dirty="0">
                <a:latin typeface="Noto Sans" panose="020B0604020202020204"/>
                <a:ea typeface="Noto Sans" panose="020B0604020202020204"/>
                <a:cs typeface="Noto Sans" panose="020B0604020202020204"/>
              </a:rPr>
              <a:t>. 2021. ‘Four Responsibility Gaps with Artificial Intelligence: Why They Matter and How to Address Them’. Philosophy &amp; Technology 34 (4): 1057–84. </a:t>
            </a:r>
            <a:r>
              <a:rPr lang="en-GB" sz="1400" dirty="0">
                <a:latin typeface="Noto Sans" panose="020B0604020202020204"/>
                <a:ea typeface="Noto Sans" panose="020B0604020202020204"/>
                <a:cs typeface="Noto Sans" panose="020B0604020202020204"/>
                <a:hlinkClick r:id="rId14"/>
              </a:rPr>
              <a:t>https://doi.org/10.1007/s13347-021-00450-x</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Thompson, Dennis F. 1980. ‘Moral Responsibility of Public Officials: The Problem of Many Hands’. American Political Science Review 74 (4): 905–16. </a:t>
            </a:r>
            <a:r>
              <a:rPr lang="en-GB" sz="1400" dirty="0">
                <a:latin typeface="Noto Sans" panose="020B0604020202020204"/>
                <a:ea typeface="Noto Sans" panose="020B0604020202020204"/>
                <a:cs typeface="Noto Sans" panose="020B0604020202020204"/>
                <a:hlinkClick r:id="rId15"/>
              </a:rPr>
              <a:t>https://doi.org/10.2307/1954312</a:t>
            </a:r>
            <a:r>
              <a:rPr lang="en-GB" sz="1400" dirty="0">
                <a:latin typeface="Noto Sans" panose="020B0604020202020204"/>
                <a:ea typeface="Noto Sans" panose="020B0604020202020204"/>
                <a:cs typeface="Noto Sans" panose="020B0604020202020204"/>
              </a:rPr>
              <a:t>.</a:t>
            </a:r>
          </a:p>
          <a:p>
            <a:pPr marL="285750" indent="-285750">
              <a:lnSpc>
                <a:spcPct val="110000"/>
              </a:lnSpc>
              <a:buFont typeface="Arial" panose="020B0604020202020204" pitchFamily="34" charset="0"/>
              <a:buChar char="•"/>
            </a:pPr>
            <a:r>
              <a:rPr lang="en-GB" sz="1400" dirty="0">
                <a:latin typeface="Noto Sans" panose="020B0604020202020204"/>
                <a:ea typeface="Noto Sans" panose="020B0604020202020204"/>
                <a:cs typeface="Noto Sans" panose="020B0604020202020204"/>
              </a:rPr>
              <a:t>Van Dijck, Jose. 2014. ‘Datafication, </a:t>
            </a:r>
            <a:r>
              <a:rPr lang="en-GB" sz="1400" dirty="0" err="1">
                <a:latin typeface="Noto Sans" panose="020B0604020202020204"/>
                <a:ea typeface="Noto Sans" panose="020B0604020202020204"/>
                <a:cs typeface="Noto Sans" panose="020B0604020202020204"/>
              </a:rPr>
              <a:t>Dataism</a:t>
            </a:r>
            <a:r>
              <a:rPr lang="en-GB" sz="1400" dirty="0">
                <a:latin typeface="Noto Sans" panose="020B0604020202020204"/>
                <a:ea typeface="Noto Sans" panose="020B0604020202020204"/>
                <a:cs typeface="Noto Sans" panose="020B0604020202020204"/>
              </a:rPr>
              <a:t> and Dataveillance: Big Data Between Scientific Paradigm and Ideology’. Surveillance &amp; Society 12 (2): 197–208. </a:t>
            </a:r>
            <a:r>
              <a:rPr lang="en-GB" sz="1400" dirty="0">
                <a:latin typeface="Noto Sans" panose="020B0604020202020204"/>
                <a:ea typeface="Noto Sans" panose="020B0604020202020204"/>
                <a:cs typeface="Noto Sans" panose="020B0604020202020204"/>
                <a:hlinkClick r:id="rId16"/>
              </a:rPr>
              <a:t>https://doi.org/10.24908/ss.v12i2.4776</a:t>
            </a:r>
            <a:r>
              <a:rPr lang="en-GB" sz="1400" dirty="0">
                <a:latin typeface="Noto Sans" panose="020B0604020202020204"/>
                <a:ea typeface="Noto Sans" panose="020B0604020202020204"/>
                <a:cs typeface="Noto Sans" panose="020B0604020202020204"/>
              </a:rPr>
              <a:t>.</a:t>
            </a:r>
          </a:p>
        </p:txBody>
      </p:sp>
      <p:grpSp>
        <p:nvGrpSpPr>
          <p:cNvPr id="6" name="Group 5">
            <a:extLst>
              <a:ext uri="{FF2B5EF4-FFF2-40B4-BE49-F238E27FC236}">
                <a16:creationId xmlns:a16="http://schemas.microsoft.com/office/drawing/2014/main" id="{E971450E-3C25-588C-8515-49A170C4E4C3}"/>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3739D010-5903-F569-42E0-CA2A5CF4E3CB}"/>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32610E6F-D225-573D-C95D-76EF0181E882}"/>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6E1A0648-A948-436B-311C-3FED57B42FD5}"/>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D62A7301-822E-7691-87F2-1A1CF12C9FA9}"/>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2454EA55-E579-6ECA-FF83-3FEA5E8238A7}"/>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40</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2790680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B593B-9FAD-6B00-67DD-667ED3A8215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4A9599D-6EC0-7F16-70E8-758A474D4AA1}"/>
              </a:ext>
            </a:extLst>
          </p:cNvPr>
          <p:cNvSpPr txBox="1"/>
          <p:nvPr/>
        </p:nvSpPr>
        <p:spPr>
          <a:xfrm>
            <a:off x="1028700" y="1944000"/>
            <a:ext cx="16213111" cy="1231106"/>
          </a:xfrm>
          <a:prstGeom prst="rect">
            <a:avLst/>
          </a:prstGeom>
        </p:spPr>
        <p:txBody>
          <a:bodyPr lIns="0" tIns="0" rIns="0" bIns="0" rtlCol="0" anchor="t">
            <a:spAutoFit/>
          </a:bodyPr>
          <a:lstStyle/>
          <a:p>
            <a:pPr algn="l">
              <a:lnSpc>
                <a:spcPts val="9600"/>
              </a:lnSpc>
            </a:pPr>
            <a:r>
              <a:rPr lang="en-US" sz="8000" dirty="0">
                <a:solidFill>
                  <a:srgbClr val="333333"/>
                </a:solidFill>
                <a:latin typeface="Noto Serif"/>
                <a:ea typeface="Noto Serif"/>
                <a:cs typeface="Noto Serif"/>
                <a:sym typeface="Noto Serif"/>
              </a:rPr>
              <a:t>Images</a:t>
            </a:r>
          </a:p>
        </p:txBody>
      </p:sp>
      <p:sp>
        <p:nvSpPr>
          <p:cNvPr id="10" name="Freeform 10">
            <a:extLst>
              <a:ext uri="{FF2B5EF4-FFF2-40B4-BE49-F238E27FC236}">
                <a16:creationId xmlns:a16="http://schemas.microsoft.com/office/drawing/2014/main" id="{3502D418-5657-D08F-C1D7-008FE3349E72}"/>
              </a:ext>
            </a:extLst>
          </p:cNvPr>
          <p:cNvSpPr/>
          <p:nvPr/>
        </p:nvSpPr>
        <p:spPr>
          <a:xfrm>
            <a:off x="13846311" y="5230500"/>
            <a:ext cx="8243080" cy="8243080"/>
          </a:xfrm>
          <a:custGeom>
            <a:avLst/>
            <a:gdLst/>
            <a:ahLst/>
            <a:cxnLst/>
            <a:rect l="l" t="t" r="r" b="b"/>
            <a:pathLst>
              <a:path w="8243080" h="8243080">
                <a:moveTo>
                  <a:pt x="0" y="0"/>
                </a:moveTo>
                <a:lnTo>
                  <a:pt x="8243080" y="0"/>
                </a:lnTo>
                <a:lnTo>
                  <a:pt x="8243080" y="8243079"/>
                </a:lnTo>
                <a:lnTo>
                  <a:pt x="0" y="8243079"/>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6">
            <a:extLst>
              <a:ext uri="{FF2B5EF4-FFF2-40B4-BE49-F238E27FC236}">
                <a16:creationId xmlns:a16="http://schemas.microsoft.com/office/drawing/2014/main" id="{690CAD15-AF6A-8670-65B5-3C9FC5E996AD}"/>
              </a:ext>
            </a:extLst>
          </p:cNvPr>
          <p:cNvSpPr txBox="1"/>
          <p:nvPr/>
        </p:nvSpPr>
        <p:spPr>
          <a:xfrm>
            <a:off x="1021442" y="3429000"/>
            <a:ext cx="15742557" cy="2771271"/>
          </a:xfrm>
          <a:prstGeom prst="rect">
            <a:avLst/>
          </a:prstGeom>
          <a:noFill/>
        </p:spPr>
        <p:txBody>
          <a:bodyPr wrap="square">
            <a:spAutoFit/>
          </a:bodyPr>
          <a:lstStyle/>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Titel slide: © </a:t>
            </a:r>
            <a:r>
              <a:rPr lang="en-GB" sz="3200" dirty="0" err="1">
                <a:latin typeface="Noto Sans" panose="020B0604020202020204"/>
                <a:ea typeface="Noto Sans" panose="020B0604020202020204"/>
                <a:cs typeface="Noto Sans" panose="020B0604020202020204"/>
              </a:rPr>
              <a:t>metamorworks</a:t>
            </a:r>
            <a:r>
              <a:rPr lang="en-GB" sz="3200" dirty="0">
                <a:latin typeface="Noto Sans" panose="020B0604020202020204"/>
                <a:ea typeface="Noto Sans" panose="020B0604020202020204"/>
                <a:cs typeface="Noto Sans" panose="020B0604020202020204"/>
              </a:rPr>
              <a:t> / iStock</a:t>
            </a: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Passport gates: CC-BY-SA 3.0, Elliott Killingbeck / Wikimedia Commons</a:t>
            </a: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Surveillance tower:  public domain, CBP Photography / Wikimedia Commons</a:t>
            </a: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Drone: CC-BY-SA 4.0, Prima Mandana / Wikimedia Commons</a:t>
            </a:r>
          </a:p>
          <a:p>
            <a:pPr marL="285750" indent="-285750">
              <a:lnSpc>
                <a:spcPct val="110000"/>
              </a:lnSpc>
              <a:buFont typeface="Arial" panose="020B0604020202020204" pitchFamily="34" charset="0"/>
              <a:buChar char="•"/>
            </a:pPr>
            <a:r>
              <a:rPr lang="en-GB" sz="3200" dirty="0">
                <a:latin typeface="Noto Sans" panose="020B0604020202020204"/>
                <a:ea typeface="Noto Sans" panose="020B0604020202020204"/>
                <a:cs typeface="Noto Sans" panose="020B0604020202020204"/>
              </a:rPr>
              <a:t>Satellite: public domain, NOAA / Wikimedia Commons</a:t>
            </a:r>
          </a:p>
        </p:txBody>
      </p:sp>
      <p:grpSp>
        <p:nvGrpSpPr>
          <p:cNvPr id="6" name="Group 5">
            <a:extLst>
              <a:ext uri="{FF2B5EF4-FFF2-40B4-BE49-F238E27FC236}">
                <a16:creationId xmlns:a16="http://schemas.microsoft.com/office/drawing/2014/main" id="{BF828F4A-75D6-F087-5C76-914B23053D41}"/>
              </a:ext>
            </a:extLst>
          </p:cNvPr>
          <p:cNvGrpSpPr/>
          <p:nvPr/>
        </p:nvGrpSpPr>
        <p:grpSpPr>
          <a:xfrm>
            <a:off x="990600" y="540000"/>
            <a:ext cx="16268700" cy="613410"/>
            <a:chOff x="990600" y="540000"/>
            <a:chExt cx="16268700" cy="613410"/>
          </a:xfrm>
        </p:grpSpPr>
        <p:grpSp>
          <p:nvGrpSpPr>
            <p:cNvPr id="8" name="Group 3">
              <a:extLst>
                <a:ext uri="{FF2B5EF4-FFF2-40B4-BE49-F238E27FC236}">
                  <a16:creationId xmlns:a16="http://schemas.microsoft.com/office/drawing/2014/main" id="{BBA1F791-ABE4-DAA7-8036-999EDF1732B1}"/>
                </a:ext>
              </a:extLst>
            </p:cNvPr>
            <p:cNvGrpSpPr/>
            <p:nvPr/>
          </p:nvGrpSpPr>
          <p:grpSpPr>
            <a:xfrm>
              <a:off x="1028700" y="540000"/>
              <a:ext cx="16230600" cy="613410"/>
              <a:chOff x="0" y="142130"/>
              <a:chExt cx="21640800" cy="1642694"/>
            </a:xfrm>
          </p:grpSpPr>
          <p:sp>
            <p:nvSpPr>
              <p:cNvPr id="14" name="AutoShape 4">
                <a:extLst>
                  <a:ext uri="{FF2B5EF4-FFF2-40B4-BE49-F238E27FC236}">
                    <a16:creationId xmlns:a16="http://schemas.microsoft.com/office/drawing/2014/main" id="{F4932017-4331-2716-6362-EA1F42B76A3F}"/>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15" name="TextBox 5">
                <a:extLst>
                  <a:ext uri="{FF2B5EF4-FFF2-40B4-BE49-F238E27FC236}">
                    <a16:creationId xmlns:a16="http://schemas.microsoft.com/office/drawing/2014/main" id="{0051E72E-28AE-2B99-6707-F516888D6182}"/>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12" name="TextBox 11">
              <a:extLst>
                <a:ext uri="{FF2B5EF4-FFF2-40B4-BE49-F238E27FC236}">
                  <a16:creationId xmlns:a16="http://schemas.microsoft.com/office/drawing/2014/main" id="{7EAC658A-2FCE-E94C-6604-D78C53F5D172}"/>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13" name="TextBox 12">
              <a:extLst>
                <a:ext uri="{FF2B5EF4-FFF2-40B4-BE49-F238E27FC236}">
                  <a16:creationId xmlns:a16="http://schemas.microsoft.com/office/drawing/2014/main" id="{55483A53-317E-3CA3-9660-8F53BDB633E4}"/>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41</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885287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BB0A-F061-7189-DFC0-2F2E54DA3C0E}"/>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B347DF69-1FAE-886C-B53E-3375E935AE39}"/>
              </a:ext>
            </a:extLst>
          </p:cNvPr>
          <p:cNvSpPr/>
          <p:nvPr/>
        </p:nvSpPr>
        <p:spPr>
          <a:xfrm>
            <a:off x="13846763" y="5216304"/>
            <a:ext cx="8243080" cy="8243080"/>
          </a:xfrm>
          <a:custGeom>
            <a:avLst/>
            <a:gdLst/>
            <a:ahLst/>
            <a:cxnLst/>
            <a:rect l="l" t="t" r="r" b="b"/>
            <a:pathLst>
              <a:path w="8243080" h="8243080">
                <a:moveTo>
                  <a:pt x="0" y="0"/>
                </a:moveTo>
                <a:lnTo>
                  <a:pt x="8243079" y="0"/>
                </a:lnTo>
                <a:lnTo>
                  <a:pt x="8243079" y="8243080"/>
                </a:lnTo>
                <a:lnTo>
                  <a:pt x="0" y="8243080"/>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TextBox 9">
            <a:extLst>
              <a:ext uri="{FF2B5EF4-FFF2-40B4-BE49-F238E27FC236}">
                <a16:creationId xmlns:a16="http://schemas.microsoft.com/office/drawing/2014/main" id="{ECAE5A73-D304-BD9B-559B-46113FCC9B65}"/>
              </a:ext>
            </a:extLst>
          </p:cNvPr>
          <p:cNvSpPr txBox="1"/>
          <p:nvPr/>
        </p:nvSpPr>
        <p:spPr>
          <a:xfrm>
            <a:off x="1055266" y="1943100"/>
            <a:ext cx="16186545" cy="1241302"/>
          </a:xfrm>
          <a:prstGeom prst="rect">
            <a:avLst/>
          </a:prstGeom>
        </p:spPr>
        <p:txBody>
          <a:bodyPr lIns="0" tIns="0" rIns="0" bIns="0" rtlCol="0" anchor="t">
            <a:spAutoFit/>
          </a:bodyPr>
          <a:lstStyle/>
          <a:p>
            <a:pPr>
              <a:lnSpc>
                <a:spcPts val="5040"/>
              </a:lnSpc>
            </a:pPr>
            <a:r>
              <a:rPr lang="en-US" sz="3600" b="1" dirty="0">
                <a:solidFill>
                  <a:srgbClr val="333333"/>
                </a:solidFill>
                <a:latin typeface="Noto Sans Bold"/>
                <a:ea typeface="Noto Sans Bold"/>
                <a:cs typeface="Noto Sans Bold"/>
                <a:sym typeface="Noto Sans Bold"/>
              </a:rPr>
              <a:t>Script and slides are available at:</a:t>
            </a:r>
            <a:br>
              <a:rPr lang="en-US" sz="3600" b="1" dirty="0">
                <a:solidFill>
                  <a:srgbClr val="333333"/>
                </a:solidFill>
                <a:latin typeface="Noto Sans" panose="020B0604020202020204"/>
                <a:ea typeface="Noto Sans" panose="020B0604020202020204"/>
                <a:cs typeface="Noto Sans" panose="020B0604020202020204"/>
                <a:sym typeface="Noto Sans Bold"/>
              </a:rPr>
            </a:br>
            <a:r>
              <a:rPr lang="en-US" sz="3600" dirty="0">
                <a:solidFill>
                  <a:srgbClr val="333333"/>
                </a:solidFill>
                <a:latin typeface="Noto Sans" panose="020B0604020202020204"/>
                <a:ea typeface="Noto Sans" panose="020B0604020202020204"/>
                <a:cs typeface="Noto Sans" panose="020B0604020202020204"/>
                <a:sym typeface="Noto Sans Bold"/>
              </a:rPr>
              <a:t>https://github.com/fpodschwadek/if-people-were-data-passae-2026</a:t>
            </a:r>
            <a:endParaRPr lang="en-US" sz="3600" b="1" dirty="0">
              <a:solidFill>
                <a:srgbClr val="333333"/>
              </a:solidFill>
              <a:latin typeface="Noto Sans Bold"/>
              <a:ea typeface="Noto Sans Bold"/>
              <a:cs typeface="Noto Sans Bold"/>
              <a:sym typeface="Noto Sans Bold"/>
            </a:endParaRPr>
          </a:p>
        </p:txBody>
      </p:sp>
      <p:pic>
        <p:nvPicPr>
          <p:cNvPr id="14" name="Graphic 13">
            <a:extLst>
              <a:ext uri="{FF2B5EF4-FFF2-40B4-BE49-F238E27FC236}">
                <a16:creationId xmlns:a16="http://schemas.microsoft.com/office/drawing/2014/main" id="{85E23C03-9EE3-FF21-7DCA-1EB2635209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62750" y="3974091"/>
            <a:ext cx="4762500" cy="4762500"/>
          </a:xfrm>
          <a:prstGeom prst="rect">
            <a:avLst/>
          </a:prstGeom>
        </p:spPr>
      </p:pic>
      <p:grpSp>
        <p:nvGrpSpPr>
          <p:cNvPr id="2" name="Group 1">
            <a:extLst>
              <a:ext uri="{FF2B5EF4-FFF2-40B4-BE49-F238E27FC236}">
                <a16:creationId xmlns:a16="http://schemas.microsoft.com/office/drawing/2014/main" id="{A874D975-ACBC-5226-73E6-3785F3040D90}"/>
              </a:ext>
            </a:extLst>
          </p:cNvPr>
          <p:cNvGrpSpPr/>
          <p:nvPr/>
        </p:nvGrpSpPr>
        <p:grpSpPr>
          <a:xfrm>
            <a:off x="990600" y="540000"/>
            <a:ext cx="16268700" cy="613410"/>
            <a:chOff x="990600" y="540000"/>
            <a:chExt cx="16268700" cy="613410"/>
          </a:xfrm>
        </p:grpSpPr>
        <p:grpSp>
          <p:nvGrpSpPr>
            <p:cNvPr id="3" name="Group 3">
              <a:extLst>
                <a:ext uri="{FF2B5EF4-FFF2-40B4-BE49-F238E27FC236}">
                  <a16:creationId xmlns:a16="http://schemas.microsoft.com/office/drawing/2014/main" id="{4C69852B-BE80-EEC3-997C-72FC14D25223}"/>
                </a:ext>
              </a:extLst>
            </p:cNvPr>
            <p:cNvGrpSpPr/>
            <p:nvPr/>
          </p:nvGrpSpPr>
          <p:grpSpPr>
            <a:xfrm>
              <a:off x="1028700" y="540000"/>
              <a:ext cx="16230600" cy="613410"/>
              <a:chOff x="0" y="142130"/>
              <a:chExt cx="21640800" cy="1642694"/>
            </a:xfrm>
          </p:grpSpPr>
          <p:sp>
            <p:nvSpPr>
              <p:cNvPr id="6" name="AutoShape 4">
                <a:extLst>
                  <a:ext uri="{FF2B5EF4-FFF2-40B4-BE49-F238E27FC236}">
                    <a16:creationId xmlns:a16="http://schemas.microsoft.com/office/drawing/2014/main" id="{A94C29DA-03FF-B7BA-6B60-CB8B8468CE39}"/>
                  </a:ext>
                </a:extLst>
              </p:cNvPr>
              <p:cNvSpPr/>
              <p:nvPr/>
            </p:nvSpPr>
            <p:spPr>
              <a:xfrm>
                <a:off x="0" y="1784824"/>
                <a:ext cx="21640800" cy="0"/>
              </a:xfrm>
              <a:prstGeom prst="line">
                <a:avLst/>
              </a:prstGeom>
              <a:ln w="38100" cap="flat">
                <a:solidFill>
                  <a:srgbClr val="333333"/>
                </a:solidFill>
                <a:prstDash val="solid"/>
                <a:headEnd type="none" w="sm" len="sm"/>
                <a:tailEnd type="none" w="sm" len="sm"/>
              </a:ln>
            </p:spPr>
            <p:txBody>
              <a:bodyPr/>
              <a:lstStyle/>
              <a:p>
                <a:endParaRPr lang="en-GB"/>
              </a:p>
            </p:txBody>
          </p:sp>
          <p:sp>
            <p:nvSpPr>
              <p:cNvPr id="7" name="TextBox 5">
                <a:extLst>
                  <a:ext uri="{FF2B5EF4-FFF2-40B4-BE49-F238E27FC236}">
                    <a16:creationId xmlns:a16="http://schemas.microsoft.com/office/drawing/2014/main" id="{05437025-DC42-CAB6-D013-A524B774746B}"/>
                  </a:ext>
                </a:extLst>
              </p:cNvPr>
              <p:cNvSpPr txBox="1"/>
              <p:nvPr/>
            </p:nvSpPr>
            <p:spPr>
              <a:xfrm>
                <a:off x="13107890" y="142130"/>
                <a:ext cx="8532910" cy="484293"/>
              </a:xfrm>
              <a:prstGeom prst="rect">
                <a:avLst/>
              </a:prstGeom>
            </p:spPr>
            <p:txBody>
              <a:bodyPr lIns="0" tIns="0" rIns="0" bIns="0" rtlCol="0" anchor="t">
                <a:spAutoFit/>
              </a:bodyPr>
              <a:lstStyle/>
              <a:p>
                <a:pPr algn="r">
                  <a:lnSpc>
                    <a:spcPts val="3080"/>
                  </a:lnSpc>
                </a:pPr>
                <a:endParaRPr/>
              </a:p>
            </p:txBody>
          </p:sp>
        </p:grpSp>
        <p:sp>
          <p:nvSpPr>
            <p:cNvPr id="4" name="TextBox 3">
              <a:extLst>
                <a:ext uri="{FF2B5EF4-FFF2-40B4-BE49-F238E27FC236}">
                  <a16:creationId xmlns:a16="http://schemas.microsoft.com/office/drawing/2014/main" id="{F6031A80-00ED-EE05-FAF6-2B18EB78A193}"/>
                </a:ext>
              </a:extLst>
            </p:cNvPr>
            <p:cNvSpPr txBox="1"/>
            <p:nvPr/>
          </p:nvSpPr>
          <p:spPr>
            <a:xfrm>
              <a:off x="10859618" y="663303"/>
              <a:ext cx="6399682" cy="372745"/>
            </a:xfrm>
            <a:prstGeom prst="rect">
              <a:avLst/>
            </a:prstGeom>
          </p:spPr>
          <p:txBody>
            <a:bodyPr lIns="0" tIns="0" rIns="0" bIns="0" rtlCol="0" anchor="t">
              <a:spAutoFit/>
            </a:bodyPr>
            <a:lstStyle/>
            <a:p>
              <a:pPr algn="r">
                <a:lnSpc>
                  <a:spcPts val="3080"/>
                </a:lnSpc>
              </a:pPr>
              <a:r>
                <a:rPr lang="en-US" sz="2200" b="1" dirty="0">
                  <a:solidFill>
                    <a:srgbClr val="333333"/>
                  </a:solidFill>
                  <a:latin typeface="Noto Sans Bold"/>
                  <a:ea typeface="Noto Sans Bold"/>
                  <a:cs typeface="Noto Sans Bold"/>
                  <a:sym typeface="Noto Sans Bold"/>
                </a:rPr>
                <a:t>If People Were Data </a:t>
              </a:r>
            </a:p>
          </p:txBody>
        </p:sp>
        <p:sp>
          <p:nvSpPr>
            <p:cNvPr id="5" name="TextBox 4">
              <a:extLst>
                <a:ext uri="{FF2B5EF4-FFF2-40B4-BE49-F238E27FC236}">
                  <a16:creationId xmlns:a16="http://schemas.microsoft.com/office/drawing/2014/main" id="{D11CA3B1-7E35-2A69-CBBB-9CDB7CD9638C}"/>
                </a:ext>
              </a:extLst>
            </p:cNvPr>
            <p:cNvSpPr txBox="1"/>
            <p:nvPr/>
          </p:nvSpPr>
          <p:spPr>
            <a:xfrm>
              <a:off x="990600" y="663842"/>
              <a:ext cx="346570" cy="430887"/>
            </a:xfrm>
            <a:prstGeom prst="rect">
              <a:avLst/>
            </a:prstGeom>
            <a:noFill/>
          </p:spPr>
          <p:txBody>
            <a:bodyPr wrap="none" rtlCol="0">
              <a:spAutoFit/>
            </a:bodyPr>
            <a:lstStyle/>
            <a:p>
              <a:fld id="{C11FEA1E-6E4C-412E-89DE-A53047BEDA58}" type="slidenum">
                <a:rPr lang="en-GB" sz="2200" smtClean="0">
                  <a:solidFill>
                    <a:srgbClr val="333333"/>
                  </a:solidFill>
                  <a:latin typeface="Noto Sans Bold" panose="020B0802040504020204" charset="0"/>
                  <a:ea typeface="Noto Sans Bold" panose="020B0802040504020204" charset="0"/>
                  <a:cs typeface="Noto Sans Bold" panose="020B0802040504020204" charset="0"/>
                </a:rPr>
                <a:t>42</a:t>
              </a:fld>
              <a:endParaRPr lang="en-GB" sz="2200" dirty="0">
                <a:solidFill>
                  <a:srgbClr val="333333"/>
                </a:solidFill>
                <a:latin typeface="Noto Sans Bold" panose="020B0802040504020204" charset="0"/>
                <a:ea typeface="Noto Sans Bold" panose="020B0802040504020204" charset="0"/>
                <a:cs typeface="Noto Sans Bold" panose="020B0802040504020204" charset="0"/>
              </a:endParaRPr>
            </a:p>
          </p:txBody>
        </p:sp>
      </p:grpSp>
    </p:spTree>
    <p:extLst>
      <p:ext uri="{BB962C8B-B14F-4D97-AF65-F5344CB8AC3E}">
        <p14:creationId xmlns:p14="http://schemas.microsoft.com/office/powerpoint/2010/main" val="1148272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2442</TotalTime>
  <Words>1557</Words>
  <Application>Microsoft Office PowerPoint</Application>
  <PresentationFormat>Custom</PresentationFormat>
  <Paragraphs>357</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Calibri</vt:lpstr>
      <vt:lpstr>Noto Sans</vt:lpstr>
      <vt:lpstr>Noto Serif</vt:lpstr>
      <vt:lpstr>Arial</vt:lpstr>
      <vt:lpstr>Noto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Vorlage_Präsentationen</dc:title>
  <dc:creator>Biebel, Lea</dc:creator>
  <cp:lastModifiedBy>Reviewer</cp:lastModifiedBy>
  <cp:revision>244</cp:revision>
  <dcterms:created xsi:type="dcterms:W3CDTF">2006-08-16T00:00:00Z</dcterms:created>
  <dcterms:modified xsi:type="dcterms:W3CDTF">2026-07-26T03:55:21Z</dcterms:modified>
  <dc:identifier>DAHHkxkHqxQ</dc:identifier>
</cp:coreProperties>
</file>